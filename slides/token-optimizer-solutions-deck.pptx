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bf39ec84714784" /><Relationship Type="http://schemas.openxmlformats.org/officeDocument/2006/relationships/extended-properties" Target="/docProps/app.xml" Id="Ra931a0aa791d4580" /><Relationship Type="http://schemas.openxmlformats.org/officeDocument/2006/relationships/officeDocument" Target="/ppt/presentation.xml" Id="Rb1a59dd16d504c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b08cdd9db34608"/>
  </p:sldMasterIdLst>
  <p:notesMasterIdLst>
    <p:notesMasterId xmlns:r="http://schemas.openxmlformats.org/officeDocument/2006/relationships" r:id="Ra46d0090e1e4486f"/>
  </p:notesMasterIdLst>
  <p:sldIdLst>
    <p:sldId xmlns:r="http://schemas.openxmlformats.org/officeDocument/2006/relationships" id="256" r:id="R4b1ab816e1214e1b"/>
    <p:sldId xmlns:r="http://schemas.openxmlformats.org/officeDocument/2006/relationships" id="257" r:id="R4e614ca2811a4d6d"/>
    <p:sldId xmlns:r="http://schemas.openxmlformats.org/officeDocument/2006/relationships" id="258" r:id="R8d9e104d176e45a9"/>
    <p:sldId xmlns:r="http://schemas.openxmlformats.org/officeDocument/2006/relationships" id="259" r:id="R480e19e23cfb4c2b"/>
    <p:sldId xmlns:r="http://schemas.openxmlformats.org/officeDocument/2006/relationships" id="260" r:id="R4d7c04fd4c6840da"/>
    <p:sldId xmlns:r="http://schemas.openxmlformats.org/officeDocument/2006/relationships" id="261" r:id="R11776ec427ba49de"/>
    <p:sldId xmlns:r="http://schemas.openxmlformats.org/officeDocument/2006/relationships" id="262" r:id="Rb4ec52815426411a"/>
    <p:sldId xmlns:r="http://schemas.openxmlformats.org/officeDocument/2006/relationships" id="263" r:id="Rb29c31d3f1514fe0"/>
    <p:sldId xmlns:r="http://schemas.openxmlformats.org/officeDocument/2006/relationships" id="264" r:id="Rb9d66e394bde4975"/>
    <p:sldId xmlns:r="http://schemas.openxmlformats.org/officeDocument/2006/relationships" id="265" r:id="R9100290d09304b2e"/>
    <p:sldId xmlns:r="http://schemas.openxmlformats.org/officeDocument/2006/relationships" id="266" r:id="Ref4856509d2c46a5"/>
    <p:sldId xmlns:r="http://schemas.openxmlformats.org/officeDocument/2006/relationships" id="267" r:id="Rd9ec2b89e3814888"/>
    <p:sldId xmlns:r="http://schemas.openxmlformats.org/officeDocument/2006/relationships" id="268" r:id="Rf7193f92100e4b1d"/>
    <p:sldId xmlns:r="http://schemas.openxmlformats.org/officeDocument/2006/relationships" id="269" r:id="R0ff38685efa64a05"/>
    <p:sldId xmlns:r="http://schemas.openxmlformats.org/officeDocument/2006/relationships" id="270" r:id="R6d85b1fe1e0b46f3"/>
    <p:sldId xmlns:r="http://schemas.openxmlformats.org/officeDocument/2006/relationships" id="271" r:id="R4729ab748ba94f5c"/>
    <p:sldId xmlns:r="http://schemas.openxmlformats.org/officeDocument/2006/relationships" id="272" r:id="Rc64c70d6fb924690"/>
    <p:sldId xmlns:r="http://schemas.openxmlformats.org/officeDocument/2006/relationships" id="273" r:id="R414760ad828346b7"/>
    <p:sldId xmlns:r="http://schemas.openxmlformats.org/officeDocument/2006/relationships" id="274" r:id="Rd091f04279174150"/>
    <p:sldId xmlns:r="http://schemas.openxmlformats.org/officeDocument/2006/relationships" id="275" r:id="R1923026bd1ad4a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56bd15c811415c" /><Relationship Type="http://schemas.openxmlformats.org/officeDocument/2006/relationships/slideMaster" Target="/ppt/slideMasters/slideMaster1.xml" Id="R21b08cdd9db34608" /><Relationship Type="http://schemas.openxmlformats.org/officeDocument/2006/relationships/notesMaster" Target="/ppt/notesMasters/notesMaster1.xml" Id="Ra46d0090e1e4486f" /><Relationship Type="http://schemas.openxmlformats.org/officeDocument/2006/relationships/presProps" Target="/ppt/presProps.xml" Id="Rbd5829bae04f448d" /><Relationship Type="http://schemas.openxmlformats.org/officeDocument/2006/relationships/tableStyles" Target="/ppt/tableStyles.xml" Id="R1b2aca6a17cd4683" /><Relationship Type="http://schemas.openxmlformats.org/officeDocument/2006/relationships/slide" Target="/ppt/slides/slide1.xml" Id="R4b1ab816e1214e1b" /><Relationship Type="http://schemas.openxmlformats.org/officeDocument/2006/relationships/slide" Target="/ppt/slides/slide2.xml" Id="R4e614ca2811a4d6d" /><Relationship Type="http://schemas.openxmlformats.org/officeDocument/2006/relationships/slide" Target="/ppt/slides/slide3.xml" Id="R8d9e104d176e45a9" /><Relationship Type="http://schemas.openxmlformats.org/officeDocument/2006/relationships/slide" Target="/ppt/slides/slide4.xml" Id="R480e19e23cfb4c2b" /><Relationship Type="http://schemas.openxmlformats.org/officeDocument/2006/relationships/slide" Target="/ppt/slides/slide5.xml" Id="R4d7c04fd4c6840da" /><Relationship Type="http://schemas.openxmlformats.org/officeDocument/2006/relationships/slide" Target="/ppt/slides/slide6.xml" Id="R11776ec427ba49de" /><Relationship Type="http://schemas.openxmlformats.org/officeDocument/2006/relationships/slide" Target="/ppt/slides/slide7.xml" Id="Rb4ec52815426411a" /><Relationship Type="http://schemas.openxmlformats.org/officeDocument/2006/relationships/slide" Target="/ppt/slides/slide8.xml" Id="Rb29c31d3f1514fe0" /><Relationship Type="http://schemas.openxmlformats.org/officeDocument/2006/relationships/slide" Target="/ppt/slides/slide9.xml" Id="Rb9d66e394bde4975" /><Relationship Type="http://schemas.openxmlformats.org/officeDocument/2006/relationships/slide" Target="/ppt/slides/slide10.xml" Id="R9100290d09304b2e" /><Relationship Type="http://schemas.openxmlformats.org/officeDocument/2006/relationships/slide" Target="/ppt/slides/slide11.xml" Id="Ref4856509d2c46a5" /><Relationship Type="http://schemas.openxmlformats.org/officeDocument/2006/relationships/slide" Target="/ppt/slides/slide12.xml" Id="Rd9ec2b89e3814888" /><Relationship Type="http://schemas.openxmlformats.org/officeDocument/2006/relationships/slide" Target="/ppt/slides/slide13.xml" Id="Rf7193f92100e4b1d" /><Relationship Type="http://schemas.openxmlformats.org/officeDocument/2006/relationships/slide" Target="/ppt/slides/slide14.xml" Id="R0ff38685efa64a05" /><Relationship Type="http://schemas.openxmlformats.org/officeDocument/2006/relationships/slide" Target="/ppt/slides/slide15.xml" Id="R6d85b1fe1e0b46f3" /><Relationship Type="http://schemas.openxmlformats.org/officeDocument/2006/relationships/slide" Target="/ppt/slides/slide16.xml" Id="R4729ab748ba94f5c" /><Relationship Type="http://schemas.openxmlformats.org/officeDocument/2006/relationships/slide" Target="/ppt/slides/slide17.xml" Id="Rc64c70d6fb924690" /><Relationship Type="http://schemas.openxmlformats.org/officeDocument/2006/relationships/slide" Target="/ppt/slides/slide18.xml" Id="R414760ad828346b7" /><Relationship Type="http://schemas.openxmlformats.org/officeDocument/2006/relationships/slide" Target="/ppt/slides/slide19.xml" Id="Rd091f04279174150" /><Relationship Type="http://schemas.openxmlformats.org/officeDocument/2006/relationships/slide" Target="/ppt/slides/slide20.xml" Id="R1923026bd1ad4a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50fb34450b47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6e317423641b5" /><Relationship Type="http://schemas.openxmlformats.org/officeDocument/2006/relationships/notesMaster" Target="/ppt/notesMasters/notesMaster1.xml" Id="R745bd9f1c75743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864a62e13a48e7" /><Relationship Type="http://schemas.openxmlformats.org/officeDocument/2006/relationships/notesMaster" Target="/ppt/notesMasters/notesMaster1.xml" Id="R4fd0f6240b6b4e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1413cdcaac4442" /><Relationship Type="http://schemas.openxmlformats.org/officeDocument/2006/relationships/notesMaster" Target="/ppt/notesMasters/notesMaster1.xml" Id="R0e23b0aecf9644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a39bb0c63f4a3b" /><Relationship Type="http://schemas.openxmlformats.org/officeDocument/2006/relationships/notesMaster" Target="/ppt/notesMasters/notesMaster1.xml" Id="R6d6e1552ce3f4e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fff5ceebea4df7" /><Relationship Type="http://schemas.openxmlformats.org/officeDocument/2006/relationships/notesMaster" Target="/ppt/notesMasters/notesMaster1.xml" Id="R25a679f4a3dd4a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05b496163542b6" /><Relationship Type="http://schemas.openxmlformats.org/officeDocument/2006/relationships/notesMaster" Target="/ppt/notesMasters/notesMaster1.xml" Id="Rd64fbfa7b89045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31288c1e5d4f03" /><Relationship Type="http://schemas.openxmlformats.org/officeDocument/2006/relationships/notesMaster" Target="/ppt/notesMasters/notesMaster1.xml" Id="Rb251d8f12e1b45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7eccf3a1204048" /><Relationship Type="http://schemas.openxmlformats.org/officeDocument/2006/relationships/notesMaster" Target="/ppt/notesMasters/notesMaster1.xml" Id="Rfdce8ef50e0b45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325e9de74641c4" /><Relationship Type="http://schemas.openxmlformats.org/officeDocument/2006/relationships/notesMaster" Target="/ppt/notesMasters/notesMaster1.xml" Id="R2320524e90364c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c84ab4566c4cd8" /><Relationship Type="http://schemas.openxmlformats.org/officeDocument/2006/relationships/notesMaster" Target="/ppt/notesMasters/notesMaster1.xml" Id="R1f19e2ea8cb64d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7b1f99c86f4f4e" /><Relationship Type="http://schemas.openxmlformats.org/officeDocument/2006/relationships/notesMaster" Target="/ppt/notesMasters/notesMaster1.xml" Id="R48ca684d9a4d44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dfe53581e442ef" /><Relationship Type="http://schemas.openxmlformats.org/officeDocument/2006/relationships/notesMaster" Target="/ppt/notesMasters/notesMaster1.xml" Id="R75adaa74401048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3839826f494592" /><Relationship Type="http://schemas.openxmlformats.org/officeDocument/2006/relationships/notesMaster" Target="/ppt/notesMasters/notesMaster1.xml" Id="R6b31e3f854aa40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1940ee92d04093" /><Relationship Type="http://schemas.openxmlformats.org/officeDocument/2006/relationships/notesMaster" Target="/ppt/notesMasters/notesMaster1.xml" Id="Rc1a3b2884d7540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f4d833e4164c2c" /><Relationship Type="http://schemas.openxmlformats.org/officeDocument/2006/relationships/notesMaster" Target="/ppt/notesMasters/notesMaster1.xml" Id="R1301226d1dd948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0ec544644c4ced" /><Relationship Type="http://schemas.openxmlformats.org/officeDocument/2006/relationships/notesMaster" Target="/ppt/notesMasters/notesMaster1.xml" Id="R5a0f24eab36b4d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1df8c99a184df9" /><Relationship Type="http://schemas.openxmlformats.org/officeDocument/2006/relationships/notesMaster" Target="/ppt/notesMasters/notesMaster1.xml" Id="R951f2415fb234b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8e4665f7a948c8" /><Relationship Type="http://schemas.openxmlformats.org/officeDocument/2006/relationships/notesMaster" Target="/ppt/notesMasters/notesMaster1.xml" Id="R9dee25ae1e1447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31dd2334424e20" /><Relationship Type="http://schemas.openxmlformats.org/officeDocument/2006/relationships/notesMaster" Target="/ppt/notesMasters/notesMaster1.xml" Id="R7b0003933c864a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9f9922e3f7149ca" /><Relationship Type="http://schemas.openxmlformats.org/officeDocument/2006/relationships/notesMaster" Target="/ppt/notesMasters/notesMaster1.xml" Id="Rc89185350cd944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https://github.com/dungnm02/token-optimizer/blob/main/README.md</a:t>
            </a:r>
          </a:p>
          <a:p xmlns:a="http://schemas.openxmlformats.org/drawingml/2006/main">
            <a:r>
              <a:t>- https://github.com/dungnm02/token-optimizer/blob/main/MEASURE.md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https://github.com/dungnm02/token-optimizer/blob/main/BILLING.md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https://github.com/dungnm02/token-optimizer/blob/main/CAUSE.md</a:t>
            </a:r>
          </a:p>
          <a:p xmlns:a="http://schemas.openxmlformats.org/drawingml/2006/main">
            <a:r>
              <a:t>- https://github.com/dungnm02/token-optimizer/blob/main/SUMMARY.md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https://github.com/dungnm02/token-optimizer/blob/main/HARNESS.md</a:t>
            </a:r>
          </a:p>
          <a:p xmlns:a="http://schemas.openxmlformats.org/drawingml/2006/main">
            <a:r>
              <a:t>- https://github.com/dungnm02/token-optimizer/blob/main/CONFIG.md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https://github.com/dungnm02/token-optimizer/blob/main/CAUSE.md</a:t>
            </a:r>
          </a:p>
          <a:p xmlns:a="http://schemas.openxmlformats.org/drawingml/2006/main">
            <a:r>
              <a:t>- https://github.com/dungnm02/token-optimizer/blob/main/SUMMARY.md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https://github.com/dungnm02/token-optimizer/blob/main/HARNESS.md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https://github.com/dungnm02/token-optimizer/blob/main/CONFIG.md</a:t>
            </a:r>
          </a:p>
          <a:p xmlns:a="http://schemas.openxmlformats.org/drawingml/2006/main">
            <a:r>
              <a:t>- https://github.com/dungnm02/token-optimizer/blob/main/solutions/mcp-server-audit.md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https://github.com/dungnm02/token-optimizer/blob/main/CONFIG.md</a:t>
            </a:r>
          </a:p>
          <a:p xmlns:a="http://schemas.openxmlformats.org/drawingml/2006/main">
            <a:r>
              <a:t>- https://github.com/dungnm02/token-optimizer/blob/main/solutions/mcp-server-audit.md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https://github.com/dungnm02/token-optimizer/blob/main/WORKFLOW.md</a:t>
            </a:r>
          </a:p>
          <a:p xmlns:a="http://schemas.openxmlformats.org/drawingml/2006/main">
            <a:r>
              <a:t>- https://github.com/dungnm02/token-optimizer/blob/main/ROUTING.md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https://github.com/dungnm02/token-optimizer/blob/main/WORKFLOW.md</a:t>
            </a:r>
          </a:p>
          <a:p xmlns:a="http://schemas.openxmlformats.org/drawingml/2006/main">
            <a:r>
              <a:t>- https://github.com/dungnm02/token-optimizer/blob/main/ROUTING.md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https://github.com/dungnm02/token-optimizer/blob/main/PROOF.md</a:t>
            </a:r>
          </a:p>
          <a:p xmlns:a="http://schemas.openxmlformats.org/drawingml/2006/main">
            <a:r>
              <a:t>- https://github.com/dungnm02/token-optimizer/blob/main/MEASURE.md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https://github.com/dungnm02/token-optimizer/blob/main/PROOF.md</a:t>
            </a:r>
          </a:p>
          <a:p xmlns:a="http://schemas.openxmlformats.org/drawingml/2006/main">
            <a:r>
              <a:t>- https://github.com/dungnm02/token-optimizer/blob/main/MEASURE.md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https://github.com/dungnm02/token-optimizer/blob/main/ROUTING.md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https://github.com/dungnm02/token-optimizer/blob/main/MEASURE.md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https://github.com/dungnm02/token-optimizer/blob/main/CONFIG.md</a:t>
            </a:r>
          </a:p>
          <a:p xmlns:a="http://schemas.openxmlformats.org/drawingml/2006/main">
            <a:r>
              <a:t>- https://github.com/dungnm02/token-optimizer/blob/main/WORKFLOW.md</a:t>
            </a:r>
          </a:p>
          <a:p xmlns:a="http://schemas.openxmlformats.org/drawingml/2006/main">
            <a:r>
              <a:t>- https://github.com/dungnm02/token-optimizer/blob/main/MEASURE.md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https://github.com/dungnm02/token-optimizer/blob/main/MEASURE.md</a:t>
            </a:r>
          </a:p>
          <a:p xmlns:a="http://schemas.openxmlformats.org/drawingml/2006/main">
            <a:r>
              <a:t>- https://github.com/dungnm02/token-optimizer/blob/main/setups/recommended-setup.md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</a:t>
            </a:r>
          </a:p>
          <a:p xmlns:a="http://schemas.openxmlformats.org/drawingml/2006/main">
            <a:r>
              <a:t>- https://github.com/dungnm02/token-optimizer/blob/main/README.md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1eab024be4e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d02ea5080e4a31" /><Relationship Type="http://schemas.openxmlformats.org/officeDocument/2006/relationships/slideLayout" Target="/ppt/slideLayouts/slideLayout1.xml" Id="R684d4e24807b44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4d4e24807b44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e8c2e975f4bcd" /><Relationship Type="http://schemas.openxmlformats.org/officeDocument/2006/relationships/notesSlide" Target="/ppt/notesSlides/notesSlide1.xml" Id="Rf8e450c74b0b44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5bae6c6dc4d79" /><Relationship Type="http://schemas.openxmlformats.org/officeDocument/2006/relationships/notesSlide" Target="/ppt/notesSlides/notesSlide2.xml" Id="Rdb95cbc2de114a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0bc38b72b417c" /><Relationship Type="http://schemas.openxmlformats.org/officeDocument/2006/relationships/notesSlide" Target="/ppt/notesSlides/notesSlide3.xml" Id="R458c3b9f391c4b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61b6471cb457e" /><Relationship Type="http://schemas.openxmlformats.org/officeDocument/2006/relationships/notesSlide" Target="/ppt/notesSlides/notesSlide4.xml" Id="R322e3ae1158a4b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f8a8d24dc4242" /><Relationship Type="http://schemas.openxmlformats.org/officeDocument/2006/relationships/notesSlide" Target="/ppt/notesSlides/notesSlide5.xml" Id="R56c11f8ca24e40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463af5359413f" /><Relationship Type="http://schemas.openxmlformats.org/officeDocument/2006/relationships/notesSlide" Target="/ppt/notesSlides/notesSlide6.xml" Id="R55c5b8f884d64e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40e9296344c96" /><Relationship Type="http://schemas.openxmlformats.org/officeDocument/2006/relationships/notesSlide" Target="/ppt/notesSlides/notesSlide7.xml" Id="R63772dec264248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fc810ebf24f27" /><Relationship Type="http://schemas.openxmlformats.org/officeDocument/2006/relationships/notesSlide" Target="/ppt/notesSlides/notesSlide8.xml" Id="Rc463ba5d814849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2bbba76d64ee0" /><Relationship Type="http://schemas.openxmlformats.org/officeDocument/2006/relationships/notesSlide" Target="/ppt/notesSlides/notesSlide9.xml" Id="R32e93f0263fb42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a4a29e39a4569" /><Relationship Type="http://schemas.openxmlformats.org/officeDocument/2006/relationships/notesSlide" Target="/ppt/notesSlides/notesSlide10.xml" Id="Rfe7faff8275a4b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66d7dff2d40b1" /><Relationship Type="http://schemas.openxmlformats.org/officeDocument/2006/relationships/notesSlide" Target="/ppt/notesSlides/notesSlide11.xml" Id="Ra810bfbf688e4b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0d93f38274944" /><Relationship Type="http://schemas.openxmlformats.org/officeDocument/2006/relationships/notesSlide" Target="/ppt/notesSlides/notesSlide12.xml" Id="R15f52ce5c7fc41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7ea0bda2f416e" /><Relationship Type="http://schemas.openxmlformats.org/officeDocument/2006/relationships/notesSlide" Target="/ppt/notesSlides/notesSlide13.xml" Id="Red85978990a847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cd38b035b4383" /><Relationship Type="http://schemas.openxmlformats.org/officeDocument/2006/relationships/notesSlide" Target="/ppt/notesSlides/notesSlide14.xml" Id="R06ff3644ae3648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7b4351d404572" /><Relationship Type="http://schemas.openxmlformats.org/officeDocument/2006/relationships/notesSlide" Target="/ppt/notesSlides/notesSlide15.xml" Id="R8f30a7dabfc140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a50dc878241b5" /><Relationship Type="http://schemas.openxmlformats.org/officeDocument/2006/relationships/notesSlide" Target="/ppt/notesSlides/notesSlide16.xml" Id="R706d2accf48042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b3132fa78484a" /><Relationship Type="http://schemas.openxmlformats.org/officeDocument/2006/relationships/notesSlide" Target="/ppt/notesSlides/notesSlide17.xml" Id="Rd6728536f11543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3291d2bcd481c" /><Relationship Type="http://schemas.openxmlformats.org/officeDocument/2006/relationships/notesSlide" Target="/ppt/notesSlides/notesSlide18.xml" Id="R796aae5f206242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67789d5ff42d6" /><Relationship Type="http://schemas.openxmlformats.org/officeDocument/2006/relationships/notesSlide" Target="/ppt/notesSlides/notesSlide19.xml" Id="R25f534eb442646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bfc21d2b04818" /><Relationship Type="http://schemas.openxmlformats.org/officeDocument/2006/relationships/notesSlide" Target="/ppt/notesSlides/notesSlide20.xml" Id="R6ba54b5c270a42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AEDBCBE-6AF7-451F-84B4-8ACC180F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1D2506D-4471-40FF-B450-6354A96E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8C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8C8FF"/>
                </a:solidFill>
                <a:latin typeface="Arial"/>
                <a:ea typeface="Arial"/>
                <a:cs typeface="Arial"/>
              </a:rPr>
              <a:t>TOKEN OPTIMIZER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561E2FC-4FFA-4CD6-AAE6-014B0202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57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Dùng coding agent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hiệu quả hơn —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không chỉ rẻ hơn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813D675-2380-48D2-BC0C-130C371F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Một kế hoạch áp dụng giải pháp cho cả quản lý và developer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8B5FE-2C06-4FE8-A77E-FA933776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E3F898-82E1-47E4-85FE-60334DD9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8A2B3"/>
                </a:solidFill>
                <a:latin typeface="Arial"/>
                <a:ea typeface="Arial"/>
                <a:cs typeface="Arial"/>
              </a:rPr>
              <a:t>Tập trung vào quyết định, thiết lập và thói quen có thể triển khai</a:t>
            </a:r>
          </a:p>
        </p:txBody>
      </p:sp>
    </p:spTree>
    <p:extLst>
      <p:ext uri="{BB962C8B-B14F-4D97-AF65-F5344CB8AC3E}">
        <p14:creationId xmlns:p14="http://schemas.microsoft.com/office/powerpoint/2010/main" val="2053847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E99C79B-099C-4590-BEAF-2233E587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MỤC TIÊU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3C16386-5E2E-42DA-967B-0E96410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D89B4-84A5-4DBD-9DCD-EE6D5158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542599-98DF-4BFF-81D8-4AE4B793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Đích đến không phải là “ít token”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6BF7DF-35FB-47AB-935B-C10401EF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Đích đến là hoàn thành công việc với chi phí và chất lượng có thể kiểm soát.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333D02A-BC8D-44CA-AD0A-10A9780C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7321066-E1E5-49CE-9C1C-AD7A7304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Chọn đúng đơn vị đang khan hiếm: tiền, quota hay thời gian chờ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0E43780-8C48-445D-9A70-C330AE97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2412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3985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3985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7D65F78-2555-4F0C-A038-3D3C3EC5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337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Ưu tiên harness, cấu hình và workflow trước khi cài thêm công cụ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CF7800-9FD5-4F5A-BCD9-6C936AC0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41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DC680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DC680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3D20487-BD83-4332-8566-228A14D5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337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Thử nghiệm thay đổi trên backlog thật trước khi chuẩn hoá cho team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3A97E6A-FF99-48B2-9027-845C0BD8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6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Nguyên tắc vận hành: đo chi phí của cả tác vụ hoàn thành, không đo một con số đẹp ở giữa quy trình.</a:t>
            </a:r>
          </a:p>
        </p:txBody>
      </p:sp>
    </p:spTree>
    <p:extLst>
      <p:ext uri="{BB962C8B-B14F-4D97-AF65-F5344CB8AC3E}">
        <p14:creationId xmlns:p14="http://schemas.microsoft.com/office/powerpoint/2010/main" val="1231099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8FCEAD9-66CA-44F8-BBAA-978628C3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QUYẾT ĐỊNH ĐẦU TIÊN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CA9EE3E-385D-4F16-A77D-4F98AB80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F0D8B-940C-43AB-A18D-D8A8BE52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C98B2A-AFC2-4318-AA8B-D313ACC7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Trước khi tối ưu, xác định team đang thiếu thứ gì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933343-AF2F-4A38-B5FC-610B368D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Cùng một thay đổi có thể tiết kiệm tiền, tăng dư địa dùng, hoặc chẳng có giá trị thực tế.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52750"/>
                <a:gridCol w="3143250"/>
                <a:gridCol w="4876800"/>
              </a:tblGrid>
              <a:tr h="6429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Mô hình sử dụng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Tối ưu để…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Chỉ số ra quyết định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</a:rPr>
                        <a:t>API tính tiền</a:t>
                      </a:r>
                    </a:p>
                  </a:txBody>
                  <a:tcPr marL="133350" marR="114300" marT="95250" marB="9525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</a:rPr>
                        <a:t>Giảm chi phí/token</a:t>
                      </a:r>
                    </a:p>
                  </a:txBody>
                  <a:tcPr marL="133350" marR="114300" marT="95250" marB="9525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</a:rPr>
                        <a:t>Chi phí mỗi tác vụ hoàn thành</a:t>
                      </a:r>
                    </a:p>
                  </a:txBody>
                  <a:tcPr marL="133350" marR="114300" marT="95250" marB="95250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</a:rPr>
                        <a:t>Gói thuê bao</a:t>
                      </a:r>
                    </a:p>
                  </a:txBody>
                  <a:tcPr marL="133350" marR="114300" marT="95250" marB="9525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</a:rPr>
                        <a:t>Tăng headroom</a:t>
                      </a:r>
                    </a:p>
                  </a:txBody>
                  <a:tcPr marL="133350" marR="114300" marT="95250" marB="9525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</a:rPr>
                        <a:t>Tỷ lệ chạm giới hạn / thời gian bị chặn</a:t>
                      </a:r>
                    </a:p>
                  </a:txBody>
                  <a:tcPr marL="133350" marR="114300" marT="95250" marB="95250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</a:rPr>
                        <a:t>Quota theo request</a:t>
                      </a:r>
                    </a:p>
                  </a:txBody>
                  <a:tcPr marL="133350" marR="114300" marT="95250" marB="9525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</a:rPr>
                        <a:t>Giảm lượt gọi</a:t>
                      </a:r>
                    </a:p>
                  </a:txBody>
                  <a:tcPr marL="133350" marR="114300" marT="95250" marB="9525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</a:rPr>
                        <a:t>Số request để xong một tác vụ</a:t>
                      </a:r>
                    </a:p>
                  </a:txBody>
                  <a:tcPr marL="133350" marR="114300" marT="95250" marB="95250"/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CFDBD5-8CEC-4096-998C-67BF8153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Không mua công cụ để tối ưu một khoản mà team thực tế không đang trả.</a:t>
            </a:r>
          </a:p>
        </p:txBody>
      </p:sp>
    </p:spTree>
    <p:extLst>
      <p:ext uri="{BB962C8B-B14F-4D97-AF65-F5344CB8AC3E}">
        <p14:creationId xmlns:p14="http://schemas.microsoft.com/office/powerpoint/2010/main" val="388816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74A9C8E-E1C5-422E-AC8B-49DDD79D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VẤN ĐỀ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B47A20C-058F-478E-98B7-73D1E69E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AE31F-B96E-4D04-9110-21D10874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BE8C7E-CA29-47F2-B8CA-15392562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16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Token thường rò rỉ theo hệ thống, không chỉ vì model “nói dài”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1004479-4F46-4A7B-9A84-A2B79F16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Phần lớn cơ hội nằm ở input được gửi lại, khám phá mù và output tool quá khổ.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04C2005B-E2DB-4695-88F6-F3722D5B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143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4702DEA-5EBD-4C82-B554-5F88676D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7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952EF3-1224-4BB7-A9F6-2FA861E1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1. Cache &amp; context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1234A6B-28C3-4523-B13D-A809BB1D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6860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Lịch sử, rules và kết quả cũ ở lại quá lâu hoặc bị gửi lại ở giá đầy đủ.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45F555BA-FAF3-4074-889B-5EC0BF3B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1F2FE7E-A29D-482E-B71F-70FFE0BD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47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8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046D03-ECD0-4CAE-985C-27CF8691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717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2. Tool &amp; khám phá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0605662-3CEF-4F09-8717-F7C69B54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28950"/>
            <a:ext cx="26860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Schema quá nhiều, log quá dài, nhiều vòng gọi nhỏ thay vì một bước có mục tiêu.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83FB0132-5FAB-48E1-8384-C02A6221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3143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EA58AEDE-0436-4EE1-BC59-74681CAE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47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C572103-335F-4AE4-AA7F-6C06F4D8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3. Cách làm việc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68C0BA6-C84C-4280-ABC9-5448A5CA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26860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Dán nội dung agent tự đọc được, đổi model giữa phiên, tiếp tục một context đã sai.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590C95B-0245-4D60-AD0A-B882181C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Vì vậy, việc đầu tiên không phải là “nén output”; là loại bỏ phần không cần gửi và gửi lại.</a:t>
            </a:r>
          </a:p>
        </p:txBody>
      </p:sp>
    </p:spTree>
    <p:extLst>
      <p:ext uri="{BB962C8B-B14F-4D97-AF65-F5344CB8AC3E}">
        <p14:creationId xmlns:p14="http://schemas.microsoft.com/office/powerpoint/2010/main" val="481987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AD8064E-B26E-4876-BCCD-D332E7C4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CHIẾN LƯỢC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9401B69-1634-4DA8-A86E-A0225D62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2F1B1-5675-4D3A-9A5A-7B447222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403B8E-6F23-401F-88E7-D674592C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Thứ tự áp dụng: sửa tầng miễn phí trước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27AB7C-7071-4E8D-B85E-B8C048A1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Một thay đổi bên thứ ba chỉ đáng dùng khi harness chưa giải quyết được đúng khoảng trống đó.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C7789B10-48E2-422C-810D-6E7C4A90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9E78332-453A-48A6-BD09-1DA79E1F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CF91D7-04F1-4BE6-AA2D-B983267B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Harness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7688D5-CC49-4C60-A506-E43E519B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Chọn agent có sẵn cache, quản lý context và output phù hợp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CC060349-44D0-4915-9F80-AC0EACAB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CA34355-22C3-4015-8B37-8A75ECC0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C6695A4-2131-4461-BE36-805C0654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Cấu hình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987EF27-3103-411F-A491-9ED77981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57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Đặt giới hạn output, reasoning effort và policy về tool/MCP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17079649-CFBC-418F-9BAA-11BE05E2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75A3277-8958-4C6B-AFE6-361AD3A7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95D5EF-45AF-4A6A-B124-BDF8316D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F5B6C1C-7E51-4DDC-B67E-C7DB30F7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Scope rõ, chỉ đường tới file, nén và bắt đầu lại có chủ đích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02795DF5-3CC0-499B-B923-D6DD4726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91EF516-F317-44FD-A853-F92C76C2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2AF0622-8A1A-4CF1-B89A-C4A50989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Công cụ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5368537-91B4-40B0-8BB5-94C8EF6E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Chỉ thử khi có gap thật, gắn được chắc chắn và đo được tác động</a:t>
            </a:r>
          </a:p>
        </p:txBody>
      </p:sp>
    </p:spTree>
    <p:extLst>
      <p:ext uri="{BB962C8B-B14F-4D97-AF65-F5344CB8AC3E}">
        <p14:creationId xmlns:p14="http://schemas.microsoft.com/office/powerpoint/2010/main" val="914515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74A9C8E-E1C5-422E-AC8B-49DDD79D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QUICK AUDIT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B47A20C-058F-478E-98B7-73D1E69E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AE31F-B96E-4D04-9110-21D10874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BE8C7E-CA29-47F2-B8CA-15392562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Hãy đo chỗ token đang rò rỉ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1004479-4F46-4A7B-9A84-A2B79F16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Trong 15 phút, team có thể xác định lớp nào đáng ưu tiên trước.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04C2005B-E2DB-4695-88F6-F3722D5B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143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4702DEA-5EBD-4C82-B554-5F88676D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7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952EF3-1224-4BB7-A9F6-2FA861E1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Cache &amp; context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1234A6B-28C3-4523-B13D-A809BB1D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6860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Có cache hit? Lịch sử, rules hoặc kết quả cũ nào đang bị gửi lại?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45F555BA-FAF3-4074-889B-5EC0BF3B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1F2FE7E-A29D-482E-B71F-70FFE0BD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47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8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046D03-ECD0-4CAE-985C-27CF8691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717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Tool &amp; MCP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0605662-3CEF-4F09-8717-F7C69B54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28950"/>
            <a:ext cx="26860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Kết quả tool có bị cắt? Schema nào xuất hiện trong mọi request?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83FB0132-5FAB-48E1-8384-C02A6221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3143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EA58AEDE-0436-4EE1-BC59-74681CAE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47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C572103-335F-4AE4-AA7F-6C06F4D8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68C0BA6-C84C-4280-ABC9-5448A5CA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26860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Dev đang dán code/log? Có phiên nào kéo dài quá phạm vi công việc?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590C95B-0245-4D60-AD0A-B882181C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Kết quả cần có: một baseline và một thay đổi đầu tiên — không phải một danh sách tool.</a:t>
            </a:r>
          </a:p>
        </p:txBody>
      </p:sp>
    </p:spTree>
    <p:extLst>
      <p:ext uri="{BB962C8B-B14F-4D97-AF65-F5344CB8AC3E}">
        <p14:creationId xmlns:p14="http://schemas.microsoft.com/office/powerpoint/2010/main" val="481987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CBF341C-E738-4235-9CE3-6870A04A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GIẢI PHÁP 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EC9A743-4B15-4430-A0DA-B6D30546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D1FE3-FB64-48E8-80C6-A294FD24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38075E-7D8B-4A68-BEA3-D56E8D9B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Hãy bắt đầu bằng harness mà team đang dùng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D9B2968-1D3D-4ADF-BAFE-BAAF6C7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Harness quyết định những token nào được cache, context nào bị dọn và output nào đã được giới hạn sẵn.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8C95E324-38FC-4473-9D29-9AB9042F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048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964FA8E-35F0-4F52-B708-9288E61F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76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1D55647-E027-48F7-8E62-F05442E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Câu hỏi cho developer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19A595-BCCA-4EB4-A39C-7E4EC880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591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Tool output đã bị cắt chưa?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Context tự nén/dọn thế nào?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MCP nào đưa schema vào mọi request?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Có cách xem usage/cache không?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E3722EB6-46DB-4A7C-8785-721A07F9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5048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F71ED137-400B-46FE-91F4-7FE8CE2E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476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2BD8A4-6260-4BD8-B5F0-6F488B74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Quyết định cho quản lý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2AA51B2-BD24-4270-A0CF-139BDA25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591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Chuẩn hoá 1–2 harness thay vì để mỗi người tự chắp vá.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Xác định baseline theo agent + model + repo.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Chỉ cấp phép công cụ khi có case sử dụng rõ ràng.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89A5E9D-779F-48E3-A529-79FF06D7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Không có “tool tối ưu token” tốt cho mọi agent — hiệu quả phụ thuộc vào những gì harness đã làm sẵn.</a:t>
            </a:r>
          </a:p>
        </p:txBody>
      </p:sp>
    </p:spTree>
    <p:extLst>
      <p:ext uri="{BB962C8B-B14F-4D97-AF65-F5344CB8AC3E}">
        <p14:creationId xmlns:p14="http://schemas.microsoft.com/office/powerpoint/2010/main" val="857977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CBF341C-E738-4235-9CE3-6870A04A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EC9A743-4B15-4430-A0DA-B6D30546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D1FE3-FB64-48E8-80C6-A294FD24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38075E-7D8B-4A68-BEA3-D56E8D9B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Cấu hình là policy, không phải mẹo cá nhân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D9B2968-1D3D-4ADF-BAFE-BAAF6C7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Một preset rõ ràng giảm biến thiên chi phí và giúp team biết khi nào cần thay đổi.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8C95E324-38FC-4473-9D29-9AB9042F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048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964FA8E-35F0-4F52-B708-9288E61F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76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1D55647-E027-48F7-8E62-F05442E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Developer làm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19A595-BCCA-4EB4-A39C-7E4EC880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591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Dùng preset mặc định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Báo khi setting làm chất lượng giảm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Không tự bật thêm MCP cho một việc tạm thời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E3722EB6-46DB-4A7C-8785-721A07F9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5048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F71ED137-400B-46FE-91F4-7FE8CE2E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476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2BD8A4-6260-4BD8-B5F0-6F488B74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Tech lead quản lý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2AA51B2-BD24-4270-A0CF-139BDA25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591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Có owner cho config/tool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Review thay đổi ảnh hưởng context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Ghi rõ setting nào dành cho loại tác vụ nào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89A5E9D-779F-48E3-A529-79FF06D7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Một policy tốt phải dễ dùng hơn việc mỗi người tự tối ưu lại từ đầu.</a:t>
            </a:r>
          </a:p>
        </p:txBody>
      </p:sp>
    </p:spTree>
    <p:extLst>
      <p:ext uri="{BB962C8B-B14F-4D97-AF65-F5344CB8AC3E}">
        <p14:creationId xmlns:p14="http://schemas.microsoft.com/office/powerpoint/2010/main" val="857977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CDD21F2-DCFA-4FCA-BF19-912F2663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GIẢI PHÁP 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211EAEE-BE38-4166-88F8-17B2338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47F0B-9E8A-40C8-BA5A-B231FE33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0839DB-0234-418D-862C-3629CAF1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8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 thiết lập nên chuẩn hoá trước khi thêm bất cứ dependency nào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7925C2-A362-4B86-A78D-D585D94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Tên và đơn vị khác nhau theo agent; cần kiểm chứng rằng thiết lập đã thực sự có hiệu lực.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BCAA692A-198B-491D-98DA-EAF1AF74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0F7BF04-8A49-46FE-9459-DAF19C73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4D91FC-9E36-4A65-99BD-BCE28035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Output budget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53D1310-C2C8-492F-A545-3696C41F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876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Giới hạn kết quả tool quá khổ. Cắt đúng chỗ giúp context không bị log chiếm chỗ.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B7D344B8-6226-414E-9DD3-8F35FC2E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03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A9CB494-F49A-45D9-BF53-8B6090F2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03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8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F6011D8-6E29-4843-82CD-26A313E9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90800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Reasoning effort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35C5FB-F8BE-4449-AFFB-536B32B5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48000"/>
            <a:ext cx="2876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Đừng dùng mức suy luận cao cho mọi việc. Tăng khi tác vụ cần, không phải vì mặc định.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17E272F-B132-49D6-A2EB-9AB49B43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BB3EDD26-1235-4919-B31B-A4B3D370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BCEC989-6472-4AAE-86E1-B609D8F8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90800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MCP &amp; tool inventory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8566065-B24E-4296-8C51-617BF667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876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Mỗi server/tool có thể bổ sung schema vào context. Bật đúng thứ thực sự được dùng.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F6FED64-5AD8-4FBC-ADB9-82B2DA17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Quản trị tốt = có preset mặc định, chủ sở hữu và quy trình review khi thêm tool/MCP.</a:t>
            </a:r>
          </a:p>
        </p:txBody>
      </p:sp>
    </p:spTree>
    <p:extLst>
      <p:ext uri="{BB962C8B-B14F-4D97-AF65-F5344CB8AC3E}">
        <p14:creationId xmlns:p14="http://schemas.microsoft.com/office/powerpoint/2010/main" val="686259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CDD21F2-DCFA-4FCA-BF19-912F2663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QUY ƯỚC TEAM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211EAEE-BE38-4166-88F8-17B2338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47F0B-9E8A-40C8-BA5A-B231FE33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0839DB-0234-418D-862C-3629CAF1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 quy ước giúp giảm chi phí ngay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7925C2-A362-4B86-A78D-D585D94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Các quy ước này không cần tool mới và có thể áp dụng ngay trong workflow hiện có.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BCAA692A-198B-491D-98DA-EAF1AF74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0F7BF04-8A49-46FE-9459-DAF19C73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4D91FC-9E36-4A65-99BD-BCE28035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Nêu scope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53D1310-C2C8-492F-A545-3696C41F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876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Nói rõ mục tiêu, ràng buộc và file chắc chắn liên quan trước khi agent tự khám phá.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B7D344B8-6226-414E-9DD3-8F35FC2E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03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A9CB494-F49A-45D9-BF53-8B6090F2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03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8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F6011D8-6E29-4843-82CD-26A313E9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90800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Chỉ đường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35C5FB-F8BE-4449-AFFB-536B32B5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48000"/>
            <a:ext cx="2876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Đưa đường dẫn hoặc vài dòng lỗi đã lọc; đừng dán thứ agent tự đọc hoặc tự chạy được.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17E272F-B132-49D6-A2EB-9AB49B43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BB3EDD26-1235-4919-B31B-A4B3D370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BCEC989-6472-4AAE-86E1-B609D8F8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90800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Kết thúc đúng lúc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8566065-B24E-4296-8C51-617BF667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876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Ghi lại kết quả rồi bắt đầu phiên mới khi việc tiếp theo không còn dùng cùng context.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F6FED64-5AD8-4FBC-ADB9-82B2DA17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Kỷ luật giao việc giảm cả token lẫn số vòng agent phải tự sửa sai.</a:t>
            </a:r>
          </a:p>
        </p:txBody>
      </p:sp>
    </p:spTree>
    <p:extLst>
      <p:ext uri="{BB962C8B-B14F-4D97-AF65-F5344CB8AC3E}">
        <p14:creationId xmlns:p14="http://schemas.microsoft.com/office/powerpoint/2010/main" val="6862590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487CA2D-BF34-4B0A-A61B-A29F6E77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GIẢI PHÁP 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CD07D7F-7881-49A5-B56A-040705DD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D5688-AB48-442D-98D0-7B24820D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A99FE4-FCD2-4DB3-94D2-9A19DACF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Giảm token bằng cách thay đổi cách giao việc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8D6F96-5C16-4107-8B58-F4F6686E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Đây là tầng lặp lại mỗi phiên — và thường còn nhiều dư địa sau khi cấu hình đã đúng.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DF5509B-4B30-4D22-BE8D-AB843F87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519EA-DEEA-4951-8262-4F318F09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9139AC9-374B-4336-9200-664E3032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Mở phiên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F07C8F-FE5A-47F5-A1AD-D4A9FD3A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Nêu scope, ràng buộc và file chắc chắn liên quan.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FDC0534-E73F-4D74-8913-B5D98914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73159-7001-4E4E-8E52-8FD05DFD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52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D49DE3-1122-4B7A-8C61-EF2CD192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Trong phiên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7F3036-9F4F-4266-9285-9D24EE9A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385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Chỉ đường tới file; đừng dán code/log mà agent tự đọc được.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D5E4B3A-9588-4169-A7FE-A526346D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BCC65-218B-47F1-8DC5-105D0F90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888EE5E-B069-4144-B2C8-2ED77BFC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Điểm dừng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D8C5438-1EBA-47C2-8B5D-4A97573E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Nén ở ranh giới tự nhiên, sau khi đã ghi lại artifact cần giữ.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BA5948F-485E-4B7A-817F-11430217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99D72-0145-4839-BFE3-73FBC521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89F371E-165B-46F6-BB4F-8D5E84D3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Đóng phiên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0026B0F-9A71-4ABD-9F10-61A96DE4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385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Bắt đầu lại khi việc mới ít liên quan hoặc agent mắc kẹt lặp lại.</a:t>
            </a:r>
          </a:p>
        </p:txBody>
      </p:sp>
    </p:spTree>
    <p:extLst>
      <p:ext uri="{BB962C8B-B14F-4D97-AF65-F5344CB8AC3E}">
        <p14:creationId xmlns:p14="http://schemas.microsoft.com/office/powerpoint/2010/main" val="2068335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487CA2D-BF34-4B0A-A61B-A29F6E77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CACHE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CD07D7F-7881-49A5-B56A-040705DD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D5688-AB48-442D-98D0-7B24820D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A99FE4-FCD2-4DB3-94D2-9A19DACF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Một vòng làm việc giúp cache sống lâu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8D6F96-5C16-4107-8B58-F4F6686E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Giữ luồng chính ổn định; đẩy thay đổi lớn hoặc việc con sang ranh giới phù hợp.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DF5509B-4B30-4D22-BE8D-AB843F87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519EA-DEEA-4951-8262-4F318F09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9139AC9-374B-4336-9200-664E3032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Chọn model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F07C8F-FE5A-47F5-A1AD-D4A9FD3A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Chọn ở đầu phiên và giữ nguyên cho luồng chính.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FDC0534-E73F-4D74-8913-B5D98914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73159-7001-4E4E-8E52-8FD05DFD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52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D49DE3-1122-4B7A-8C61-EF2CD192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Giữ tiền tố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7F3036-9F4F-4266-9285-9D24EE9A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385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Không sửa rules hay bật MCP giữa chừng.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D5E4B3A-9588-4169-A7FE-A526346D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BCC65-218B-47F1-8DC5-105D0F90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888EE5E-B069-4144-B2C8-2ED77BFC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Nén đúng lúc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D8C5438-1EBA-47C2-8B5D-4A97573E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Nén sau một mốc hoàn thành, không giữa lúc debug.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BA5948F-485E-4B7A-817F-11430217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99D72-0145-4839-BFE3-73FBC521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89F371E-165B-46F6-BB4F-8D5E84D3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Bắt đầu lại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0026B0F-9A71-4ABD-9F10-61A96DE4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385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Đổi phiên khi việc mới chỉ dùng ít context cũ.</a:t>
            </a:r>
          </a:p>
        </p:txBody>
      </p:sp>
    </p:spTree>
    <p:extLst>
      <p:ext uri="{BB962C8B-B14F-4D97-AF65-F5344CB8AC3E}">
        <p14:creationId xmlns:p14="http://schemas.microsoft.com/office/powerpoint/2010/main" val="20683352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69BC2FF-CE8D-41AF-BF6E-086D0C79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GIẢI PHÁP 4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BB9319D-A8F2-4F5C-ACC8-F1BC603D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4F52A-40BD-49B7-9515-32756B1F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653DD8-6C49-4D25-9564-001AFF84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Bảo vệ cache thay vì tối ưu từng lượt riêng lẻ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122B302-F9C9-47B2-92F5-5F773CB6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Một phiên coding agent có tiền tố dùng chung: system prompt, rules, schema tool và lịch sử.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9817EFF2-4B85-4C55-AA71-887AD1A0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762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58FC73C-246D-4DC9-984A-D013189F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7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04AD27-13F7-4A0F-A011-6436B35C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Giữ ổn định trong phiên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6F3535-2BFB-421A-B7E3-2F3C2ED8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30530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Không sửa instruction file giữa chừng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Không đổi model/effort liên tục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Không bật tắt tool/MCP tuỳ hứng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Để nội dung tĩnh ở đầu, dữ liệu động ở cuối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419C6224-5C77-4682-B905-E483DD13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4762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4DFC6C26-12A4-4609-8B3D-44E44027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47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499C7B5-54C6-48BC-B83D-0B5F3D7A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Khi phải thay đổi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E473498-C50D-483B-B4BB-C40B9559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28950"/>
            <a:ext cx="430530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Chọn model ở đầu phiên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Route việc con sang context riêng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Nén ở mốc tự nhiên, không giữa lúc debug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Khởi động phiên mới khi context không còn liên quan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259D917-F006-46CE-AD02-87A850A1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Đổi model giữa phiên có thể phá cache của luồng chính; routing tốt tránh thay đổi luồng đó theo từng lượt.</a:t>
            </a:r>
          </a:p>
        </p:txBody>
      </p:sp>
    </p:spTree>
    <p:extLst>
      <p:ext uri="{BB962C8B-B14F-4D97-AF65-F5344CB8AC3E}">
        <p14:creationId xmlns:p14="http://schemas.microsoft.com/office/powerpoint/2010/main" val="12111398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790CFEA-AB4F-48C6-911F-35D3DDE0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GIẢI PHÁP 5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3C70257-D2AD-4314-A6ED-6FBD686C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440AB-5E5B-4E41-A8DA-4DBE91B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F654EF-89CD-412C-8E52-A58760B3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Chọn tool theo hóa đơn cuối cùng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58217A-14FD-4868-8704-532E2B1F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Một công cụ nén output có thể làm agent thiếu thông tin, tăng retry và làm tổng chi phí cao hơn.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C4D990A-D1F1-484D-8A88-765A6F8D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60–90%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D14C617-8865-4209-874B-75EAF77E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RTK nén văn bản output trong thử nghiệm được ghi nhận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36CCFD1-EDD2-4613-864F-0DAFFAD4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+7.6%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FEE72F5-7AB3-46C1-AA90-6F804584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nhưng chi phí tác vụ tăng trong baseline Claude Code đã đo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85071D-9230-4587-95CA-8A3F3E41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955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3985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39855"/>
                </a:solidFill>
                <a:latin typeface="Arial"/>
                <a:ea typeface="Arial"/>
                <a:cs typeface="Arial"/>
              </a:rPr>
              <a:t>2 điều kiện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329EA5C-9406-44CB-A0FB-E66F942C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05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harness còn gap + công cụ gắn được tất định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25B5E5-1EC6-4883-A049-D886E73C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Kết luận thực dụng: tool là giả thuyết cần kiểm chứng, không phải policy mặc định.</a:t>
            </a:r>
          </a:p>
        </p:txBody>
      </p:sp>
    </p:spTree>
    <p:extLst>
      <p:ext uri="{BB962C8B-B14F-4D97-AF65-F5344CB8AC3E}">
        <p14:creationId xmlns:p14="http://schemas.microsoft.com/office/powerpoint/2010/main" val="19823827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790CFEA-AB4F-48C6-911F-35D3DDE0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CỬA KIỂM TOOL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3C70257-D2AD-4314-A6ED-6FBD686C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440AB-5E5B-4E41-A8DA-4DBE91B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F654EF-89CD-412C-8E52-A58760B3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 câu hỏi trước khi giữ một tool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58217A-14FD-4868-8704-532E2B1F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Một tool là giả thuyết; chỉ biến nó thành policy khi nó vượt qua cả ba câu hỏi.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C4D990A-D1F1-484D-8A88-765A6F8D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D14C617-8865-4209-874B-75EAF77E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Harness còn một gap thật không?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36CCFD1-EDD2-4613-864F-0DAFFAD4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FEE72F5-7AB3-46C1-AA90-6F804584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Can thiệp có chạy chắc chắn không?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85071D-9230-4587-95CA-8A3F3E41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955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3985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3985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329EA5C-9406-44CB-A0FB-E66F942C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05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Tổng chi phí tác vụ có giảm không?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25B5E5-1EC6-4883-A049-D886E73C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3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Nếu chưa trả lời được cả ba, tool vẫn là một giả thuyết — không phải tiêu chuẩn của team.</a:t>
            </a:r>
          </a:p>
        </p:txBody>
      </p:sp>
    </p:spTree>
    <p:extLst>
      <p:ext uri="{BB962C8B-B14F-4D97-AF65-F5344CB8AC3E}">
        <p14:creationId xmlns:p14="http://schemas.microsoft.com/office/powerpoint/2010/main" val="19823827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41E091-5F1F-4717-908A-18645CA9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GIẢI PHÁP 6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520E104-D326-490D-B04C-12659D72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71714-D23B-4CA2-8C1C-72710BD4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AA9D02-70BF-44DB-B19A-4642839C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71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Route theo ranh giới tác vụ — không route theo từng câu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3712C2-3982-4CDD-AF36-714BC25A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Chọn model dựa trên chi phí để hoàn thành công việc và tránh phá cache của luồng chính.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14750"/>
                <a:gridCol w="3143250"/>
                <a:gridCol w="4114800"/>
              </a:tblGrid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Loại việc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Ưu tiên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Vì sao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</a:rPr>
                        <a:t>Khám phá, grep, đọc bố cục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</a:rPr>
                        <a:t>Model rẻ đủ dùng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</a:rPr>
                        <a:t>Giữ luồng chính ổn định</a:t>
                      </a:r>
                    </a:p>
                  </a:txBody>
                  <a:tcPr marL="114300" marR="95250" marT="76200" marB="7620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</a:rPr>
                        <a:t>Sửa lỗi hẹp, đổi tên, test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</a:rPr>
                        <a:t>Model rẻ / trung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</a:rPr>
                        <a:t>Test xác nhận nhanh</a:t>
                      </a:r>
                    </a:p>
                  </a:txBody>
                  <a:tcPr marL="114300" marR="95250" marT="76200" marB="7620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</a:rPr>
                        <a:t>Kiến trúc, refactor lớn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</a:rPr>
                        <a:t>Model mạnh hoặc advisor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</a:rPr>
                        <a:t>Chỉ trả giá ở điểm quyết định</a:t>
                      </a:r>
                    </a:p>
                  </a:txBody>
                  <a:tcPr marL="114300" marR="95250" marT="76200" marB="7620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</a:rPr>
                        <a:t>Việc con độc lập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</a:rPr>
                        <a:t>Subagent context riêng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</a:rPr>
                        <a:t>Rác khám phá không vào phiên chính</a:t>
                      </a:r>
                    </a:p>
                  </a:txBody>
                  <a:tcPr marL="114300" marR="95250" marT="76200" marB="762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5392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CEB3CBC-9EE0-4F67-AE9D-CF89BB48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KIỂM CHỨNG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CA37E8C-5FEB-4C17-9A86-C8EE491D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40229-F280-413F-A35C-3BD7EC2A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6AE7C3-A7BD-4435-AC98-77CD7286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Mọi thay đổi đều đi qua một vòng thử nghiệm nhỏ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8562035-7E68-4BD4-98C9-346DE5A5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Đo theo tác vụ thật; chỉ thay đổi một biến; đặt ngưỡng quyết định trước khi nhìn kết quả.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B1E4F625-8009-4F3D-BDE2-8B7DB0A0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475F56C-D216-4D21-AE74-24B1C933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2E32ED-AFC3-4B52-A290-BAD5F266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Chọn 1 thay đổi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F7E2E4F-060C-4D04-ADB1-A69BB06D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Một setting, một tool hoặc một quy ước.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C35687A5-EE90-48E3-B90C-30461F70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D5859E42-4656-4417-8A39-508208D4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7C6DDB9-DD1B-4FDB-BA6D-3F5ED304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Dùng backlog thật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39DDD8-76C2-41A0-A23D-BED5D69E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Có điều kiện hoàn thành rõ và repo cùng trạng thái.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CB76EF0F-783E-49CB-99F3-3E186A36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01F8EC13-C44E-4602-B317-C39B04F0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B024E12-3C9B-447A-A4E0-7E0ACE4B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03  Xác nhận kích hoạt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748172C-9ABD-4E82-B770-548647F5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Hook/tool có thực sự chạy ở nhánh treatment?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E5865EA8-C9D0-405D-A415-AB8B3444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24668BB7-BF9E-46EC-A028-FC6EA9C7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3AF272A-37E1-4063-B9C9-E5C020A4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04  So sánh ghép cặp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4CA7EE0-92EC-4ED4-BFE4-6C1A26DB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Cùng tác vụ, cùng baseline; đo tổng chi phí để hoàn thành.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25B6C4B-855B-443D-8D6E-0D81E8C5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C680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6803"/>
                </a:solidFill>
                <a:latin typeface="Arial"/>
                <a:ea typeface="Arial"/>
                <a:cs typeface="Arial"/>
              </a:rPr>
              <a:t>Một thử nghiệm 3–5 tác vụ chỉ đủ kiểm tra can thiệp có chạy; không đủ để kết luận hiệu ứng nhỏ.</a:t>
            </a:r>
          </a:p>
        </p:txBody>
      </p:sp>
    </p:spTree>
    <p:extLst>
      <p:ext uri="{BB962C8B-B14F-4D97-AF65-F5344CB8AC3E}">
        <p14:creationId xmlns:p14="http://schemas.microsoft.com/office/powerpoint/2010/main" val="1340062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C48AE7F-68DE-4F5B-B3D6-046B884E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ÁP DỤNG CHO TEAM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B716920-A871-4C87-8685-B625C1D7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670AC-A476-4B5C-9310-6BF7EB3D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F86EF9-C1C6-4817-9019-98774D7E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521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Quản lý và developer có vai trò khác nhau trong cùng một hệ thống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F133DE4-9092-4C1A-AF21-DEB462C5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Một bên tạo điều kiện và guardrail; một bên biến chúng thành thói quen hằng ngày.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1FADCA79-3EE6-4F5A-A1F7-EAC4E16C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482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187368F-0A03-4CA7-BCAE-E5246A42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762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3A55F2D-6F33-401A-B513-B7CDE754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Quản lý / Tech lead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3388BC-8DC1-4F09-B25C-3A69522F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4591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Chọn harness và preset chuẩn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Chỉ định owner cho MCP / tool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Đặt baseline chi phí &amp; chất lượng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Duyệt thử nghiệm, không áp đặt tool theo hype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31F7414B-F2B9-4A0D-BE08-73276114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50482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B5D97088-B899-4FB7-9B41-006333B1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4762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6BAB11-FC2D-45F0-B219-F37279D7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Developer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3F4EED0-2F45-411D-98F1-6B641C77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591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Scope rõ và chỉ đường đúng file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Đọc lỗi trước khi chuyển tiếp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Giữ cache ổn định trong phiên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• Báo lại số liệu và failure mode, không chỉ “cảm giác nhanh hơn”</a:t>
            </a:r>
          </a:p>
        </p:txBody>
      </p:sp>
    </p:spTree>
    <p:extLst>
      <p:ext uri="{BB962C8B-B14F-4D97-AF65-F5344CB8AC3E}">
        <p14:creationId xmlns:p14="http://schemas.microsoft.com/office/powerpoint/2010/main" val="6559512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D2B664B-B446-4EA7-B53C-EFFF8488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KẾ HOẠCH TRIỂN KHAI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F5FFAE4-DE8F-4A3A-A133-0DBAD721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DC0B4-6B21-475B-BAE1-9C0CF25D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3F84B6-033C-441C-BFBB-B7F6C0C5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89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Một rollout 2 tuần đủ để chuyển từ nguyên tắc sang hành động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F5C0A80-E80B-4B27-B977-3553B4F7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Bắt đầu hẹp, có baseline và định nghĩa thành công — rồi mới chuẩn hoá rộng hơn.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8277D3EE-92E3-44AD-B0B2-29C701A3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24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F279D3C-6927-4642-9566-A2148FD9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Ngày 1–2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716217C-2DDC-4657-89D9-48E93D0D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Khảo sát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10C508-B324-4995-A3F0-0BCC561E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Inventory agent, model, MCP; xác định mô hình billing.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804CD273-9EA3-406C-834F-1B7F34AE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324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57B2687-1CF9-4892-B158-AE022699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Ngày 3–5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B8469C3-794A-4CB8-89E7-297FD904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Chuẩn hoá nền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F570198-2CB7-4E92-8C32-56C27C9C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Preset config + workflow checklist; không cài tool mới.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35A5290-FADE-48EE-9812-34F9A75F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324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C861B0D-1767-4FAC-9F6A-09B76DB9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Tuần 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834E8C4-625D-4D23-9204-E617397F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F8EE47-A5A3-41FC-A851-44084B3F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Chọn 1–2 thay đổi, chạy trên backlog thật, ghi chi phí + chất lượng.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2AD078F4-D348-4BA6-8A5F-EF02A40D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324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29A5AB0-D5D2-4FD2-AB0D-E022417D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Cuối tuần 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7D087BE-B417-4423-B378-1C6146F4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385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Quyết định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0B811D2-3C14-4C8B-B1E3-EDE5FDA4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3380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Giữ, sửa hoặc bỏ; công bố rule ngắn gọn cho team.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CBE0D70-3C45-4801-862E-7271011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Điểm kiểm soát: không mở rộng tool/policy trước khi pilot chứng minh được tác động trong baseline của team.</a:t>
            </a:r>
          </a:p>
        </p:txBody>
      </p:sp>
    </p:spTree>
    <p:extLst>
      <p:ext uri="{BB962C8B-B14F-4D97-AF65-F5344CB8AC3E}">
        <p14:creationId xmlns:p14="http://schemas.microsoft.com/office/powerpoint/2010/main" val="10324687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F7C0DC8-102A-488B-9079-53B6852C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1C28F0F-7C69-4CF9-B9E8-ABE46716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6F4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F4C5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E07F401-7821-4EBD-AD5F-51C3D3FC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Tối ưu token là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một năng lực vận hành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CED99F1-D12D-4748-9C18-EEF64AEF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Ưu tiên đúng thứ tự: hiểu đơn vị chi phí → chuẩn hoá harness &amp; config → thay đổi workflow → đo tool trước khi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EB902-9C3C-4BC0-B177-93BC1B74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7ED4FF-CAF7-44CE-8138-C6DD21E8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98C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8C8FF"/>
                </a:solidFill>
                <a:latin typeface="Arial"/>
                <a:ea typeface="Arial"/>
                <a:cs typeface="Arial"/>
              </a:rPr>
              <a:t>Hành động sau buổi này: chọn một đội pilot, một baseline và một thay đổi đầu tiên.</a:t>
            </a:r>
          </a:p>
        </p:txBody>
      </p:sp>
    </p:spTree>
    <p:extLst>
      <p:ext uri="{BB962C8B-B14F-4D97-AF65-F5344CB8AC3E}">
        <p14:creationId xmlns:p14="http://schemas.microsoft.com/office/powerpoint/2010/main" val="1261204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2026-08-17T05:54:46.0900000Z</dcterms:created>
  <dcterms:modified xsi:type="dcterms:W3CDTF">2026-08-17T05:54:46.0900000Z</dcterms:modified>
</coreProperties>
</file>