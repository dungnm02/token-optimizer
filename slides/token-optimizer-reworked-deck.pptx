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77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66" y="3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bài: đây không phải bài giảng sâu về kiến trúc LLM. Mục tiêu là nhìn thấy token đi đâu trong một phiên agent và biết can thiệp ở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Tình huống minh họa. Chi phí nằm trong toàn bộ quá trình agent tìm hiểu, hành động, kiểm chứng và thử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Không đi sâu vào BPE. Xây trực giác: cụm phổ biến thường được biểu diễn bằng mảnh lớn hơn; chuỗi hiếm bị chia nhỏ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sánh các loại nội dung developer thường gặp. Dữ liệu ít quy luật có thể chiếm context lớn hơn nhiều so với cảm giác nhìn bằng mắt.</a:t>
            </a:r>
          </a:p>
          <a:p>
            <a:endParaRPr/>
          </a:p>
          <a:p>
            <a:r>
              <a:t>[Sources]</a:t>
            </a:r>
          </a:p>
          <a:p>
            <a:r>
              <a:t>- Repo token-optimizer — phép đo mẫu với tiktoken o200k_base.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model chỉ minh họa cấu trúc giá, không phải xếp hạng năng lực. Giá phụ thuộc model, context tier và processing mode.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https://developers.openai.com/api/docs/pricing — GPT-5.6 Terra pricing.</a:t>
            </a:r>
          </a:p>
          <a:p>
            <a:r>
              <a:t>- https://platform.claude.com/docs/en/about-claude/pricing — Claude Sonnet 5 pricing.</a:t>
            </a:r>
          </a:p>
          <a:p>
            <a:r>
              <a:t>- https://ai.google.dev/gemini-api/docs/pricing — Gemini 3.5 Flash pricing.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Stateless là mental model ở cấp request/API; không phủ nhận sản phẩm có server-side conversation state. Thành phần bên ngoài phải thực thi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Model </a:t>
            </a:r>
            <a:r>
              <a:rPr dirty="0" err="1"/>
              <a:t>chỉ</a:t>
            </a:r>
            <a:r>
              <a:rPr dirty="0"/>
              <a:t> nhận payload và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. Harness </a:t>
            </a:r>
            <a:r>
              <a:rPr dirty="0" err="1"/>
              <a:t>đứng</a:t>
            </a:r>
            <a:r>
              <a:rPr dirty="0"/>
              <a:t> ở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phía</a:t>
            </a:r>
            <a:r>
              <a:rPr dirty="0"/>
              <a:t>: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payload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gọi</a:t>
            </a:r>
            <a:r>
              <a:rPr dirty="0"/>
              <a:t> model,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lý response </a:t>
            </a:r>
            <a:r>
              <a:rPr dirty="0" err="1"/>
              <a:t>hoặc</a:t>
            </a:r>
            <a:r>
              <a:rPr dirty="0"/>
              <a:t> tool intent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model </a:t>
            </a:r>
            <a:r>
              <a:rPr dirty="0" err="1"/>
              <a:t>trả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. 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vậy</a:t>
            </a:r>
            <a:r>
              <a:rPr dirty="0"/>
              <a:t>,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cảnh</a:t>
            </a:r>
            <a:r>
              <a:rPr dirty="0"/>
              <a:t> coding agent: Agent = Harness + Model.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https://support.claude.com/en/articles/14555877-claude-code-communications-kit</a:t>
            </a:r>
          </a:p>
          <a:p>
            <a:r>
              <a:rPr dirty="0"/>
              <a:t>- https://openai.com/codex/</a:t>
            </a:r>
          </a:p>
          <a:p>
            <a:r>
              <a:rPr dirty="0"/>
              <a:t>- https://developers.google.com/gemini-code-assist/docs/gemini-cli</a:t>
            </a:r>
          </a:p>
          <a:p>
            <a:r>
              <a:rPr dirty="0"/>
              <a:t>- https://www.jetbrains.com/junie/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Cache strategy nằm ở ranh giới harness–provider; không vẽ cache như database nội bộ bắt buộc. Measurement là lớp xuyên suốt.</a:t>
            </a:r>
          </a:p>
          <a:p>
            <a:endParaRPr/>
          </a:p>
          <a:p>
            <a:r>
              <a:t>[Sources]</a:t>
            </a:r>
          </a:p>
          <a:p>
            <a:r>
              <a:t>- https://openai.com/index/unrolling-the-codex-agent-loop/ — agent loop and harness framing.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 là working memory của lần inference. Mọi phần input và output cùng chia sẻ một giới hạn.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Cache </a:t>
            </a:r>
            <a:r>
              <a:rPr dirty="0" err="1"/>
              <a:t>giảm</a:t>
            </a:r>
            <a:r>
              <a:rPr dirty="0"/>
              <a:t> giá </a:t>
            </a:r>
            <a:r>
              <a:rPr dirty="0" err="1"/>
              <a:t>hoặc</a:t>
            </a:r>
            <a:r>
              <a:rPr dirty="0"/>
              <a:t> latency </a:t>
            </a:r>
            <a:r>
              <a:rPr dirty="0" err="1"/>
              <a:t>cho</a:t>
            </a:r>
            <a:r>
              <a:rPr dirty="0"/>
              <a:t> prefix </a:t>
            </a:r>
            <a:r>
              <a:rPr dirty="0" err="1"/>
              <a:t>lặp</a:t>
            </a:r>
            <a:r>
              <a:rPr dirty="0"/>
              <a:t> lại. Token cache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context window; cache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quyết</a:t>
            </a:r>
            <a:r>
              <a:rPr dirty="0"/>
              <a:t> context growth.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https://developers.openai.com/api/docs/pricing — cached input.</a:t>
            </a:r>
          </a:p>
          <a:p>
            <a:r>
              <a:rPr dirty="0"/>
              <a:t>- https://platform.claude.com/docs/en/about-claude/pricing — cache hit.</a:t>
            </a:r>
          </a:p>
          <a:p>
            <a:r>
              <a:rPr dirty="0"/>
              <a:t>- https://ai.google.dev/gemini-api/docs/pricing — context caching.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điều hướng trung tâm. Click User, Harness, Model, Context append, feedback loop, final/session boundary hoặc Measurement để đi sâu; các slide chi tiết có nút quay lại.</a:t>
            </a:r>
          </a:p>
          <a:p>
            <a:endParaRPr/>
          </a:p>
          <a:p>
            <a:r>
              <a:t>[Sources]</a:t>
            </a:r>
          </a:p>
          <a:p>
            <a:r>
              <a:t>- https://openai.com/index/unrolling-the-codex-agent-loop/ — lifecycle reference.</a:t>
            </a:r>
          </a:p>
          <a:p>
            <a:r>
              <a:t>- Ảnh tham chiếu do người dùng cung cấp — visual direction for slide 10.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Scope là amplifier bắt đầu tại User/Task, không phải node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Tool schema thuộc bước build context, không thuộc tool execution. Audit payload sau khi harness đã render.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 output bị tính một lần ở chiều output và có thể tiếp tục trở thành input trong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Tool execution không tự tiêu model token. Kết quả trở nên đắt khi được append vào context và gửi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Doom loop thuộc feedback edge vì cần model output, tool result và inference tiếp theo. Model có tham gia nhưng hotspot nằm trên vòng phản hồi.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ngưỡng trên là heuristic vận hành, chưa phải benchmark. Mục tiêu là tạo artifact rồi bắt đầu sạch khi phù hợp.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Measurement bao quanh toàn lifecycle, không phải execution node. Đánh giá optimization ở cấp task hoàn thành.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sánh các loại nội dung developer thường gặp. Dữ liệu ít quy luật có thể chiếm context lớn hơn nhiều so với cảm giác nhìn bằng mắt.</a:t>
            </a:r>
          </a:p>
          <a:p>
            <a:endParaRPr/>
          </a:p>
          <a:p>
            <a:r>
              <a:t>[Sources]</a:t>
            </a:r>
          </a:p>
          <a:p>
            <a:r>
              <a:t>- Repo token-optimizer — phép đo mẫu với tiktoken o200k_base.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Measurement bao quanh toàn lifecycle, không phải execution node. Đánh giá optimization ở cấp task hoàn thành.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59735-A717-5EC6-AF2A-CABACF477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8AC2A-D148-025F-61E6-89FAC213C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56A7AE-9B37-3707-28E5-F135AD1FA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điều hướng trung tâm. Click User, Harness, Model, Context append, feedback loop, final/session boundary hoặc Measurement để đi sâu; các slide chi tiết có nút quay lại.</a:t>
            </a:r>
          </a:p>
          <a:p>
            <a:endParaRPr/>
          </a:p>
          <a:p>
            <a:r>
              <a:t>[Sources]</a:t>
            </a:r>
          </a:p>
          <a:p>
            <a:r>
              <a:t>- https://openai.com/index/unrolling-the-codex-agent-loop/ — lifecycle reference.</a:t>
            </a:r>
          </a:p>
          <a:p>
            <a:r>
              <a:t>- Ảnh tham chiếu do người dùng cung cấp — visual direction for slide 10.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922C5-E818-96B7-5057-36BC29924C2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3401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5" Type="http://schemas.openxmlformats.org/officeDocument/2006/relationships/slide" Target="slide14.xml"/><Relationship Id="rId4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7" Type="http://schemas.openxmlformats.org/officeDocument/2006/relationships/slide" Target="slide1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5" Type="http://schemas.openxmlformats.org/officeDocument/2006/relationships/slide" Target="slide14.xml"/><Relationship Id="rId4" Type="http://schemas.openxmlformats.org/officeDocument/2006/relationships/slide" Target="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6862891E-00FC-4490-9822-1EAE1F66D27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07C183F7-F3C8-4091-BDE3-61F6375D26C9}"/>
              </a:ext>
            </a:extLst>
          </p:cNvPr>
          <p:cNvSpPr>
            <a:spLocks noGrp="1"/>
          </p:cNvSpPr>
          <p:nvPr/>
        </p:nvSpPr>
        <p:spPr>
          <a:xfrm>
            <a:off x="7543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48CDC1B-5CD5-4F56-BA12-E3C46CB09D84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3F963D0-1692-4BC0-B91E-035FAC8C2430}"/>
              </a:ext>
            </a:extLst>
          </p:cNvPr>
          <p:cNvSpPr>
            <a:spLocks noGrp="1"/>
          </p:cNvSpPr>
          <p:nvPr/>
        </p:nvSpPr>
        <p:spPr>
          <a:xfrm>
            <a:off x="81534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CFC75C99-A373-4A0B-9CBA-E977AC04F056}"/>
              </a:ext>
            </a:extLst>
          </p:cNvPr>
          <p:cNvSpPr>
            <a:spLocks noGrp="1"/>
          </p:cNvSpPr>
          <p:nvPr/>
        </p:nvSpPr>
        <p:spPr>
          <a:xfrm>
            <a:off x="84582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EC390EE7-7BB5-4B1D-9FF6-7C47A03E8903}"/>
              </a:ext>
            </a:extLst>
          </p:cNvPr>
          <p:cNvSpPr>
            <a:spLocks noGrp="1"/>
          </p:cNvSpPr>
          <p:nvPr/>
        </p:nvSpPr>
        <p:spPr>
          <a:xfrm>
            <a:off x="8763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77FBD04-9C72-4FF8-A3D5-7609987C4769}"/>
              </a:ext>
            </a:extLst>
          </p:cNvPr>
          <p:cNvSpPr>
            <a:spLocks noGrp="1"/>
          </p:cNvSpPr>
          <p:nvPr/>
        </p:nvSpPr>
        <p:spPr>
          <a:xfrm>
            <a:off x="9067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CEB85C66-7F05-42AF-97B7-31B4C3BD93DB}"/>
              </a:ext>
            </a:extLst>
          </p:cNvPr>
          <p:cNvSpPr>
            <a:spLocks noGrp="1"/>
          </p:cNvSpPr>
          <p:nvPr/>
        </p:nvSpPr>
        <p:spPr>
          <a:xfrm>
            <a:off x="93726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8A806C4A-075C-4E01-B373-689675898120}"/>
              </a:ext>
            </a:extLst>
          </p:cNvPr>
          <p:cNvSpPr>
            <a:spLocks noGrp="1"/>
          </p:cNvSpPr>
          <p:nvPr/>
        </p:nvSpPr>
        <p:spPr>
          <a:xfrm>
            <a:off x="96774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DA78CCD-727F-43C2-89C9-6C460FF3F488}"/>
              </a:ext>
            </a:extLst>
          </p:cNvPr>
          <p:cNvSpPr>
            <a:spLocks noGrp="1"/>
          </p:cNvSpPr>
          <p:nvPr/>
        </p:nvSpPr>
        <p:spPr>
          <a:xfrm>
            <a:off x="99822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C2E83A7-2F26-4C91-AB00-D45EC27D77C7}"/>
              </a:ext>
            </a:extLst>
          </p:cNvPr>
          <p:cNvSpPr>
            <a:spLocks noGrp="1"/>
          </p:cNvSpPr>
          <p:nvPr/>
        </p:nvSpPr>
        <p:spPr>
          <a:xfrm>
            <a:off x="10287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F55723E-3A88-435A-BDF4-AE07D9531930}"/>
              </a:ext>
            </a:extLst>
          </p:cNvPr>
          <p:cNvSpPr>
            <a:spLocks noGrp="1"/>
          </p:cNvSpPr>
          <p:nvPr/>
        </p:nvSpPr>
        <p:spPr>
          <a:xfrm>
            <a:off x="10591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7A043A5F-CB81-4041-B8DD-3813E1F7A2A5}"/>
              </a:ext>
            </a:extLst>
          </p:cNvPr>
          <p:cNvSpPr>
            <a:spLocks noGrp="1"/>
          </p:cNvSpPr>
          <p:nvPr/>
        </p:nvSpPr>
        <p:spPr>
          <a:xfrm>
            <a:off x="108966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22F2CB7-8993-48A2-99E3-FC370057354F}"/>
              </a:ext>
            </a:extLst>
          </p:cNvPr>
          <p:cNvSpPr>
            <a:spLocks noGrp="1"/>
          </p:cNvSpPr>
          <p:nvPr/>
        </p:nvSpPr>
        <p:spPr>
          <a:xfrm>
            <a:off x="112014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C07A73B-0D25-4BB3-8311-D0F1AAC3E36C}"/>
              </a:ext>
            </a:extLst>
          </p:cNvPr>
          <p:cNvSpPr>
            <a:spLocks noGrp="1"/>
          </p:cNvSpPr>
          <p:nvPr/>
        </p:nvSpPr>
        <p:spPr>
          <a:xfrm>
            <a:off x="115062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D336DED1-70EA-45C2-A378-4992CC92E549}"/>
              </a:ext>
            </a:extLst>
          </p:cNvPr>
          <p:cNvSpPr>
            <a:spLocks noGrp="1"/>
          </p:cNvSpPr>
          <p:nvPr/>
        </p:nvSpPr>
        <p:spPr>
          <a:xfrm>
            <a:off x="118110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DD11EA0A-9C9D-4473-AB28-629B293CD5DC}"/>
              </a:ext>
            </a:extLst>
          </p:cNvPr>
          <p:cNvSpPr>
            <a:spLocks noGrp="1"/>
          </p:cNvSpPr>
          <p:nvPr/>
        </p:nvSpPr>
        <p:spPr>
          <a:xfrm>
            <a:off x="12115800" y="0"/>
            <a:ext cx="953" cy="6858000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2248E5B5-9504-497B-9EF2-580B962ACD31}"/>
              </a:ext>
            </a:extLst>
          </p:cNvPr>
          <p:cNvSpPr>
            <a:spLocks noGrp="1"/>
          </p:cNvSpPr>
          <p:nvPr/>
        </p:nvSpPr>
        <p:spPr>
          <a:xfrm>
            <a:off x="7239000" y="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C6935869-E375-4601-B184-8D5B3762C33D}"/>
              </a:ext>
            </a:extLst>
          </p:cNvPr>
          <p:cNvSpPr>
            <a:spLocks noGrp="1"/>
          </p:cNvSpPr>
          <p:nvPr/>
        </p:nvSpPr>
        <p:spPr>
          <a:xfrm>
            <a:off x="7239000" y="304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129F10E-BFED-4069-B937-7F91ED98B7BB}"/>
              </a:ext>
            </a:extLst>
          </p:cNvPr>
          <p:cNvSpPr>
            <a:spLocks noGrp="1"/>
          </p:cNvSpPr>
          <p:nvPr/>
        </p:nvSpPr>
        <p:spPr>
          <a:xfrm>
            <a:off x="7239000" y="609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FB346089-86E3-46FB-8A9F-1F679BB05081}"/>
              </a:ext>
            </a:extLst>
          </p:cNvPr>
          <p:cNvSpPr>
            <a:spLocks noGrp="1"/>
          </p:cNvSpPr>
          <p:nvPr/>
        </p:nvSpPr>
        <p:spPr>
          <a:xfrm>
            <a:off x="7239000" y="914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5B3B60C-6265-45E2-AFC7-8024E5EC7940}"/>
              </a:ext>
            </a:extLst>
          </p:cNvPr>
          <p:cNvSpPr>
            <a:spLocks noGrp="1"/>
          </p:cNvSpPr>
          <p:nvPr/>
        </p:nvSpPr>
        <p:spPr>
          <a:xfrm>
            <a:off x="7239000" y="1219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77088A3F-D729-4CC7-9700-B8DE853A3F93}"/>
              </a:ext>
            </a:extLst>
          </p:cNvPr>
          <p:cNvSpPr>
            <a:spLocks noGrp="1"/>
          </p:cNvSpPr>
          <p:nvPr/>
        </p:nvSpPr>
        <p:spPr>
          <a:xfrm>
            <a:off x="7239000" y="1524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9B387BB4-EC53-454D-A465-49D7A2F23C3E}"/>
              </a:ext>
            </a:extLst>
          </p:cNvPr>
          <p:cNvSpPr>
            <a:spLocks noGrp="1"/>
          </p:cNvSpPr>
          <p:nvPr/>
        </p:nvSpPr>
        <p:spPr>
          <a:xfrm>
            <a:off x="7239000" y="1828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40CD2690-2DF1-411C-833B-1C1194440C58}"/>
              </a:ext>
            </a:extLst>
          </p:cNvPr>
          <p:cNvSpPr>
            <a:spLocks noGrp="1"/>
          </p:cNvSpPr>
          <p:nvPr/>
        </p:nvSpPr>
        <p:spPr>
          <a:xfrm>
            <a:off x="7239000" y="2133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E9A25EAD-51A4-4587-8FDD-47423F64B832}"/>
              </a:ext>
            </a:extLst>
          </p:cNvPr>
          <p:cNvSpPr>
            <a:spLocks noGrp="1"/>
          </p:cNvSpPr>
          <p:nvPr/>
        </p:nvSpPr>
        <p:spPr>
          <a:xfrm>
            <a:off x="7239000" y="2438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95AD78B9-ACE6-4859-A697-C20516D48B56}"/>
              </a:ext>
            </a:extLst>
          </p:cNvPr>
          <p:cNvSpPr>
            <a:spLocks noGrp="1"/>
          </p:cNvSpPr>
          <p:nvPr/>
        </p:nvSpPr>
        <p:spPr>
          <a:xfrm>
            <a:off x="7239000" y="2743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D52ED5C9-04EE-44F6-887D-2742D1BC5F12}"/>
              </a:ext>
            </a:extLst>
          </p:cNvPr>
          <p:cNvSpPr>
            <a:spLocks noGrp="1"/>
          </p:cNvSpPr>
          <p:nvPr/>
        </p:nvSpPr>
        <p:spPr>
          <a:xfrm>
            <a:off x="7239000" y="3048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60C2573D-2189-48B6-AC9C-50BBE067B65D}"/>
              </a:ext>
            </a:extLst>
          </p:cNvPr>
          <p:cNvSpPr>
            <a:spLocks noGrp="1"/>
          </p:cNvSpPr>
          <p:nvPr/>
        </p:nvSpPr>
        <p:spPr>
          <a:xfrm>
            <a:off x="7239000" y="3352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FF49D60B-E9C6-46A4-A150-1217BCBACBED}"/>
              </a:ext>
            </a:extLst>
          </p:cNvPr>
          <p:cNvSpPr>
            <a:spLocks noGrp="1"/>
          </p:cNvSpPr>
          <p:nvPr/>
        </p:nvSpPr>
        <p:spPr>
          <a:xfrm>
            <a:off x="7239000" y="3657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Straight Connector 30">
            <a:extLst>
              <a:ext uri="{FF2B5EF4-FFF2-40B4-BE49-F238E27FC236}">
                <a16:creationId xmlns:a16="http://schemas.microsoft.com/office/drawing/2014/main" id="{AE66A2B8-7FA7-425B-BF72-3CDEDAD0B121}"/>
              </a:ext>
            </a:extLst>
          </p:cNvPr>
          <p:cNvSpPr>
            <a:spLocks noGrp="1"/>
          </p:cNvSpPr>
          <p:nvPr/>
        </p:nvSpPr>
        <p:spPr>
          <a:xfrm>
            <a:off x="7239000" y="3962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BDE87FE3-5BC5-4047-84AF-1A0BC06E267B}"/>
              </a:ext>
            </a:extLst>
          </p:cNvPr>
          <p:cNvSpPr>
            <a:spLocks noGrp="1"/>
          </p:cNvSpPr>
          <p:nvPr/>
        </p:nvSpPr>
        <p:spPr>
          <a:xfrm>
            <a:off x="7239000" y="4267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328244D8-EBB5-4353-B8B1-DBECF6B830A3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66A5D1FD-1656-442A-BE9E-A298D8EA31CD}"/>
              </a:ext>
            </a:extLst>
          </p:cNvPr>
          <p:cNvSpPr>
            <a:spLocks noGrp="1"/>
          </p:cNvSpPr>
          <p:nvPr/>
        </p:nvSpPr>
        <p:spPr>
          <a:xfrm>
            <a:off x="7239000" y="4876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raight Connector 34">
            <a:extLst>
              <a:ext uri="{FF2B5EF4-FFF2-40B4-BE49-F238E27FC236}">
                <a16:creationId xmlns:a16="http://schemas.microsoft.com/office/drawing/2014/main" id="{6414BB08-3405-44E6-9730-8AEE6D843927}"/>
              </a:ext>
            </a:extLst>
          </p:cNvPr>
          <p:cNvSpPr>
            <a:spLocks noGrp="1"/>
          </p:cNvSpPr>
          <p:nvPr/>
        </p:nvSpPr>
        <p:spPr>
          <a:xfrm>
            <a:off x="7239000" y="5181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64F7ED7E-CBCC-4302-BD0D-EB510A317637}"/>
              </a:ext>
            </a:extLst>
          </p:cNvPr>
          <p:cNvSpPr>
            <a:spLocks noGrp="1"/>
          </p:cNvSpPr>
          <p:nvPr/>
        </p:nvSpPr>
        <p:spPr>
          <a:xfrm>
            <a:off x="7239000" y="54864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Straight Connector 36">
            <a:extLst>
              <a:ext uri="{FF2B5EF4-FFF2-40B4-BE49-F238E27FC236}">
                <a16:creationId xmlns:a16="http://schemas.microsoft.com/office/drawing/2014/main" id="{FDA2F613-DAC7-4796-95CF-B3D0900FAA95}"/>
              </a:ext>
            </a:extLst>
          </p:cNvPr>
          <p:cNvSpPr>
            <a:spLocks noGrp="1"/>
          </p:cNvSpPr>
          <p:nvPr/>
        </p:nvSpPr>
        <p:spPr>
          <a:xfrm>
            <a:off x="7239000" y="57912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raight Connector 37">
            <a:extLst>
              <a:ext uri="{FF2B5EF4-FFF2-40B4-BE49-F238E27FC236}">
                <a16:creationId xmlns:a16="http://schemas.microsoft.com/office/drawing/2014/main" id="{D6AB0D97-4486-4AA0-81A2-42B4FE21458C}"/>
              </a:ext>
            </a:extLst>
          </p:cNvPr>
          <p:cNvSpPr>
            <a:spLocks noGrp="1"/>
          </p:cNvSpPr>
          <p:nvPr/>
        </p:nvSpPr>
        <p:spPr>
          <a:xfrm>
            <a:off x="7239000" y="60960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6933B7D4-C75E-4A1F-843F-6097FA2EE360}"/>
              </a:ext>
            </a:extLst>
          </p:cNvPr>
          <p:cNvSpPr>
            <a:spLocks noGrp="1"/>
          </p:cNvSpPr>
          <p:nvPr/>
        </p:nvSpPr>
        <p:spPr>
          <a:xfrm>
            <a:off x="7239000" y="64008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43D23FA-469C-4B9D-B18B-8830042C8CDD}"/>
              </a:ext>
            </a:extLst>
          </p:cNvPr>
          <p:cNvSpPr>
            <a:spLocks noGrp="1"/>
          </p:cNvSpPr>
          <p:nvPr/>
        </p:nvSpPr>
        <p:spPr>
          <a:xfrm>
            <a:off x="7239000" y="6705600"/>
            <a:ext cx="4953000" cy="953"/>
          </a:xfrm>
          <a:prstGeom prst="line">
            <a:avLst/>
          </a:prstGeom>
          <a:ln w="9525">
            <a:solidFill>
              <a:srgbClr val="EDF2F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E934212-E1DF-49D6-B0DB-4B16F21EDBDF}"/>
              </a:ext>
            </a:extLst>
          </p:cNvPr>
          <p:cNvSpPr>
            <a:spLocks noGrp="1"/>
          </p:cNvSpPr>
          <p:nvPr/>
        </p:nvSpPr>
        <p:spPr>
          <a:xfrm>
            <a:off x="533400" y="552450"/>
            <a:ext cx="3009900" cy="304800"/>
          </a:xfrm>
          <a:prstGeom prst="roundRect">
            <a:avLst>
              <a:gd name="adj" fmla="val 25000"/>
            </a:avLst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9C93879-D8D3-4D96-8898-101AB136BC02}"/>
              </a:ext>
            </a:extLst>
          </p:cNvPr>
          <p:cNvSpPr>
            <a:spLocks noGrp="1"/>
          </p:cNvSpPr>
          <p:nvPr/>
        </p:nvSpPr>
        <p:spPr>
          <a:xfrm>
            <a:off x="628650" y="571500"/>
            <a:ext cx="28194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AI CODING AGENT · TOKEN ECONOMY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962F3B6-B14A-4363-B0A7-D1F5694153D7}"/>
              </a:ext>
            </a:extLst>
          </p:cNvPr>
          <p:cNvSpPr>
            <a:spLocks noGrp="1"/>
          </p:cNvSpPr>
          <p:nvPr/>
        </p:nvSpPr>
        <p:spPr>
          <a:xfrm>
            <a:off x="533400" y="1200150"/>
            <a:ext cx="6572250" cy="1524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90000"/>
              </a:lnSpc>
              <a:buNone/>
              <a:defRPr sz="3900" b="1">
                <a:solidFill>
                  <a:srgbClr val="101827"/>
                </a:solidFill>
              </a:defRPr>
            </a:pPr>
            <a:r>
              <a:rPr sz="3900" b="1" dirty="0" err="1">
                <a:solidFill>
                  <a:srgbClr val="101827"/>
                </a:solidFill>
              </a:rPr>
              <a:t>Tiết</a:t>
            </a:r>
            <a:r>
              <a:rPr sz="3900" b="1" dirty="0">
                <a:solidFill>
                  <a:srgbClr val="101827"/>
                </a:solidFill>
              </a:rPr>
              <a:t> </a:t>
            </a:r>
            <a:r>
              <a:rPr sz="3900" b="1" dirty="0" err="1">
                <a:solidFill>
                  <a:srgbClr val="101827"/>
                </a:solidFill>
              </a:rPr>
              <a:t>kiệm</a:t>
            </a:r>
            <a:r>
              <a:rPr sz="3900" b="1" dirty="0">
                <a:solidFill>
                  <a:srgbClr val="101827"/>
                </a:solidFill>
              </a:rPr>
              <a:t> token</a:t>
            </a:r>
          </a:p>
          <a:p>
            <a:pPr algn="l">
              <a:lnSpc>
                <a:spcPct val="90000"/>
              </a:lnSpc>
              <a:buNone/>
              <a:defRPr sz="3900" b="1">
                <a:solidFill>
                  <a:srgbClr val="101827"/>
                </a:solidFill>
              </a:defRPr>
            </a:pPr>
            <a:r>
              <a:rPr sz="3900" b="1" dirty="0" err="1">
                <a:solidFill>
                  <a:srgbClr val="101827"/>
                </a:solidFill>
              </a:rPr>
              <a:t>cho</a:t>
            </a:r>
            <a:r>
              <a:rPr sz="3900" b="1" dirty="0">
                <a:solidFill>
                  <a:srgbClr val="101827"/>
                </a:solidFill>
              </a:rPr>
              <a:t> AI coding agent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4F0A739-B566-448A-8D9D-E22CB393667A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6000750" cy="590550"/>
          </a:xfrm>
          <a:prstGeom prst="rect">
            <a:avLst/>
          </a:prstGeom>
        </p:spPr>
        <p:txBody>
          <a:bodyPr anchor="ctr">
            <a:normAutofit fontScale="98472" lnSpcReduction="10000"/>
          </a:bodyPr>
          <a:lstStyle/>
          <a:p>
            <a:pPr algn="l">
              <a:lnSpc>
                <a:spcPct val="100000"/>
              </a:lnSpc>
              <a:buNone/>
              <a:defRPr sz="1800" b="0">
                <a:solidFill>
                  <a:srgbClr val="334155"/>
                </a:solidFill>
              </a:defRPr>
            </a:pPr>
            <a:r>
              <a:rPr sz="1800" b="0" dirty="0">
                <a:solidFill>
                  <a:srgbClr val="334155"/>
                </a:solidFill>
              </a:rPr>
              <a:t>Token </a:t>
            </a:r>
            <a:r>
              <a:rPr lang="en-US" sz="1800" b="0" dirty="0" err="1">
                <a:solidFill>
                  <a:srgbClr val="334155"/>
                </a:solidFill>
              </a:rPr>
              <a:t>bị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tiêu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tốn</a:t>
            </a:r>
            <a:r>
              <a:rPr lang="en-US" sz="1800" b="0" dirty="0">
                <a:solidFill>
                  <a:srgbClr val="334155"/>
                </a:solidFill>
              </a:rPr>
              <a:t> ở </a:t>
            </a:r>
            <a:r>
              <a:rPr lang="en-US" sz="1800" b="0" dirty="0" err="1">
                <a:solidFill>
                  <a:srgbClr val="334155"/>
                </a:solidFill>
              </a:rPr>
              <a:t>đâu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sz="1800" b="0" dirty="0" err="1">
                <a:solidFill>
                  <a:srgbClr val="334155"/>
                </a:solidFill>
              </a:rPr>
              <a:t>trong</a:t>
            </a:r>
            <a:r>
              <a:rPr sz="1800" b="0" dirty="0">
                <a:solidFill>
                  <a:srgbClr val="334155"/>
                </a:solidFill>
              </a:rPr>
              <a:t> </a:t>
            </a:r>
            <a:r>
              <a:rPr sz="1800" b="0" dirty="0" err="1">
                <a:solidFill>
                  <a:srgbClr val="334155"/>
                </a:solidFill>
              </a:rPr>
              <a:t>một</a:t>
            </a:r>
            <a:r>
              <a:rPr sz="1800" b="0" dirty="0">
                <a:solidFill>
                  <a:srgbClr val="334155"/>
                </a:solidFill>
              </a:rPr>
              <a:t> </a:t>
            </a:r>
            <a:r>
              <a:rPr sz="1800" b="0" dirty="0" err="1">
                <a:solidFill>
                  <a:srgbClr val="334155"/>
                </a:solidFill>
              </a:rPr>
              <a:t>phiên</a:t>
            </a:r>
            <a:r>
              <a:rPr sz="1800" b="0" dirty="0">
                <a:solidFill>
                  <a:srgbClr val="334155"/>
                </a:solidFill>
              </a:rPr>
              <a:t> — và </a:t>
            </a:r>
            <a:r>
              <a:rPr sz="1800" b="0" dirty="0" err="1">
                <a:solidFill>
                  <a:srgbClr val="334155"/>
                </a:solidFill>
              </a:rPr>
              <a:t>chúng</a:t>
            </a:r>
            <a:r>
              <a:rPr sz="1800" b="0" dirty="0">
                <a:solidFill>
                  <a:srgbClr val="334155"/>
                </a:solidFill>
              </a:rPr>
              <a:t> ta </a:t>
            </a:r>
            <a:r>
              <a:rPr lang="en-US" sz="1800" b="0" dirty="0" err="1">
                <a:solidFill>
                  <a:srgbClr val="334155"/>
                </a:solidFill>
              </a:rPr>
              <a:t>tiết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kiệm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nó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như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thế</a:t>
            </a:r>
            <a:r>
              <a:rPr lang="en-US" sz="1800" b="0" dirty="0">
                <a:solidFill>
                  <a:srgbClr val="334155"/>
                </a:solidFill>
              </a:rPr>
              <a:t> </a:t>
            </a:r>
            <a:r>
              <a:rPr lang="en-US" sz="1800" b="0" dirty="0" err="1">
                <a:solidFill>
                  <a:srgbClr val="334155"/>
                </a:solidFill>
              </a:rPr>
              <a:t>nào</a:t>
            </a:r>
            <a:endParaRPr sz="1800" b="0" dirty="0">
              <a:solidFill>
                <a:srgbClr val="334155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5E36099-D027-4091-8305-6CED5995D335}"/>
              </a:ext>
            </a:extLst>
          </p:cNvPr>
          <p:cNvSpPr>
            <a:spLocks noGrp="1"/>
          </p:cNvSpPr>
          <p:nvPr/>
        </p:nvSpPr>
        <p:spPr>
          <a:xfrm>
            <a:off x="8534400" y="2076450"/>
            <a:ext cx="1028700" cy="10287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F5FD302-5496-47A0-8FA2-0069E5A96880}"/>
              </a:ext>
            </a:extLst>
          </p:cNvPr>
          <p:cNvSpPr>
            <a:spLocks noGrp="1"/>
          </p:cNvSpPr>
          <p:nvPr/>
        </p:nvSpPr>
        <p:spPr>
          <a:xfrm>
            <a:off x="8686800" y="2400300"/>
            <a:ext cx="723900" cy="285750"/>
          </a:xfrm>
          <a:prstGeom prst="rect">
            <a:avLst/>
          </a:prstGeom>
        </p:spPr>
        <p:txBody>
          <a:bodyPr anchor="ctr">
            <a:normAutofit fontScale="94444" lnSpcReduction="10000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USER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699BFEC-EB05-49A6-AF32-CA0508F3970F}"/>
              </a:ext>
            </a:extLst>
          </p:cNvPr>
          <p:cNvSpPr>
            <a:spLocks noGrp="1"/>
          </p:cNvSpPr>
          <p:nvPr/>
        </p:nvSpPr>
        <p:spPr>
          <a:xfrm>
            <a:off x="10001250" y="1924050"/>
            <a:ext cx="1428750" cy="1333500"/>
          </a:xfrm>
          <a:prstGeom prst="roundRect">
            <a:avLst>
              <a:gd name="adj" fmla="val 5714"/>
            </a:avLst>
          </a:prstGeom>
          <a:solidFill>
            <a:srgbClr val="EEE9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5D4CEC-E65D-4261-A3CF-6305CF79EC81}"/>
              </a:ext>
            </a:extLst>
          </p:cNvPr>
          <p:cNvSpPr>
            <a:spLocks noGrp="1"/>
          </p:cNvSpPr>
          <p:nvPr/>
        </p:nvSpPr>
        <p:spPr>
          <a:xfrm>
            <a:off x="10229850" y="2390775"/>
            <a:ext cx="9715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246B5"/>
                </a:solidFill>
              </a:defRPr>
            </a:pPr>
            <a:r>
              <a:rPr sz="1500" b="1">
                <a:solidFill>
                  <a:srgbClr val="6246B5"/>
                </a:solidFill>
              </a:rPr>
              <a:t>AGENT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AB2D2E5-E576-4DA3-BFA5-322784129114}"/>
              </a:ext>
            </a:extLst>
          </p:cNvPr>
          <p:cNvSpPr>
            <a:spLocks noGrp="1"/>
          </p:cNvSpPr>
          <p:nvPr/>
        </p:nvSpPr>
        <p:spPr>
          <a:xfrm>
            <a:off x="9620250" y="4343400"/>
            <a:ext cx="1619250" cy="876300"/>
          </a:xfrm>
          <a:prstGeom prst="roundRect">
            <a:avLst>
              <a:gd name="adj" fmla="val 8696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D396431-5223-47E9-B6A1-1B9EF32897AD}"/>
              </a:ext>
            </a:extLst>
          </p:cNvPr>
          <p:cNvSpPr>
            <a:spLocks noGrp="1"/>
          </p:cNvSpPr>
          <p:nvPr/>
        </p:nvSpPr>
        <p:spPr>
          <a:xfrm>
            <a:off x="9944100" y="4600575"/>
            <a:ext cx="9715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500" b="1">
                <a:solidFill>
                  <a:srgbClr val="0E9AA7"/>
                </a:solidFill>
              </a:rPr>
              <a:t>TOOL</a:t>
            </a:r>
          </a:p>
        </p:txBody>
      </p:sp>
      <p:sp>
        <p:nvSpPr>
          <p:cNvPr id="52" name="Straight Connector 51">
            <a:extLst>
              <a:ext uri="{FF2B5EF4-FFF2-40B4-BE49-F238E27FC236}">
                <a16:creationId xmlns:a16="http://schemas.microsoft.com/office/drawing/2014/main" id="{261DD513-15B8-428D-9992-817A06570535}"/>
              </a:ext>
            </a:extLst>
          </p:cNvPr>
          <p:cNvSpPr>
            <a:spLocks noGrp="1"/>
          </p:cNvSpPr>
          <p:nvPr/>
        </p:nvSpPr>
        <p:spPr>
          <a:xfrm>
            <a:off x="9563100" y="2590800"/>
            <a:ext cx="419100" cy="953"/>
          </a:xfrm>
          <a:prstGeom prst="line">
            <a:avLst/>
          </a:prstGeom>
          <a:ln w="38100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B18777B6-4C29-460A-A295-B6CE29119404}"/>
              </a:ext>
            </a:extLst>
          </p:cNvPr>
          <p:cNvSpPr>
            <a:spLocks noGrp="1"/>
          </p:cNvSpPr>
          <p:nvPr/>
        </p:nvSpPr>
        <p:spPr>
          <a:xfrm>
            <a:off x="10706100" y="3276600"/>
            <a:ext cx="953" cy="1028700"/>
          </a:xfrm>
          <a:prstGeom prst="line">
            <a:avLst/>
          </a:prstGeom>
          <a:ln w="3810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" name="Straight Connector 53">
            <a:extLst>
              <a:ext uri="{FF2B5EF4-FFF2-40B4-BE49-F238E27FC236}">
                <a16:creationId xmlns:a16="http://schemas.microsoft.com/office/drawing/2014/main" id="{54A72103-18AC-4439-8F97-13A719FE9F24}"/>
              </a:ext>
            </a:extLst>
          </p:cNvPr>
          <p:cNvSpPr>
            <a:spLocks noGrp="1"/>
          </p:cNvSpPr>
          <p:nvPr/>
        </p:nvSpPr>
        <p:spPr>
          <a:xfrm>
            <a:off x="9067800" y="3105150"/>
            <a:ext cx="533399" cy="1657349"/>
          </a:xfrm>
          <a:prstGeom prst="line">
            <a:avLst/>
          </a:prstGeom>
          <a:ln w="3810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627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AFE05C93-1E2D-4755-AB8A-329F5FCF9F0D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VẤN ĐỀ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57A075-D6D7-429A-8E61-3EF915AD6D7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75" b="1">
                <a:solidFill>
                  <a:srgbClr val="101827"/>
                </a:solidFill>
              </a:rPr>
              <a:t>Một yêu cầu ngắn không đồng nghĩa với việc tiêu tốn ít token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AC1EF6F0-B0F4-4192-9243-87CBF7B365A0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B63172-0EFA-4376-A9BB-D696D95F43F4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42A49E-1FA7-4C29-9122-5ECE81363D26}"/>
              </a:ext>
            </a:extLst>
          </p:cNvPr>
          <p:cNvSpPr>
            <a:spLocks noGrp="1"/>
          </p:cNvSpPr>
          <p:nvPr/>
        </p:nvSpPr>
        <p:spPr>
          <a:xfrm>
            <a:off x="495300" y="1295400"/>
            <a:ext cx="1120140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FF47E6-81C2-4601-9226-A4DA8F3B9EEA}"/>
              </a:ext>
            </a:extLst>
          </p:cNvPr>
          <p:cNvSpPr>
            <a:spLocks noGrp="1"/>
          </p:cNvSpPr>
          <p:nvPr/>
        </p:nvSpPr>
        <p:spPr>
          <a:xfrm>
            <a:off x="723900" y="1419225"/>
            <a:ext cx="107442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75" b="1">
                <a:solidFill>
                  <a:srgbClr val="101827"/>
                </a:solidFill>
              </a:defRPr>
            </a:pPr>
            <a:r>
              <a:rPr sz="1875" b="1">
                <a:solidFill>
                  <a:srgbClr val="101827"/>
                </a:solidFill>
              </a:rPr>
              <a:t>“Thêm trường preferredLanguage vào hồ sơ người dùng.”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E546ACCE-93E3-4664-BFB2-54D7C9162928}"/>
              </a:ext>
            </a:extLst>
          </p:cNvPr>
          <p:cNvSpPr>
            <a:spLocks noGrp="1"/>
          </p:cNvSpPr>
          <p:nvPr/>
        </p:nvSpPr>
        <p:spPr>
          <a:xfrm>
            <a:off x="171450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5A2ACF-42A5-455B-829B-4C73C46F1625}"/>
              </a:ext>
            </a:extLst>
          </p:cNvPr>
          <p:cNvSpPr>
            <a:spLocks noGrp="1"/>
          </p:cNvSpPr>
          <p:nvPr/>
        </p:nvSpPr>
        <p:spPr>
          <a:xfrm>
            <a:off x="666750" y="2514600"/>
            <a:ext cx="952500" cy="9525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BDF895-C500-4E20-8A3F-60B550A81F5E}"/>
              </a:ext>
            </a:extLst>
          </p:cNvPr>
          <p:cNvSpPr>
            <a:spLocks noGrp="1"/>
          </p:cNvSpPr>
          <p:nvPr/>
        </p:nvSpPr>
        <p:spPr>
          <a:xfrm>
            <a:off x="752475" y="2686050"/>
            <a:ext cx="781050" cy="590550"/>
          </a:xfrm>
          <a:prstGeom prst="rect">
            <a:avLst/>
          </a:prstGeom>
        </p:spPr>
        <p:txBody>
          <a:bodyPr anchor="ctr">
            <a:normAutofit fontScale="90972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Tìm model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&amp; API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04907F0-BDA4-47E7-9AF2-DEC67DE4C5F1}"/>
              </a:ext>
            </a:extLst>
          </p:cNvPr>
          <p:cNvSpPr>
            <a:spLocks noGrp="1"/>
          </p:cNvSpPr>
          <p:nvPr/>
        </p:nvSpPr>
        <p:spPr>
          <a:xfrm>
            <a:off x="360045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7243988-5E4A-4D18-A805-E6A01AA1EF10}"/>
              </a:ext>
            </a:extLst>
          </p:cNvPr>
          <p:cNvSpPr>
            <a:spLocks noGrp="1"/>
          </p:cNvSpPr>
          <p:nvPr/>
        </p:nvSpPr>
        <p:spPr>
          <a:xfrm>
            <a:off x="2552700" y="2514600"/>
            <a:ext cx="952500" cy="9525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FEEA47-DC4A-4E24-A67C-1A97A64F7AC3}"/>
              </a:ext>
            </a:extLst>
          </p:cNvPr>
          <p:cNvSpPr>
            <a:spLocks noGrp="1"/>
          </p:cNvSpPr>
          <p:nvPr/>
        </p:nvSpPr>
        <p:spPr>
          <a:xfrm>
            <a:off x="2638425" y="2686050"/>
            <a:ext cx="781050" cy="590550"/>
          </a:xfrm>
          <a:prstGeom prst="rect">
            <a:avLst/>
          </a:prstGeom>
        </p:spPr>
        <p:txBody>
          <a:bodyPr anchor="ctr">
            <a:normAutofit fontScale="98472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 dirty="0" err="1">
                <a:solidFill>
                  <a:srgbClr val="2563EB"/>
                </a:solidFill>
              </a:rPr>
              <a:t>Đọc</a:t>
            </a:r>
            <a:r>
              <a:rPr sz="1200" b="1" dirty="0">
                <a:solidFill>
                  <a:srgbClr val="2563EB"/>
                </a:solidFill>
              </a:rPr>
              <a:t> file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 dirty="0" err="1">
                <a:solidFill>
                  <a:srgbClr val="2563EB"/>
                </a:solidFill>
              </a:rPr>
              <a:t>phụ</a:t>
            </a:r>
            <a:r>
              <a:rPr sz="1200" b="1" dirty="0">
                <a:solidFill>
                  <a:srgbClr val="2563EB"/>
                </a:solidFill>
              </a:rPr>
              <a:t> </a:t>
            </a:r>
            <a:r>
              <a:rPr sz="1200" b="1" dirty="0" err="1">
                <a:solidFill>
                  <a:srgbClr val="2563EB"/>
                </a:solidFill>
              </a:rPr>
              <a:t>thuộc</a:t>
            </a:r>
            <a:endParaRPr sz="1200" b="1" dirty="0">
              <a:solidFill>
                <a:srgbClr val="2563EB"/>
              </a:solidFill>
            </a:endParaRP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1CFEC0B-BD30-4439-B8D3-4C77D5A3E112}"/>
              </a:ext>
            </a:extLst>
          </p:cNvPr>
          <p:cNvSpPr>
            <a:spLocks noGrp="1"/>
          </p:cNvSpPr>
          <p:nvPr/>
        </p:nvSpPr>
        <p:spPr>
          <a:xfrm>
            <a:off x="548640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E62144-A00B-4874-BC0D-75C06AC1FC42}"/>
              </a:ext>
            </a:extLst>
          </p:cNvPr>
          <p:cNvSpPr>
            <a:spLocks noGrp="1"/>
          </p:cNvSpPr>
          <p:nvPr/>
        </p:nvSpPr>
        <p:spPr>
          <a:xfrm>
            <a:off x="4438650" y="2514600"/>
            <a:ext cx="952500" cy="9525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BD81EE-6D86-4FFB-9074-F717B5B9F633}"/>
              </a:ext>
            </a:extLst>
          </p:cNvPr>
          <p:cNvSpPr>
            <a:spLocks noGrp="1"/>
          </p:cNvSpPr>
          <p:nvPr/>
        </p:nvSpPr>
        <p:spPr>
          <a:xfrm>
            <a:off x="4524375" y="2686050"/>
            <a:ext cx="781050" cy="5905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6246B5"/>
                </a:solidFill>
              </a:rPr>
              <a:t>Sửa code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2BB3A7-B449-431E-B72A-45ABEB731413}"/>
              </a:ext>
            </a:extLst>
          </p:cNvPr>
          <p:cNvSpPr>
            <a:spLocks noGrp="1"/>
          </p:cNvSpPr>
          <p:nvPr/>
        </p:nvSpPr>
        <p:spPr>
          <a:xfrm>
            <a:off x="5448300" y="3238500"/>
            <a:ext cx="571500" cy="247650"/>
          </a:xfrm>
          <a:prstGeom prst="rect">
            <a:avLst/>
          </a:prstGeom>
        </p:spPr>
        <p:txBody>
          <a:bodyPr anchor="ctr">
            <a:normAutofit fontScale="92917" lnSpcReduction="1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endParaRPr sz="1200" b="1" dirty="0">
              <a:solidFill>
                <a:srgbClr val="6246B5"/>
              </a:solidFill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1308B8B-AC12-4FB4-A4C9-0A23EE295FDF}"/>
              </a:ext>
            </a:extLst>
          </p:cNvPr>
          <p:cNvSpPr>
            <a:spLocks noGrp="1"/>
          </p:cNvSpPr>
          <p:nvPr/>
        </p:nvSpPr>
        <p:spPr>
          <a:xfrm>
            <a:off x="737235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2AD5767-CFFF-47FA-8828-43755D7253D6}"/>
              </a:ext>
            </a:extLst>
          </p:cNvPr>
          <p:cNvSpPr>
            <a:spLocks noGrp="1"/>
          </p:cNvSpPr>
          <p:nvPr/>
        </p:nvSpPr>
        <p:spPr>
          <a:xfrm>
            <a:off x="6324600" y="2514600"/>
            <a:ext cx="952500" cy="952500"/>
          </a:xfrm>
          <a:prstGeom prst="ellipse">
            <a:avLst/>
          </a:prstGeom>
          <a:solidFill>
            <a:srgbClr val="FFF2D8"/>
          </a:solidFill>
          <a:ln w="1905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81EA5A-7E7A-476D-9BB7-3B364C728224}"/>
              </a:ext>
            </a:extLst>
          </p:cNvPr>
          <p:cNvSpPr>
            <a:spLocks noGrp="1"/>
          </p:cNvSpPr>
          <p:nvPr/>
        </p:nvSpPr>
        <p:spPr>
          <a:xfrm>
            <a:off x="6410325" y="2686050"/>
            <a:ext cx="781050" cy="590550"/>
          </a:xfrm>
          <a:prstGeom prst="rect">
            <a:avLst/>
          </a:prstGeom>
        </p:spPr>
        <p:txBody>
          <a:bodyPr anchor="ctr">
            <a:normAutofit fontScale="98472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 dirty="0" err="1">
                <a:solidFill>
                  <a:srgbClr val="D97706"/>
                </a:solidFill>
              </a:rPr>
              <a:t>Chạy</a:t>
            </a:r>
            <a:r>
              <a:rPr sz="1200" b="1" dirty="0">
                <a:solidFill>
                  <a:srgbClr val="D97706"/>
                </a:solidFill>
              </a:rPr>
              <a:t> test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 dirty="0">
                <a:solidFill>
                  <a:srgbClr val="D97706"/>
                </a:solidFill>
              </a:rPr>
              <a:t>+ log</a:t>
            </a: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78F1953B-7A6E-4CC8-ABC9-2899D337716B}"/>
              </a:ext>
            </a:extLst>
          </p:cNvPr>
          <p:cNvSpPr>
            <a:spLocks noGrp="1"/>
          </p:cNvSpPr>
          <p:nvPr/>
        </p:nvSpPr>
        <p:spPr>
          <a:xfrm>
            <a:off x="9258300" y="2990850"/>
            <a:ext cx="742950" cy="953"/>
          </a:xfrm>
          <a:prstGeom prst="line">
            <a:avLst/>
          </a:prstGeom>
          <a:ln w="2857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C0847BB-4F92-4527-B419-2B3AF683E92A}"/>
              </a:ext>
            </a:extLst>
          </p:cNvPr>
          <p:cNvSpPr>
            <a:spLocks noGrp="1"/>
          </p:cNvSpPr>
          <p:nvPr/>
        </p:nvSpPr>
        <p:spPr>
          <a:xfrm>
            <a:off x="8210550" y="2514600"/>
            <a:ext cx="952500" cy="952500"/>
          </a:xfrm>
          <a:prstGeom prst="ellipse">
            <a:avLst/>
          </a:prstGeom>
          <a:solidFill>
            <a:srgbClr val="FFF2D8"/>
          </a:solidFill>
          <a:ln w="19050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E998E8-AA76-4EA6-8B61-5B04C320BFAA}"/>
              </a:ext>
            </a:extLst>
          </p:cNvPr>
          <p:cNvSpPr>
            <a:spLocks noGrp="1"/>
          </p:cNvSpPr>
          <p:nvPr/>
        </p:nvSpPr>
        <p:spPr>
          <a:xfrm>
            <a:off x="8296275" y="2686050"/>
            <a:ext cx="781050" cy="5905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C43C4E"/>
                </a:solidFill>
              </a:defRPr>
            </a:pPr>
            <a:r>
              <a:rPr sz="1200" b="1" dirty="0">
                <a:solidFill>
                  <a:srgbClr val="C43C4E"/>
                </a:solidFill>
              </a:rPr>
              <a:t>Sửa lại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BF56CD0-7854-4FFA-96C2-F2AAF09C7FA2}"/>
              </a:ext>
            </a:extLst>
          </p:cNvPr>
          <p:cNvSpPr>
            <a:spLocks noGrp="1"/>
          </p:cNvSpPr>
          <p:nvPr/>
        </p:nvSpPr>
        <p:spPr>
          <a:xfrm>
            <a:off x="10096500" y="2514600"/>
            <a:ext cx="952500" cy="952500"/>
          </a:xfrm>
          <a:prstGeom prst="ellipse">
            <a:avLst/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3A55917-81A7-4940-AD68-FAD2CE6463FB}"/>
              </a:ext>
            </a:extLst>
          </p:cNvPr>
          <p:cNvSpPr>
            <a:spLocks noGrp="1"/>
          </p:cNvSpPr>
          <p:nvPr/>
        </p:nvSpPr>
        <p:spPr>
          <a:xfrm>
            <a:off x="10182225" y="2686050"/>
            <a:ext cx="781050" cy="5905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Trả </a:t>
            </a:r>
            <a:r>
              <a:rPr sz="1200" b="1" dirty="0" err="1">
                <a:solidFill>
                  <a:srgbClr val="0E9AA7"/>
                </a:solidFill>
              </a:rPr>
              <a:t>kết</a:t>
            </a:r>
            <a:r>
              <a:rPr sz="1200" b="1" dirty="0">
                <a:solidFill>
                  <a:srgbClr val="0E9AA7"/>
                </a:solidFill>
              </a:rPr>
              <a:t> </a:t>
            </a:r>
            <a:r>
              <a:rPr sz="1200" b="1" dirty="0" err="1">
                <a:solidFill>
                  <a:srgbClr val="0E9AA7"/>
                </a:solidFill>
              </a:rPr>
              <a:t>quả</a:t>
            </a:r>
            <a:endParaRPr sz="1200" b="1" dirty="0">
              <a:solidFill>
                <a:srgbClr val="0E9AA7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0CCE8F6-E651-479A-A7DF-C7302011AC4E}"/>
              </a:ext>
            </a:extLst>
          </p:cNvPr>
          <p:cNvSpPr>
            <a:spLocks noGrp="1"/>
          </p:cNvSpPr>
          <p:nvPr/>
        </p:nvSpPr>
        <p:spPr>
          <a:xfrm>
            <a:off x="495300" y="4476750"/>
            <a:ext cx="5143500" cy="1066800"/>
          </a:xfrm>
          <a:prstGeom prst="roundRect">
            <a:avLst>
              <a:gd name="adj" fmla="val 7143"/>
            </a:avLst>
          </a:prstGeom>
          <a:solidFill>
            <a:srgbClr val="E9F1FF"/>
          </a:solidFill>
          <a:ln w="14288">
            <a:solidFill>
              <a:srgbClr val="A9C4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E842C3-69D1-4C59-9A8D-46C09A7772DB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46863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DEVELOPER NHÌN THẤY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09CADC-DBF8-45CB-92A5-B0F3694D1410}"/>
              </a:ext>
            </a:extLst>
          </p:cNvPr>
          <p:cNvSpPr>
            <a:spLocks noGrp="1"/>
          </p:cNvSpPr>
          <p:nvPr/>
        </p:nvSpPr>
        <p:spPr>
          <a:xfrm>
            <a:off x="723900" y="4953000"/>
            <a:ext cx="4686300" cy="361950"/>
          </a:xfrm>
          <a:prstGeom prst="rect">
            <a:avLst/>
          </a:prstGeom>
        </p:spPr>
        <p:txBody>
          <a:bodyPr anchor="ctr">
            <a:normAutofit fontScale="98611" lnSpcReduction="1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1827"/>
                </a:solidFill>
              </a:defRPr>
            </a:pPr>
            <a:r>
              <a:rPr sz="1800" b="1" dirty="0">
                <a:solidFill>
                  <a:srgbClr val="101827"/>
                </a:solidFill>
              </a:rPr>
              <a:t>1 </a:t>
            </a:r>
            <a:r>
              <a:rPr sz="1800" b="1" dirty="0" err="1">
                <a:solidFill>
                  <a:srgbClr val="101827"/>
                </a:solidFill>
              </a:rPr>
              <a:t>yêu</a:t>
            </a:r>
            <a:r>
              <a:rPr sz="1800" b="1" dirty="0">
                <a:solidFill>
                  <a:srgbClr val="101827"/>
                </a:solidFill>
              </a:rPr>
              <a:t> </a:t>
            </a:r>
            <a:r>
              <a:rPr sz="1800" b="1" dirty="0" err="1">
                <a:solidFill>
                  <a:srgbClr val="101827"/>
                </a:solidFill>
              </a:rPr>
              <a:t>cầu</a:t>
            </a:r>
            <a:r>
              <a:rPr sz="1800" b="1" dirty="0">
                <a:solidFill>
                  <a:srgbClr val="101827"/>
                </a:solidFill>
              </a:rPr>
              <a:t>  →  1 </a:t>
            </a:r>
            <a:r>
              <a:rPr sz="1800" b="1" dirty="0" err="1">
                <a:solidFill>
                  <a:srgbClr val="101827"/>
                </a:solidFill>
              </a:rPr>
              <a:t>câu</a:t>
            </a:r>
            <a:r>
              <a:rPr sz="1800" b="1" dirty="0">
                <a:solidFill>
                  <a:srgbClr val="101827"/>
                </a:solidFill>
              </a:rPr>
              <a:t> </a:t>
            </a:r>
            <a:r>
              <a:rPr sz="1800" b="1" dirty="0" err="1">
                <a:solidFill>
                  <a:srgbClr val="101827"/>
                </a:solidFill>
              </a:rPr>
              <a:t>trả</a:t>
            </a:r>
            <a:r>
              <a:rPr sz="1800" b="1" dirty="0">
                <a:solidFill>
                  <a:srgbClr val="101827"/>
                </a:solidFill>
              </a:rPr>
              <a:t> </a:t>
            </a:r>
            <a:r>
              <a:rPr sz="1800" b="1" dirty="0" err="1">
                <a:solidFill>
                  <a:srgbClr val="101827"/>
                </a:solidFill>
              </a:rPr>
              <a:t>lời</a:t>
            </a:r>
            <a:endParaRPr sz="1800" b="1" dirty="0">
              <a:solidFill>
                <a:srgbClr val="101827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8B52719-5838-42B2-BD1A-5230C9236D50}"/>
              </a:ext>
            </a:extLst>
          </p:cNvPr>
          <p:cNvSpPr>
            <a:spLocks noGrp="1"/>
          </p:cNvSpPr>
          <p:nvPr/>
        </p:nvSpPr>
        <p:spPr>
          <a:xfrm>
            <a:off x="6057900" y="4476750"/>
            <a:ext cx="5638800" cy="1066800"/>
          </a:xfrm>
          <a:prstGeom prst="roundRect">
            <a:avLst>
              <a:gd name="adj" fmla="val 7143"/>
            </a:avLst>
          </a:prstGeom>
          <a:solidFill>
            <a:srgbClr val="EEE9FF"/>
          </a:solidFill>
          <a:ln w="14288">
            <a:solidFill>
              <a:srgbClr val="B8A9E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8E4A581-7A60-4269-8CA3-ED0D871596EE}"/>
              </a:ext>
            </a:extLst>
          </p:cNvPr>
          <p:cNvSpPr>
            <a:spLocks noGrp="1"/>
          </p:cNvSpPr>
          <p:nvPr/>
        </p:nvSpPr>
        <p:spPr>
          <a:xfrm>
            <a:off x="6286500" y="4629150"/>
            <a:ext cx="51816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1050" b="1">
                <a:solidFill>
                  <a:srgbClr val="6246B5"/>
                </a:solidFill>
              </a:rPr>
              <a:t>HỆ THỐNG THỰC HIỆN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EDA499D-125D-40F7-A437-CC475FB9DCC3}"/>
              </a:ext>
            </a:extLst>
          </p:cNvPr>
          <p:cNvSpPr>
            <a:spLocks noGrp="1"/>
          </p:cNvSpPr>
          <p:nvPr/>
        </p:nvSpPr>
        <p:spPr>
          <a:xfrm>
            <a:off x="6286500" y="4953000"/>
            <a:ext cx="5181600" cy="361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01827"/>
                </a:solidFill>
              </a:defRPr>
            </a:pPr>
            <a:r>
              <a:rPr sz="1650" b="1">
                <a:solidFill>
                  <a:srgbClr val="101827"/>
                </a:solidFill>
              </a:rPr>
              <a:t>Nhiều lần gọi model + context tăng dần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A9E1EB4-2F9A-4EE3-A1EF-28BB22840407}"/>
              </a:ext>
            </a:extLst>
          </p:cNvPr>
          <p:cNvSpPr>
            <a:spLocks noGrp="1"/>
          </p:cNvSpPr>
          <p:nvPr/>
        </p:nvSpPr>
        <p:spPr>
          <a:xfrm>
            <a:off x="3619500" y="5753100"/>
            <a:ext cx="49530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91909BA-D117-4BA9-8084-FEF049C198A1}"/>
              </a:ext>
            </a:extLst>
          </p:cNvPr>
          <p:cNvSpPr>
            <a:spLocks noGrp="1"/>
          </p:cNvSpPr>
          <p:nvPr/>
        </p:nvSpPr>
        <p:spPr>
          <a:xfrm>
            <a:off x="3810000" y="5819775"/>
            <a:ext cx="45720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575" b="1">
                <a:solidFill>
                  <a:srgbClr val="6246B5"/>
                </a:solidFill>
              </a:rPr>
              <a:t>1 user message ≠ 1 lần gọi model</a:t>
            </a:r>
          </a:p>
        </p:txBody>
      </p:sp>
      <p:sp>
        <p:nvSpPr>
          <p:cNvPr id="38" name="Straight Connector 37">
            <a:extLst>
              <a:ext uri="{FF2B5EF4-FFF2-40B4-BE49-F238E27FC236}">
                <a16:creationId xmlns:a16="http://schemas.microsoft.com/office/drawing/2014/main" id="{C99717B4-B1AF-493A-9B24-AA7601A94CB0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456BB9-F195-4AAB-BE0F-CB2488145E48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TỪ VẤN ĐỀ ĐẾN ĐƠN VỊ CHI PHÍ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F7C554-9051-4B76-9A84-18BA0CD6B249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 / 20</a:t>
            </a:r>
          </a:p>
        </p:txBody>
      </p:sp>
      <p:sp>
        <p:nvSpPr>
          <p:cNvPr id="42" name="Left Brace 41">
            <a:extLst>
              <a:ext uri="{FF2B5EF4-FFF2-40B4-BE49-F238E27FC236}">
                <a16:creationId xmlns:a16="http://schemas.microsoft.com/office/drawing/2014/main" id="{A8B25FF0-B563-C593-E202-FD7C6735CE09}"/>
              </a:ext>
            </a:extLst>
          </p:cNvPr>
          <p:cNvSpPr/>
          <p:nvPr/>
        </p:nvSpPr>
        <p:spPr>
          <a:xfrm rot="16200000">
            <a:off x="5734049" y="419098"/>
            <a:ext cx="247650" cy="643890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A54357-2011-640F-1BA5-299095438CB4}"/>
              </a:ext>
            </a:extLst>
          </p:cNvPr>
          <p:cNvSpPr txBox="1"/>
          <p:nvPr/>
        </p:nvSpPr>
        <p:spPr>
          <a:xfrm>
            <a:off x="5438072" y="3700489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6246B5"/>
                </a:solidFill>
              </a:rPr>
              <a:t>Gọi</a:t>
            </a:r>
            <a:r>
              <a:rPr lang="en-US" dirty="0"/>
              <a:t> </a:t>
            </a:r>
            <a:r>
              <a:rPr lang="en-US" sz="1200" b="1" dirty="0">
                <a:solidFill>
                  <a:srgbClr val="6246B5"/>
                </a:solidFill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1518764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648D356-FE1A-430C-84C3-99C27A819A1E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TOKEN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32654C-4F9B-4D3E-8081-B784EB9F139B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Model không đọc chữ; model đọc các mảnh token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A4AC7D2-FD1D-40FF-ADFB-50699FEA82A5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344130-8B49-4677-8DA8-5E14C577B1B6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3543B0-FBC3-4F76-9683-26DD4182CB38}"/>
              </a:ext>
            </a:extLst>
          </p:cNvPr>
          <p:cNvSpPr>
            <a:spLocks noGrp="1"/>
          </p:cNvSpPr>
          <p:nvPr/>
        </p:nvSpPr>
        <p:spPr>
          <a:xfrm>
            <a:off x="495300" y="1352550"/>
            <a:ext cx="68580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334155"/>
                </a:solidFill>
              </a:defRPr>
            </a:pPr>
            <a:r>
              <a:rPr sz="1650" b="0" dirty="0">
                <a:solidFill>
                  <a:srgbClr val="334155"/>
                </a:solidFill>
              </a:rPr>
              <a:t>Token là </a:t>
            </a:r>
            <a:r>
              <a:rPr sz="1650" b="0" dirty="0" err="1">
                <a:solidFill>
                  <a:srgbClr val="334155"/>
                </a:solidFill>
              </a:rPr>
              <a:t>một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mảnh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biểu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diễn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văn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bản</a:t>
            </a:r>
            <a:r>
              <a:rPr sz="1650" b="0" dirty="0">
                <a:solidFill>
                  <a:srgbClr val="334155"/>
                </a:solidFill>
              </a:rPr>
              <a:t> </a:t>
            </a:r>
            <a:r>
              <a:rPr sz="1650" b="0" dirty="0" err="1">
                <a:solidFill>
                  <a:srgbClr val="334155"/>
                </a:solidFill>
              </a:rPr>
              <a:t>trong</a:t>
            </a:r>
            <a:r>
              <a:rPr sz="1650" b="0" dirty="0">
                <a:solidFill>
                  <a:srgbClr val="334155"/>
                </a:solidFill>
              </a:rPr>
              <a:t> vocabulary </a:t>
            </a:r>
            <a:r>
              <a:rPr sz="1650" b="0" dirty="0" err="1">
                <a:solidFill>
                  <a:srgbClr val="334155"/>
                </a:solidFill>
              </a:rPr>
              <a:t>của</a:t>
            </a:r>
            <a:r>
              <a:rPr sz="1650" b="0" dirty="0">
                <a:solidFill>
                  <a:srgbClr val="334155"/>
                </a:solidFill>
              </a:rPr>
              <a:t> model.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B7A495-DDCD-4785-A5C0-152EDF6FBB16}"/>
              </a:ext>
            </a:extLst>
          </p:cNvPr>
          <p:cNvSpPr>
            <a:spLocks noGrp="1"/>
          </p:cNvSpPr>
          <p:nvPr/>
        </p:nvSpPr>
        <p:spPr>
          <a:xfrm>
            <a:off x="495300" y="2000249"/>
            <a:ext cx="7239000" cy="2931793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C69F8C-D206-4F38-B37B-630E4CCE6499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19075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CỤM PHỔ BIẾN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BF3DC0-8D19-4282-8392-457966B1A676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095500" cy="704850"/>
          </a:xfrm>
          <a:prstGeom prst="roundRect">
            <a:avLst>
              <a:gd name="adj" fmla="val 10811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F76BC3-3E1B-48D4-9C21-76AD62CF66F1}"/>
              </a:ext>
            </a:extLst>
          </p:cNvPr>
          <p:cNvSpPr>
            <a:spLocks noGrp="1"/>
          </p:cNvSpPr>
          <p:nvPr/>
        </p:nvSpPr>
        <p:spPr>
          <a:xfrm>
            <a:off x="1066800" y="2790825"/>
            <a:ext cx="1714500" cy="381000"/>
          </a:xfrm>
          <a:prstGeom prst="rect">
            <a:avLst/>
          </a:prstGeom>
        </p:spPr>
        <p:txBody>
          <a:bodyPr anchor="ctr">
            <a:normAutofit fontScale="94856" lnSpcReduction="10000"/>
          </a:bodyPr>
          <a:lstStyle/>
          <a:p>
            <a:pPr algn="ctr">
              <a:lnSpc>
                <a:spcPct val="100000"/>
              </a:lnSpc>
              <a:buNone/>
              <a:defRPr sz="2175" b="1">
                <a:solidFill>
                  <a:srgbClr val="0E9AA7"/>
                </a:solidFill>
              </a:defRPr>
            </a:pPr>
            <a:r>
              <a:rPr sz="2175" b="1" dirty="0">
                <a:solidFill>
                  <a:srgbClr val="0E9AA7"/>
                </a:solidFill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D1D-85C9-4075-8BA7-D079144F0A6B}"/>
              </a:ext>
            </a:extLst>
          </p:cNvPr>
          <p:cNvSpPr>
            <a:spLocks noGrp="1"/>
          </p:cNvSpPr>
          <p:nvPr/>
        </p:nvSpPr>
        <p:spPr>
          <a:xfrm>
            <a:off x="3124200" y="2733675"/>
            <a:ext cx="457200" cy="419100"/>
          </a:xfrm>
          <a:prstGeom prst="rect">
            <a:avLst/>
          </a:prstGeom>
        </p:spPr>
        <p:txBody>
          <a:bodyPr anchor="ctr">
            <a:normAutofit fontScale="95556" lnSpcReduction="10000"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64748B"/>
                </a:solidFill>
              </a:defRPr>
            </a:pPr>
            <a:r>
              <a:rPr sz="2250" b="1" dirty="0">
                <a:solidFill>
                  <a:srgbClr val="64748B"/>
                </a:solidFill>
              </a:rPr>
              <a:t>+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739F24-2BCC-4D8A-A213-570C3C71D2EC}"/>
              </a:ext>
            </a:extLst>
          </p:cNvPr>
          <p:cNvSpPr>
            <a:spLocks noGrp="1"/>
          </p:cNvSpPr>
          <p:nvPr/>
        </p:nvSpPr>
        <p:spPr>
          <a:xfrm>
            <a:off x="3733800" y="2647950"/>
            <a:ext cx="2857500" cy="704850"/>
          </a:xfrm>
          <a:prstGeom prst="roundRect">
            <a:avLst>
              <a:gd name="adj" fmla="val 10811"/>
            </a:avLst>
          </a:prstGeom>
          <a:solidFill>
            <a:srgbClr val="EEE9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B6D99E-2F26-428D-B95D-EF74AD44DCF5}"/>
              </a:ext>
            </a:extLst>
          </p:cNvPr>
          <p:cNvSpPr>
            <a:spLocks noGrp="1"/>
          </p:cNvSpPr>
          <p:nvPr/>
        </p:nvSpPr>
        <p:spPr>
          <a:xfrm>
            <a:off x="3924300" y="2790825"/>
            <a:ext cx="2476500" cy="381000"/>
          </a:xfrm>
          <a:prstGeom prst="rect">
            <a:avLst/>
          </a:prstGeom>
        </p:spPr>
        <p:txBody>
          <a:bodyPr anchor="ctr">
            <a:normAutofit fontScale="94856" lnSpcReduction="10000"/>
          </a:bodyPr>
          <a:lstStyle/>
          <a:p>
            <a:pPr algn="ctr">
              <a:lnSpc>
                <a:spcPct val="100000"/>
              </a:lnSpc>
              <a:buNone/>
              <a:defRPr sz="2175" b="1">
                <a:solidFill>
                  <a:srgbClr val="6246B5"/>
                </a:solidFill>
              </a:defRPr>
            </a:pPr>
            <a:r>
              <a:rPr sz="2175" b="1" dirty="0">
                <a:solidFill>
                  <a:srgbClr val="6246B5"/>
                </a:solidFill>
              </a:rPr>
              <a:t>Platform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FC44C-C597-4833-8B19-6FCC789BF856}"/>
              </a:ext>
            </a:extLst>
          </p:cNvPr>
          <p:cNvSpPr>
            <a:spLocks noGrp="1"/>
          </p:cNvSpPr>
          <p:nvPr/>
        </p:nvSpPr>
        <p:spPr>
          <a:xfrm>
            <a:off x="6762750" y="2819400"/>
            <a:ext cx="742950" cy="285750"/>
          </a:xfrm>
          <a:prstGeom prst="rect">
            <a:avLst/>
          </a:prstGeom>
        </p:spPr>
        <p:txBody>
          <a:bodyPr anchor="ctr">
            <a:normAutofit fontScale="79370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2 mảnh lớn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DA11257-7D82-4E24-BD9A-B2506B8B92A3}"/>
              </a:ext>
            </a:extLst>
          </p:cNvPr>
          <p:cNvSpPr>
            <a:spLocks noGrp="1"/>
          </p:cNvSpPr>
          <p:nvPr/>
        </p:nvSpPr>
        <p:spPr>
          <a:xfrm>
            <a:off x="8083081" y="2057400"/>
            <a:ext cx="3619500" cy="287464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F891CB-AD4A-4D0C-961A-ADFCA29AE57C}"/>
              </a:ext>
            </a:extLst>
          </p:cNvPr>
          <p:cNvSpPr>
            <a:spLocks noGrp="1"/>
          </p:cNvSpPr>
          <p:nvPr/>
        </p:nvSpPr>
        <p:spPr>
          <a:xfrm>
            <a:off x="8305800" y="2190750"/>
            <a:ext cx="1905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CHUỖI HIẾM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F901C90-603F-46C3-A29F-21D83867F8C7}"/>
              </a:ext>
            </a:extLst>
          </p:cNvPr>
          <p:cNvSpPr>
            <a:spLocks noGrp="1"/>
          </p:cNvSpPr>
          <p:nvPr/>
        </p:nvSpPr>
        <p:spPr>
          <a:xfrm>
            <a:off x="8305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729F06-7F35-408B-9D1E-D8102FB2961A}"/>
              </a:ext>
            </a:extLst>
          </p:cNvPr>
          <p:cNvSpPr>
            <a:spLocks noGrp="1"/>
          </p:cNvSpPr>
          <p:nvPr/>
        </p:nvSpPr>
        <p:spPr>
          <a:xfrm>
            <a:off x="8343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 dirty="0">
                <a:solidFill>
                  <a:srgbClr val="D97706"/>
                </a:solidFill>
              </a:rPr>
              <a:t>550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B601028-AAA8-4BF5-8C5D-585FB1EAF52B}"/>
              </a:ext>
            </a:extLst>
          </p:cNvPr>
          <p:cNvSpPr>
            <a:spLocks noGrp="1"/>
          </p:cNvSpPr>
          <p:nvPr/>
        </p:nvSpPr>
        <p:spPr>
          <a:xfrm>
            <a:off x="9067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80F99-79E1-4BB0-957B-D19B2482297D}"/>
              </a:ext>
            </a:extLst>
          </p:cNvPr>
          <p:cNvSpPr>
            <a:spLocks noGrp="1"/>
          </p:cNvSpPr>
          <p:nvPr/>
        </p:nvSpPr>
        <p:spPr>
          <a:xfrm>
            <a:off x="9105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e84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F17FB57-A4DA-4D1E-8377-BE1FAD820A38}"/>
              </a:ext>
            </a:extLst>
          </p:cNvPr>
          <p:cNvSpPr>
            <a:spLocks noGrp="1"/>
          </p:cNvSpPr>
          <p:nvPr/>
        </p:nvSpPr>
        <p:spPr>
          <a:xfrm>
            <a:off x="9829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8FACB3-5D78-41EF-9D87-3F7AF119E3E3}"/>
              </a:ext>
            </a:extLst>
          </p:cNvPr>
          <p:cNvSpPr>
            <a:spLocks noGrp="1"/>
          </p:cNvSpPr>
          <p:nvPr/>
        </p:nvSpPr>
        <p:spPr>
          <a:xfrm>
            <a:off x="9867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00-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B6CBBB8-8B9A-4A35-AAA0-8B76599486B1}"/>
              </a:ext>
            </a:extLst>
          </p:cNvPr>
          <p:cNvSpPr>
            <a:spLocks noGrp="1"/>
          </p:cNvSpPr>
          <p:nvPr/>
        </p:nvSpPr>
        <p:spPr>
          <a:xfrm>
            <a:off x="10591800" y="26479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EF65EB-8FB0-415B-9562-A0243388C808}"/>
              </a:ext>
            </a:extLst>
          </p:cNvPr>
          <p:cNvSpPr>
            <a:spLocks noGrp="1"/>
          </p:cNvSpPr>
          <p:nvPr/>
        </p:nvSpPr>
        <p:spPr>
          <a:xfrm>
            <a:off x="10629900" y="26765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e29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79C9F55-C033-441B-BE9B-2E4D0851579B}"/>
              </a:ext>
            </a:extLst>
          </p:cNvPr>
          <p:cNvSpPr>
            <a:spLocks noGrp="1"/>
          </p:cNvSpPr>
          <p:nvPr/>
        </p:nvSpPr>
        <p:spPr>
          <a:xfrm>
            <a:off x="8305800" y="31051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7D1B72-2B65-4C42-BC57-6672260C1CAF}"/>
              </a:ext>
            </a:extLst>
          </p:cNvPr>
          <p:cNvSpPr>
            <a:spLocks noGrp="1"/>
          </p:cNvSpPr>
          <p:nvPr/>
        </p:nvSpPr>
        <p:spPr>
          <a:xfrm>
            <a:off x="8343900" y="31337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b-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AD6239B-568C-439E-92E8-FCE6BB6E13E8}"/>
              </a:ext>
            </a:extLst>
          </p:cNvPr>
          <p:cNvSpPr>
            <a:spLocks noGrp="1"/>
          </p:cNvSpPr>
          <p:nvPr/>
        </p:nvSpPr>
        <p:spPr>
          <a:xfrm>
            <a:off x="9067800" y="31051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55BB45-7C42-4317-BF99-64541404BDC2}"/>
              </a:ext>
            </a:extLst>
          </p:cNvPr>
          <p:cNvSpPr>
            <a:spLocks noGrp="1"/>
          </p:cNvSpPr>
          <p:nvPr/>
        </p:nvSpPr>
        <p:spPr>
          <a:xfrm>
            <a:off x="9105900" y="31337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 dirty="0">
                <a:solidFill>
                  <a:srgbClr val="D97706"/>
                </a:solidFill>
              </a:rPr>
              <a:t>41d4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F35C065-5E07-4844-8B98-BD8E899A9CB2}"/>
              </a:ext>
            </a:extLst>
          </p:cNvPr>
          <p:cNvSpPr>
            <a:spLocks noGrp="1"/>
          </p:cNvSpPr>
          <p:nvPr/>
        </p:nvSpPr>
        <p:spPr>
          <a:xfrm>
            <a:off x="9829800" y="3105150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55CC09-41BF-469C-A8D6-AA7BAA278FF5}"/>
              </a:ext>
            </a:extLst>
          </p:cNvPr>
          <p:cNvSpPr>
            <a:spLocks noGrp="1"/>
          </p:cNvSpPr>
          <p:nvPr/>
        </p:nvSpPr>
        <p:spPr>
          <a:xfrm>
            <a:off x="9867900" y="3133725"/>
            <a:ext cx="5524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D97706"/>
                </a:solidFill>
              </a:defRPr>
            </a:pPr>
            <a:r>
              <a:rPr sz="1125" b="1">
                <a:solidFill>
                  <a:srgbClr val="D97706"/>
                </a:solidFill>
              </a:rPr>
              <a:t>…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C563E9-691C-4E12-A64A-182563E4939F}"/>
              </a:ext>
            </a:extLst>
          </p:cNvPr>
          <p:cNvSpPr>
            <a:spLocks noGrp="1"/>
          </p:cNvSpPr>
          <p:nvPr/>
        </p:nvSpPr>
        <p:spPr>
          <a:xfrm>
            <a:off x="593491" y="5143500"/>
            <a:ext cx="112014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 dirty="0" err="1">
                <a:solidFill>
                  <a:srgbClr val="334155"/>
                </a:solidFill>
              </a:rPr>
              <a:t>Cách</a:t>
            </a:r>
            <a:r>
              <a:rPr sz="1575" b="0" dirty="0">
                <a:solidFill>
                  <a:srgbClr val="334155"/>
                </a:solidFill>
              </a:rPr>
              <a:t> chia </a:t>
            </a:r>
            <a:r>
              <a:rPr sz="1575" b="0" dirty="0" err="1">
                <a:solidFill>
                  <a:srgbClr val="334155"/>
                </a:solidFill>
              </a:rPr>
              <a:t>phụ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thuộc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vào</a:t>
            </a:r>
            <a:r>
              <a:rPr sz="1575" b="0" dirty="0">
                <a:solidFill>
                  <a:srgbClr val="334155"/>
                </a:solidFill>
              </a:rPr>
              <a:t> tokenizer, </a:t>
            </a:r>
            <a:r>
              <a:rPr sz="1575" b="0" dirty="0" err="1">
                <a:solidFill>
                  <a:srgbClr val="334155"/>
                </a:solidFill>
              </a:rPr>
              <a:t>ngôn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ngữ</a:t>
            </a:r>
            <a:r>
              <a:rPr sz="1575" b="0" dirty="0">
                <a:solidFill>
                  <a:srgbClr val="334155"/>
                </a:solidFill>
              </a:rPr>
              <a:t> và </a:t>
            </a:r>
            <a:r>
              <a:rPr sz="1575" b="0" dirty="0" err="1">
                <a:solidFill>
                  <a:srgbClr val="334155"/>
                </a:solidFill>
              </a:rPr>
              <a:t>loại</a:t>
            </a:r>
            <a:r>
              <a:rPr sz="1575" b="0" dirty="0">
                <a:solidFill>
                  <a:srgbClr val="334155"/>
                </a:solidFill>
              </a:rPr>
              <a:t> </a:t>
            </a:r>
            <a:r>
              <a:rPr sz="1575" b="0" dirty="0" err="1">
                <a:solidFill>
                  <a:srgbClr val="334155"/>
                </a:solidFill>
              </a:rPr>
              <a:t>nội</a:t>
            </a:r>
            <a:r>
              <a:rPr sz="1575" b="0" dirty="0">
                <a:solidFill>
                  <a:srgbClr val="334155"/>
                </a:solidFill>
              </a:rPr>
              <a:t> dung.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0890B9E-8C66-450A-B874-0AD1584A2E20}"/>
              </a:ext>
            </a:extLst>
          </p:cNvPr>
          <p:cNvSpPr>
            <a:spLocks noGrp="1"/>
          </p:cNvSpPr>
          <p:nvPr/>
        </p:nvSpPr>
        <p:spPr>
          <a:xfrm>
            <a:off x="2552700" y="5753100"/>
            <a:ext cx="72771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400697-6665-43A2-B371-0CBAF953CED2}"/>
              </a:ext>
            </a:extLst>
          </p:cNvPr>
          <p:cNvSpPr>
            <a:spLocks noGrp="1"/>
          </p:cNvSpPr>
          <p:nvPr/>
        </p:nvSpPr>
        <p:spPr>
          <a:xfrm>
            <a:off x="2743200" y="5819775"/>
            <a:ext cx="68961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6246B5"/>
                </a:solidFill>
              </a:defRPr>
            </a:pPr>
            <a:r>
              <a:rPr sz="1800" b="1" dirty="0" err="1">
                <a:solidFill>
                  <a:srgbClr val="6246B5"/>
                </a:solidFill>
              </a:rPr>
              <a:t>Bạn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trả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tiền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theo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số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lang="en-US" sz="1800" b="1" dirty="0">
                <a:solidFill>
                  <a:srgbClr val="6246B5"/>
                </a:solidFill>
              </a:rPr>
              <a:t>token</a:t>
            </a:r>
            <a:r>
              <a:rPr sz="1800" b="1" dirty="0">
                <a:solidFill>
                  <a:srgbClr val="6246B5"/>
                </a:solidFill>
              </a:rPr>
              <a:t>, </a:t>
            </a:r>
            <a:r>
              <a:rPr sz="1800" b="1" dirty="0" err="1">
                <a:solidFill>
                  <a:srgbClr val="6246B5"/>
                </a:solidFill>
              </a:rPr>
              <a:t>không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phải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số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ký</a:t>
            </a:r>
            <a:r>
              <a:rPr sz="1800" b="1" dirty="0">
                <a:solidFill>
                  <a:srgbClr val="6246B5"/>
                </a:solidFill>
              </a:rPr>
              <a:t> </a:t>
            </a:r>
            <a:r>
              <a:rPr sz="1800" b="1" dirty="0" err="1">
                <a:solidFill>
                  <a:srgbClr val="6246B5"/>
                </a:solidFill>
              </a:rPr>
              <a:t>tự</a:t>
            </a:r>
            <a:r>
              <a:rPr sz="1800" b="1" dirty="0">
                <a:solidFill>
                  <a:srgbClr val="6246B5"/>
                </a:solidFill>
              </a:rPr>
              <a:t>.</a:t>
            </a:r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C641C620-798B-4B95-BCBF-9B2FFE826D27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1DCBA6-695E-4899-BA28-CAB59263876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TOKEN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EEAB4AF-F88E-41DB-9EAE-D71D33167A3C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3 / 20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8899B22-0BFE-1DC8-ABFD-4121877C7FA0}"/>
              </a:ext>
            </a:extLst>
          </p:cNvPr>
          <p:cNvSpPr>
            <a:spLocks noGrp="1"/>
          </p:cNvSpPr>
          <p:nvPr/>
        </p:nvSpPr>
        <p:spPr>
          <a:xfrm>
            <a:off x="876300" y="3689983"/>
            <a:ext cx="2095500" cy="704850"/>
          </a:xfrm>
          <a:prstGeom prst="roundRect">
            <a:avLst>
              <a:gd name="adj" fmla="val 10811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 anchor="ctr"/>
          <a:lstStyle/>
          <a:p>
            <a:pPr algn="ctr"/>
            <a:r>
              <a:rPr lang="en-US" sz="2100" b="1" dirty="0">
                <a:solidFill>
                  <a:srgbClr val="0E9AA7"/>
                </a:solidFill>
              </a:rPr>
              <a:t>Prime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8F06120-A0FE-EBFF-C51B-F29ADC39497F}"/>
              </a:ext>
            </a:extLst>
          </p:cNvPr>
          <p:cNvSpPr>
            <a:spLocks noGrp="1"/>
          </p:cNvSpPr>
          <p:nvPr/>
        </p:nvSpPr>
        <p:spPr>
          <a:xfrm>
            <a:off x="3124200" y="3775708"/>
            <a:ext cx="457200" cy="419100"/>
          </a:xfrm>
          <a:prstGeom prst="rect">
            <a:avLst/>
          </a:prstGeom>
        </p:spPr>
        <p:txBody>
          <a:bodyPr anchor="ctr">
            <a:normAutofit fontScale="95556" lnSpcReduction="10000"/>
          </a:bodyPr>
          <a:lstStyle/>
          <a:p>
            <a:pPr algn="ctr">
              <a:lnSpc>
                <a:spcPct val="100000"/>
              </a:lnSpc>
              <a:buNone/>
              <a:defRPr sz="2250" b="1">
                <a:solidFill>
                  <a:srgbClr val="64748B"/>
                </a:solidFill>
              </a:defRPr>
            </a:pPr>
            <a:r>
              <a:rPr sz="2250" b="1" dirty="0">
                <a:solidFill>
                  <a:srgbClr val="64748B"/>
                </a:solidFill>
              </a:rPr>
              <a:t>+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B8F436D-0EF6-944F-1103-E28312304A3E}"/>
              </a:ext>
            </a:extLst>
          </p:cNvPr>
          <p:cNvSpPr>
            <a:spLocks noGrp="1"/>
          </p:cNvSpPr>
          <p:nvPr/>
        </p:nvSpPr>
        <p:spPr>
          <a:xfrm>
            <a:off x="3733800" y="3689983"/>
            <a:ext cx="2857500" cy="704850"/>
          </a:xfrm>
          <a:prstGeom prst="roundRect">
            <a:avLst>
              <a:gd name="adj" fmla="val 10811"/>
            </a:avLst>
          </a:prstGeom>
          <a:solidFill>
            <a:srgbClr val="EEE9FF"/>
          </a:solidFill>
          <a:ln w="19050">
            <a:solidFill>
              <a:srgbClr val="6246B5"/>
            </a:solidFill>
          </a:ln>
        </p:spPr>
        <p:txBody>
          <a:bodyPr anchor="ctr"/>
          <a:lstStyle/>
          <a:p>
            <a:pPr algn="ctr"/>
            <a:r>
              <a:rPr lang="en-US" sz="2100" b="1" dirty="0">
                <a:solidFill>
                  <a:srgbClr val="6246B5"/>
                </a:solidFill>
              </a:rPr>
              <a:t>Number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F324C3A-CC96-F97A-E6EB-40C6B24868E6}"/>
              </a:ext>
            </a:extLst>
          </p:cNvPr>
          <p:cNvSpPr>
            <a:spLocks noGrp="1"/>
          </p:cNvSpPr>
          <p:nvPr/>
        </p:nvSpPr>
        <p:spPr>
          <a:xfrm>
            <a:off x="6762750" y="3861433"/>
            <a:ext cx="742950" cy="285750"/>
          </a:xfrm>
          <a:prstGeom prst="rect">
            <a:avLst/>
          </a:prstGeom>
        </p:spPr>
        <p:txBody>
          <a:bodyPr anchor="ctr">
            <a:normAutofit fontScale="79370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2 mảnh lớn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304155F6-0B23-92F7-7739-6177903AD16F}"/>
              </a:ext>
            </a:extLst>
          </p:cNvPr>
          <p:cNvSpPr>
            <a:spLocks noGrp="1"/>
          </p:cNvSpPr>
          <p:nvPr/>
        </p:nvSpPr>
        <p:spPr>
          <a:xfrm>
            <a:off x="8305800" y="368045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>
                <a:solidFill>
                  <a:srgbClr val="D97706"/>
                </a:solidFill>
              </a:rPr>
              <a:t>H</a:t>
            </a:r>
            <a:r>
              <a:rPr lang="en-US" dirty="0"/>
              <a:t>	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52D75E1-01EC-39E9-D2B8-64B1A2CACECF}"/>
              </a:ext>
            </a:extLst>
          </p:cNvPr>
          <p:cNvSpPr>
            <a:spLocks noGrp="1"/>
          </p:cNvSpPr>
          <p:nvPr/>
        </p:nvSpPr>
        <p:spPr>
          <a:xfrm>
            <a:off x="9067800" y="366556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 err="1">
                <a:solidFill>
                  <a:srgbClr val="D97706"/>
                </a:solidFill>
              </a:rPr>
              <a:t>àm</a:t>
            </a:r>
            <a:endParaRPr lang="en-US" sz="1100" b="1" dirty="0">
              <a:solidFill>
                <a:srgbClr val="D97706"/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7391C8CB-A4FC-B10D-85FD-FE7DA330E072}"/>
              </a:ext>
            </a:extLst>
          </p:cNvPr>
          <p:cNvSpPr>
            <a:spLocks noGrp="1"/>
          </p:cNvSpPr>
          <p:nvPr/>
        </p:nvSpPr>
        <p:spPr>
          <a:xfrm>
            <a:off x="9829800" y="366140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>
                <a:solidFill>
                  <a:srgbClr val="D97706"/>
                </a:solidFill>
              </a:rPr>
              <a:t>B</a:t>
            </a:r>
            <a:r>
              <a:rPr lang="en-US" dirty="0"/>
              <a:t>	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E7F057B-A1FD-C577-2DBA-A4ABD5C918FE}"/>
              </a:ext>
            </a:extLst>
          </p:cNvPr>
          <p:cNvSpPr>
            <a:spLocks noGrp="1"/>
          </p:cNvSpPr>
          <p:nvPr/>
        </p:nvSpPr>
        <p:spPr>
          <a:xfrm>
            <a:off x="10629900" y="366140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pPr algn="ctr"/>
            <a:r>
              <a:rPr lang="en-US" sz="1100" b="1" dirty="0" err="1">
                <a:solidFill>
                  <a:srgbClr val="D97706"/>
                </a:solidFill>
              </a:rPr>
              <a:t>ăm</a:t>
            </a:r>
            <a:endParaRPr lang="en-US" sz="1100" b="1" dirty="0">
              <a:solidFill>
                <a:srgbClr val="D9770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8959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B8BB1490-FB87-4E88-B5D1-A471C2B28BC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TOKEN DENSITY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FC1BC0-F3EE-4F54-8109-2F6429CE8EA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 dirty="0" err="1">
                <a:solidFill>
                  <a:srgbClr val="101827"/>
                </a:solidFill>
              </a:rPr>
              <a:t>Cùng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lang="en-US" sz="2775" b="1" dirty="0" err="1">
                <a:solidFill>
                  <a:srgbClr val="101827"/>
                </a:solidFill>
              </a:rPr>
              <a:t>số</a:t>
            </a:r>
            <a:r>
              <a:rPr lang="en-US" sz="2775" b="1" dirty="0">
                <a:solidFill>
                  <a:srgbClr val="101827"/>
                </a:solidFill>
              </a:rPr>
              <a:t> </a:t>
            </a:r>
            <a:r>
              <a:rPr lang="en-US" sz="2775" b="1" dirty="0" err="1">
                <a:solidFill>
                  <a:srgbClr val="101827"/>
                </a:solidFill>
              </a:rPr>
              <a:t>lượng</a:t>
            </a:r>
            <a:r>
              <a:rPr lang="en-US" sz="2775" b="1" dirty="0">
                <a:solidFill>
                  <a:srgbClr val="101827"/>
                </a:solidFill>
              </a:rPr>
              <a:t> </a:t>
            </a:r>
            <a:r>
              <a:rPr lang="en-US" sz="2775" b="1" dirty="0" err="1">
                <a:solidFill>
                  <a:srgbClr val="101827"/>
                </a:solidFill>
              </a:rPr>
              <a:t>ký</a:t>
            </a:r>
            <a:r>
              <a:rPr lang="en-US" sz="2775" b="1" dirty="0">
                <a:solidFill>
                  <a:srgbClr val="101827"/>
                </a:solidFill>
              </a:rPr>
              <a:t> </a:t>
            </a:r>
            <a:r>
              <a:rPr lang="en-US" sz="2775" b="1" dirty="0" err="1">
                <a:solidFill>
                  <a:srgbClr val="101827"/>
                </a:solidFill>
              </a:rPr>
              <a:t>tự</a:t>
            </a:r>
            <a:r>
              <a:rPr sz="2775" b="1" dirty="0">
                <a:solidFill>
                  <a:srgbClr val="101827"/>
                </a:solidFill>
              </a:rPr>
              <a:t>, </a:t>
            </a:r>
            <a:r>
              <a:rPr sz="2775" b="1" dirty="0" err="1">
                <a:solidFill>
                  <a:srgbClr val="101827"/>
                </a:solidFill>
              </a:rPr>
              <a:t>lượng</a:t>
            </a:r>
            <a:r>
              <a:rPr sz="2775" b="1" dirty="0">
                <a:solidFill>
                  <a:srgbClr val="101827"/>
                </a:solidFill>
              </a:rPr>
              <a:t> token </a:t>
            </a:r>
            <a:r>
              <a:rPr lang="en-US" sz="2775" b="1" dirty="0" err="1">
                <a:solidFill>
                  <a:srgbClr val="101827"/>
                </a:solidFill>
              </a:rPr>
              <a:t>tiêu</a:t>
            </a:r>
            <a:r>
              <a:rPr lang="en-US" sz="2775" b="1" dirty="0">
                <a:solidFill>
                  <a:srgbClr val="101827"/>
                </a:solidFill>
              </a:rPr>
              <a:t> </a:t>
            </a:r>
            <a:r>
              <a:rPr lang="en-US" sz="2775" b="1" dirty="0" err="1">
                <a:solidFill>
                  <a:srgbClr val="101827"/>
                </a:solidFill>
              </a:rPr>
              <a:t>tốn</a:t>
            </a:r>
            <a:r>
              <a:rPr lang="en-US"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có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thể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lệch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gần</a:t>
            </a:r>
            <a:r>
              <a:rPr sz="2775" b="1" dirty="0">
                <a:solidFill>
                  <a:srgbClr val="101827"/>
                </a:solidFill>
              </a:rPr>
              <a:t> 5 </a:t>
            </a:r>
            <a:r>
              <a:rPr sz="2775" b="1" dirty="0" err="1">
                <a:solidFill>
                  <a:srgbClr val="101827"/>
                </a:solidFill>
              </a:rPr>
              <a:t>lần</a:t>
            </a:r>
            <a:endParaRPr sz="2775" b="1" dirty="0">
              <a:solidFill>
                <a:srgbClr val="101827"/>
              </a:solidFill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7523544-3CBF-4DC5-89E6-F799EF104526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FF5FA-CE8A-4C90-8D3C-DFAEA9FD6AFE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4AA7BA-7E72-46FE-9263-EDC31F3133F3}"/>
              </a:ext>
            </a:extLst>
          </p:cNvPr>
          <p:cNvSpPr>
            <a:spLocks noGrp="1"/>
          </p:cNvSpPr>
          <p:nvPr/>
        </p:nvSpPr>
        <p:spPr>
          <a:xfrm>
            <a:off x="495300" y="1409700"/>
            <a:ext cx="45720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75E4A-CBB3-4FC6-8FCD-B2A9FF59DD78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Loại nội dung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651D58-51FD-4778-91CD-22C991969923}"/>
              </a:ext>
            </a:extLst>
          </p:cNvPr>
          <p:cNvSpPr>
            <a:spLocks noGrp="1"/>
          </p:cNvSpPr>
          <p:nvPr/>
        </p:nvSpPr>
        <p:spPr>
          <a:xfrm>
            <a:off x="5067300" y="1409700"/>
            <a:ext cx="17145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E920DA-7FA7-47A1-84CA-5A8E0B2353E4}"/>
              </a:ext>
            </a:extLst>
          </p:cNvPr>
          <p:cNvSpPr>
            <a:spLocks noGrp="1"/>
          </p:cNvSpPr>
          <p:nvPr/>
        </p:nvSpPr>
        <p:spPr>
          <a:xfrm>
            <a:off x="5181600" y="1457325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Ký tự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41BE1-20DC-45C2-B1EF-DEA8B87D2D30}"/>
              </a:ext>
            </a:extLst>
          </p:cNvPr>
          <p:cNvSpPr>
            <a:spLocks noGrp="1"/>
          </p:cNvSpPr>
          <p:nvPr/>
        </p:nvSpPr>
        <p:spPr>
          <a:xfrm>
            <a:off x="6781800" y="1409700"/>
            <a:ext cx="17145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3CC7DC-7B9C-4951-8DAD-C7A477A70DDB}"/>
              </a:ext>
            </a:extLst>
          </p:cNvPr>
          <p:cNvSpPr>
            <a:spLocks noGrp="1"/>
          </p:cNvSpPr>
          <p:nvPr/>
        </p:nvSpPr>
        <p:spPr>
          <a:xfrm>
            <a:off x="6896100" y="1457325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Token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BF9C83-3012-4D4B-A50B-15ABF0B9F0B1}"/>
              </a:ext>
            </a:extLst>
          </p:cNvPr>
          <p:cNvSpPr>
            <a:spLocks noGrp="1"/>
          </p:cNvSpPr>
          <p:nvPr/>
        </p:nvSpPr>
        <p:spPr>
          <a:xfrm>
            <a:off x="8496300" y="1409700"/>
            <a:ext cx="219075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483C71-EE3A-41FD-ADF3-29F960471958}"/>
              </a:ext>
            </a:extLst>
          </p:cNvPr>
          <p:cNvSpPr>
            <a:spLocks noGrp="1"/>
          </p:cNvSpPr>
          <p:nvPr/>
        </p:nvSpPr>
        <p:spPr>
          <a:xfrm>
            <a:off x="8610600" y="1457325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Ký tự / token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2D9ED9-B1EA-442E-A532-0F322CA5EA7F}"/>
              </a:ext>
            </a:extLst>
          </p:cNvPr>
          <p:cNvSpPr>
            <a:spLocks noGrp="1"/>
          </p:cNvSpPr>
          <p:nvPr/>
        </p:nvSpPr>
        <p:spPr>
          <a:xfrm>
            <a:off x="495300" y="1876425"/>
            <a:ext cx="45720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A153A7-5903-45E5-B351-34F916D3D12B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>
                <a:solidFill>
                  <a:srgbClr val="101827"/>
                </a:solidFill>
              </a:rPr>
              <a:t>Văn xuôi tiếng Anh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1C9A1F-96CB-4650-A41F-75F047345C10}"/>
              </a:ext>
            </a:extLst>
          </p:cNvPr>
          <p:cNvSpPr>
            <a:spLocks noGrp="1"/>
          </p:cNvSpPr>
          <p:nvPr/>
        </p:nvSpPr>
        <p:spPr>
          <a:xfrm>
            <a:off x="5067300" y="1876425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DD28D7-6302-4A47-B674-6CB70E2750EB}"/>
              </a:ext>
            </a:extLst>
          </p:cNvPr>
          <p:cNvSpPr>
            <a:spLocks noGrp="1"/>
          </p:cNvSpPr>
          <p:nvPr/>
        </p:nvSpPr>
        <p:spPr>
          <a:xfrm>
            <a:off x="5181600" y="1924050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167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72467A-8927-44BB-B90B-0C212EBF5C34}"/>
              </a:ext>
            </a:extLst>
          </p:cNvPr>
          <p:cNvSpPr>
            <a:spLocks noGrp="1"/>
          </p:cNvSpPr>
          <p:nvPr/>
        </p:nvSpPr>
        <p:spPr>
          <a:xfrm>
            <a:off x="6781800" y="1876425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752925-94C8-4AE6-9233-C9CBEA95AE0F}"/>
              </a:ext>
            </a:extLst>
          </p:cNvPr>
          <p:cNvSpPr>
            <a:spLocks noGrp="1"/>
          </p:cNvSpPr>
          <p:nvPr/>
        </p:nvSpPr>
        <p:spPr>
          <a:xfrm>
            <a:off x="6896100" y="1924050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A47AC3-5CA4-4274-86C1-DA65A34E7201}"/>
              </a:ext>
            </a:extLst>
          </p:cNvPr>
          <p:cNvSpPr>
            <a:spLocks noGrp="1"/>
          </p:cNvSpPr>
          <p:nvPr/>
        </p:nvSpPr>
        <p:spPr>
          <a:xfrm>
            <a:off x="8496300" y="1876425"/>
            <a:ext cx="21907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1D9B95-A33F-42B9-852C-ACFAAC7281E2}"/>
              </a:ext>
            </a:extLst>
          </p:cNvPr>
          <p:cNvSpPr>
            <a:spLocks noGrp="1"/>
          </p:cNvSpPr>
          <p:nvPr/>
        </p:nvSpPr>
        <p:spPr>
          <a:xfrm>
            <a:off x="8610600" y="1924050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5.22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5C801F-EA8D-403A-8F24-6489A8C5119E}"/>
              </a:ext>
            </a:extLst>
          </p:cNvPr>
          <p:cNvSpPr>
            <a:spLocks noGrp="1"/>
          </p:cNvSpPr>
          <p:nvPr/>
        </p:nvSpPr>
        <p:spPr>
          <a:xfrm>
            <a:off x="495300" y="2338387"/>
            <a:ext cx="45720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C9BEE68-2BF3-4648-8630-3BA6DAFCE748}"/>
              </a:ext>
            </a:extLst>
          </p:cNvPr>
          <p:cNvSpPr>
            <a:spLocks noGrp="1"/>
          </p:cNvSpPr>
          <p:nvPr/>
        </p:nvSpPr>
        <p:spPr>
          <a:xfrm>
            <a:off x="609600" y="2386012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Văn </a:t>
            </a:r>
            <a:r>
              <a:rPr sz="1350" b="1" dirty="0" err="1">
                <a:solidFill>
                  <a:srgbClr val="101827"/>
                </a:solidFill>
              </a:rPr>
              <a:t>xuôi</a:t>
            </a:r>
            <a:r>
              <a:rPr sz="1350" b="1" dirty="0">
                <a:solidFill>
                  <a:srgbClr val="101827"/>
                </a:solidFill>
              </a:rPr>
              <a:t> </a:t>
            </a:r>
            <a:r>
              <a:rPr sz="1350" b="1" dirty="0" err="1">
                <a:solidFill>
                  <a:srgbClr val="101827"/>
                </a:solidFill>
              </a:rPr>
              <a:t>tiếng</a:t>
            </a:r>
            <a:r>
              <a:rPr sz="1350" b="1" dirty="0">
                <a:solidFill>
                  <a:srgbClr val="101827"/>
                </a:solidFill>
              </a:rPr>
              <a:t> Việt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706D991-C3FC-425E-9DBE-3E7560DC39E3}"/>
              </a:ext>
            </a:extLst>
          </p:cNvPr>
          <p:cNvSpPr>
            <a:spLocks noGrp="1"/>
          </p:cNvSpPr>
          <p:nvPr/>
        </p:nvSpPr>
        <p:spPr>
          <a:xfrm>
            <a:off x="5067300" y="233838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C6BC7E-A270-450D-BA6C-51881CC1BDAA}"/>
              </a:ext>
            </a:extLst>
          </p:cNvPr>
          <p:cNvSpPr>
            <a:spLocks noGrp="1"/>
          </p:cNvSpPr>
          <p:nvPr/>
        </p:nvSpPr>
        <p:spPr>
          <a:xfrm>
            <a:off x="5181600" y="238601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144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8355200-40DC-48D9-A6C6-169F3253C4A7}"/>
              </a:ext>
            </a:extLst>
          </p:cNvPr>
          <p:cNvSpPr>
            <a:spLocks noGrp="1"/>
          </p:cNvSpPr>
          <p:nvPr/>
        </p:nvSpPr>
        <p:spPr>
          <a:xfrm>
            <a:off x="6781800" y="233838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F02163-C53C-446D-9161-3E5348671715}"/>
              </a:ext>
            </a:extLst>
          </p:cNvPr>
          <p:cNvSpPr>
            <a:spLocks noGrp="1"/>
          </p:cNvSpPr>
          <p:nvPr/>
        </p:nvSpPr>
        <p:spPr>
          <a:xfrm>
            <a:off x="6896100" y="238601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 dirty="0">
                <a:solidFill>
                  <a:srgbClr val="101827"/>
                </a:solidFill>
              </a:rPr>
              <a:t>38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E9FE-9016-46E3-9A2F-60AF290F7868}"/>
              </a:ext>
            </a:extLst>
          </p:cNvPr>
          <p:cNvSpPr>
            <a:spLocks noGrp="1"/>
          </p:cNvSpPr>
          <p:nvPr/>
        </p:nvSpPr>
        <p:spPr>
          <a:xfrm>
            <a:off x="8496300" y="2338387"/>
            <a:ext cx="21907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5ED46C5-DFFB-4F96-9FD6-AB6B9BDD4C11}"/>
              </a:ext>
            </a:extLst>
          </p:cNvPr>
          <p:cNvSpPr>
            <a:spLocks noGrp="1"/>
          </p:cNvSpPr>
          <p:nvPr/>
        </p:nvSpPr>
        <p:spPr>
          <a:xfrm>
            <a:off x="8610600" y="2386012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3.79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B0C0F6-509E-439C-8EE6-A174F04C7B9B}"/>
              </a:ext>
            </a:extLst>
          </p:cNvPr>
          <p:cNvSpPr>
            <a:spLocks noGrp="1"/>
          </p:cNvSpPr>
          <p:nvPr/>
        </p:nvSpPr>
        <p:spPr>
          <a:xfrm>
            <a:off x="495300" y="2805112"/>
            <a:ext cx="45720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E6AAC8-8C1F-455C-84A2-FF443E2312A1}"/>
              </a:ext>
            </a:extLst>
          </p:cNvPr>
          <p:cNvSpPr>
            <a:spLocks noGrp="1"/>
          </p:cNvSpPr>
          <p:nvPr/>
        </p:nvSpPr>
        <p:spPr>
          <a:xfrm>
            <a:off x="609600" y="2852737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JSON config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3356BB-301B-4091-8C9D-E5FCC4E228F1}"/>
              </a:ext>
            </a:extLst>
          </p:cNvPr>
          <p:cNvSpPr>
            <a:spLocks noGrp="1"/>
          </p:cNvSpPr>
          <p:nvPr/>
        </p:nvSpPr>
        <p:spPr>
          <a:xfrm>
            <a:off x="5067300" y="2805112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0B31A6F-3960-4384-A9CF-AF2A876C11A6}"/>
              </a:ext>
            </a:extLst>
          </p:cNvPr>
          <p:cNvSpPr>
            <a:spLocks noGrp="1"/>
          </p:cNvSpPr>
          <p:nvPr/>
        </p:nvSpPr>
        <p:spPr>
          <a:xfrm>
            <a:off x="5181600" y="2852737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114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51ECAF-C1AF-4C38-B8AD-AC82753878E2}"/>
              </a:ext>
            </a:extLst>
          </p:cNvPr>
          <p:cNvSpPr>
            <a:spLocks noGrp="1"/>
          </p:cNvSpPr>
          <p:nvPr/>
        </p:nvSpPr>
        <p:spPr>
          <a:xfrm>
            <a:off x="6781800" y="2805112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50D42F-41D2-44ED-A1DC-CBBBEBFD7775}"/>
              </a:ext>
            </a:extLst>
          </p:cNvPr>
          <p:cNvSpPr>
            <a:spLocks noGrp="1"/>
          </p:cNvSpPr>
          <p:nvPr/>
        </p:nvSpPr>
        <p:spPr>
          <a:xfrm>
            <a:off x="6896100" y="2852737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40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20F792-2A13-465C-B2B4-E9A54BBC419D}"/>
              </a:ext>
            </a:extLst>
          </p:cNvPr>
          <p:cNvSpPr>
            <a:spLocks noGrp="1"/>
          </p:cNvSpPr>
          <p:nvPr/>
        </p:nvSpPr>
        <p:spPr>
          <a:xfrm>
            <a:off x="8496300" y="2805112"/>
            <a:ext cx="21907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E060210-0A5B-42FB-9221-6F12EC41F3F8}"/>
              </a:ext>
            </a:extLst>
          </p:cNvPr>
          <p:cNvSpPr>
            <a:spLocks noGrp="1"/>
          </p:cNvSpPr>
          <p:nvPr/>
        </p:nvSpPr>
        <p:spPr>
          <a:xfrm>
            <a:off x="8610600" y="2852737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2.85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374027F-BED2-410E-931E-0A1D5CB5F585}"/>
              </a:ext>
            </a:extLst>
          </p:cNvPr>
          <p:cNvSpPr>
            <a:spLocks noGrp="1"/>
          </p:cNvSpPr>
          <p:nvPr/>
        </p:nvSpPr>
        <p:spPr>
          <a:xfrm>
            <a:off x="495300" y="3271837"/>
            <a:ext cx="45720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F8D05E2-EAFD-47F4-BBB3-46AA2295D979}"/>
              </a:ext>
            </a:extLst>
          </p:cNvPr>
          <p:cNvSpPr>
            <a:spLocks noGrp="1"/>
          </p:cNvSpPr>
          <p:nvPr/>
        </p:nvSpPr>
        <p:spPr>
          <a:xfrm>
            <a:off x="609600" y="3319462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UUID / git SHA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547DC08-244B-4E3A-96C3-BB904491A799}"/>
              </a:ext>
            </a:extLst>
          </p:cNvPr>
          <p:cNvSpPr>
            <a:spLocks noGrp="1"/>
          </p:cNvSpPr>
          <p:nvPr/>
        </p:nvSpPr>
        <p:spPr>
          <a:xfrm>
            <a:off x="5067300" y="327183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E71B12F-DBD0-47B9-A67A-62EE5C24E3A7}"/>
              </a:ext>
            </a:extLst>
          </p:cNvPr>
          <p:cNvSpPr>
            <a:spLocks noGrp="1"/>
          </p:cNvSpPr>
          <p:nvPr/>
        </p:nvSpPr>
        <p:spPr>
          <a:xfrm>
            <a:off x="5181600" y="331946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36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6D83A75-3CA0-404B-AD56-F82958C531C9}"/>
              </a:ext>
            </a:extLst>
          </p:cNvPr>
          <p:cNvSpPr>
            <a:spLocks noGrp="1"/>
          </p:cNvSpPr>
          <p:nvPr/>
        </p:nvSpPr>
        <p:spPr>
          <a:xfrm>
            <a:off x="6781800" y="3271837"/>
            <a:ext cx="1714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16C7C1-6B90-4BBE-A853-07A2CEDF0EBB}"/>
              </a:ext>
            </a:extLst>
          </p:cNvPr>
          <p:cNvSpPr>
            <a:spLocks noGrp="1"/>
          </p:cNvSpPr>
          <p:nvPr/>
        </p:nvSpPr>
        <p:spPr>
          <a:xfrm>
            <a:off x="6896100" y="3319462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32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16A43A2-7306-49D6-ABF1-F8BA0DB112BE}"/>
              </a:ext>
            </a:extLst>
          </p:cNvPr>
          <p:cNvSpPr>
            <a:spLocks noGrp="1"/>
          </p:cNvSpPr>
          <p:nvPr/>
        </p:nvSpPr>
        <p:spPr>
          <a:xfrm>
            <a:off x="8496300" y="3271837"/>
            <a:ext cx="21907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E040EE-A6A4-4124-AFD6-ADD67F18491D}"/>
              </a:ext>
            </a:extLst>
          </p:cNvPr>
          <p:cNvSpPr>
            <a:spLocks noGrp="1"/>
          </p:cNvSpPr>
          <p:nvPr/>
        </p:nvSpPr>
        <p:spPr>
          <a:xfrm>
            <a:off x="8610600" y="3319462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1.13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AB6311E-DDC6-4655-B764-BC1B55A6E67E}"/>
              </a:ext>
            </a:extLst>
          </p:cNvPr>
          <p:cNvSpPr>
            <a:spLocks noGrp="1"/>
          </p:cNvSpPr>
          <p:nvPr/>
        </p:nvSpPr>
        <p:spPr>
          <a:xfrm>
            <a:off x="495300" y="5410200"/>
            <a:ext cx="4857750" cy="533400"/>
          </a:xfrm>
          <a:prstGeom prst="roundRect">
            <a:avLst>
              <a:gd name="adj" fmla="val 14286"/>
            </a:avLst>
          </a:prstGeom>
          <a:solidFill>
            <a:srgbClr val="E5F7F8"/>
          </a:solidFill>
          <a:ln w="14288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CD524D8-9E78-4DCF-A18A-E4445F944431}"/>
              </a:ext>
            </a:extLst>
          </p:cNvPr>
          <p:cNvSpPr>
            <a:spLocks noGrp="1"/>
          </p:cNvSpPr>
          <p:nvPr/>
        </p:nvSpPr>
        <p:spPr>
          <a:xfrm>
            <a:off x="685800" y="5476875"/>
            <a:ext cx="44767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500" b="1">
                <a:solidFill>
                  <a:srgbClr val="0E9AA7"/>
                </a:solidFill>
              </a:rPr>
              <a:t>167 ký tự tiếng Anh = 32 token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B20BE45E-6363-44F6-9EB4-E9AEA582FD8A}"/>
              </a:ext>
            </a:extLst>
          </p:cNvPr>
          <p:cNvSpPr>
            <a:spLocks noGrp="1"/>
          </p:cNvSpPr>
          <p:nvPr/>
        </p:nvSpPr>
        <p:spPr>
          <a:xfrm>
            <a:off x="5562600" y="5410200"/>
            <a:ext cx="4057650" cy="533400"/>
          </a:xfrm>
          <a:prstGeom prst="roundRect">
            <a:avLst>
              <a:gd name="adj" fmla="val 14286"/>
            </a:avLst>
          </a:prstGeom>
          <a:solidFill>
            <a:srgbClr val="FFF2D8"/>
          </a:solidFill>
          <a:ln w="14288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E1C2142-5BA8-4618-9D70-4A85C0E2AEC8}"/>
              </a:ext>
            </a:extLst>
          </p:cNvPr>
          <p:cNvSpPr>
            <a:spLocks noGrp="1"/>
          </p:cNvSpPr>
          <p:nvPr/>
        </p:nvSpPr>
        <p:spPr>
          <a:xfrm>
            <a:off x="5753100" y="5476875"/>
            <a:ext cx="36766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UUID 36 ký tự ≈ 32 token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A705F75-BFFB-40F2-A2E9-1FE1B0F80CD6}"/>
              </a:ext>
            </a:extLst>
          </p:cNvPr>
          <p:cNvSpPr>
            <a:spLocks noGrp="1"/>
          </p:cNvSpPr>
          <p:nvPr/>
        </p:nvSpPr>
        <p:spPr>
          <a:xfrm>
            <a:off x="9810750" y="5372100"/>
            <a:ext cx="1885950" cy="609600"/>
          </a:xfrm>
          <a:prstGeom prst="rect">
            <a:avLst/>
          </a:prstGeom>
        </p:spPr>
        <p:txBody>
          <a:bodyPr anchor="ctr">
            <a:normAutofit fontScale="96389" lnSpcReduction="10000"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Đừng ước lượng token bằng số ký tự hoặc số dòng.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547F3D3-395A-4A62-A1C6-E9705304A725}"/>
              </a:ext>
            </a:extLst>
          </p:cNvPr>
          <p:cNvSpPr>
            <a:spLocks noGrp="1"/>
          </p:cNvSpPr>
          <p:nvPr/>
        </p:nvSpPr>
        <p:spPr>
          <a:xfrm>
            <a:off x="495300" y="6172200"/>
            <a:ext cx="11201400" cy="209550"/>
          </a:xfrm>
          <a:prstGeom prst="rect">
            <a:avLst/>
          </a:prstGeom>
        </p:spPr>
        <p:txBody>
          <a:bodyPr anchor="ctr">
            <a:normAutofit fontScale="86987" lnSpcReduction="10000"/>
          </a:bodyPr>
          <a:lstStyle/>
          <a:p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 i="1">
                <a:solidFill>
                  <a:srgbClr val="64748B"/>
                </a:solidFill>
              </a:rPr>
              <a:t>Đo bằng tiktoken o200k_base · Mẫu minh họa, không phải quy luật cố định cho mọi tokenizer.</a:t>
            </a:r>
          </a:p>
        </p:txBody>
      </p:sp>
      <p:sp>
        <p:nvSpPr>
          <p:cNvPr id="75" name="Straight Connector 74">
            <a:extLst>
              <a:ext uri="{FF2B5EF4-FFF2-40B4-BE49-F238E27FC236}">
                <a16:creationId xmlns:a16="http://schemas.microsoft.com/office/drawing/2014/main" id="{A81EF618-3784-4E32-A61B-0E6FA6211F88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6D0E7A-20A8-496C-9EEA-0426DCD291D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TOKEN DENSITY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DACB848-ED79-4468-BBE3-D09FD3D8D3D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4 / 20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5535E1A-4A54-F48E-CEFF-8F8305A402CB}"/>
              </a:ext>
            </a:extLst>
          </p:cNvPr>
          <p:cNvSpPr>
            <a:spLocks noGrp="1"/>
          </p:cNvSpPr>
          <p:nvPr/>
        </p:nvSpPr>
        <p:spPr>
          <a:xfrm>
            <a:off x="495300" y="3733799"/>
            <a:ext cx="45720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4DAA4E0-F277-EF86-F8C1-597360997784}"/>
              </a:ext>
            </a:extLst>
          </p:cNvPr>
          <p:cNvSpPr>
            <a:spLocks noGrp="1"/>
          </p:cNvSpPr>
          <p:nvPr/>
        </p:nvSpPr>
        <p:spPr>
          <a:xfrm>
            <a:off x="609600" y="3781424"/>
            <a:ext cx="43434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350" b="1" dirty="0">
                <a:solidFill>
                  <a:srgbClr val="101827"/>
                </a:solidFill>
              </a:rPr>
              <a:t>Code TypeScript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79802C3-64CC-4490-0E0B-634CBFBDE142}"/>
              </a:ext>
            </a:extLst>
          </p:cNvPr>
          <p:cNvSpPr>
            <a:spLocks noGrp="1"/>
          </p:cNvSpPr>
          <p:nvPr/>
        </p:nvSpPr>
        <p:spPr>
          <a:xfrm>
            <a:off x="5067300" y="3733799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1FD6AC1-5088-C113-2614-9942B1B9720A}"/>
              </a:ext>
            </a:extLst>
          </p:cNvPr>
          <p:cNvSpPr>
            <a:spLocks noGrp="1"/>
          </p:cNvSpPr>
          <p:nvPr/>
        </p:nvSpPr>
        <p:spPr>
          <a:xfrm>
            <a:off x="5181600" y="3781424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248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7F23879-0025-276C-19A2-D8D97045A587}"/>
              </a:ext>
            </a:extLst>
          </p:cNvPr>
          <p:cNvSpPr>
            <a:spLocks noGrp="1"/>
          </p:cNvSpPr>
          <p:nvPr/>
        </p:nvSpPr>
        <p:spPr>
          <a:xfrm>
            <a:off x="6781800" y="3733799"/>
            <a:ext cx="1714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CB7C7C-2F69-A6A0-9138-4B735290ADC4}"/>
              </a:ext>
            </a:extLst>
          </p:cNvPr>
          <p:cNvSpPr>
            <a:spLocks noGrp="1"/>
          </p:cNvSpPr>
          <p:nvPr/>
        </p:nvSpPr>
        <p:spPr>
          <a:xfrm>
            <a:off x="6896100" y="3781424"/>
            <a:ext cx="14859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65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1FD372F-A9A4-B265-597D-6A252DE8FA79}"/>
              </a:ext>
            </a:extLst>
          </p:cNvPr>
          <p:cNvSpPr>
            <a:spLocks noGrp="1"/>
          </p:cNvSpPr>
          <p:nvPr/>
        </p:nvSpPr>
        <p:spPr>
          <a:xfrm>
            <a:off x="8496300" y="3733799"/>
            <a:ext cx="21907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E1523985-B819-6DCD-7353-CDEF006BB0BE}"/>
              </a:ext>
            </a:extLst>
          </p:cNvPr>
          <p:cNvSpPr>
            <a:spLocks noGrp="1"/>
          </p:cNvSpPr>
          <p:nvPr/>
        </p:nvSpPr>
        <p:spPr>
          <a:xfrm>
            <a:off x="8610600" y="3781424"/>
            <a:ext cx="19621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350" b="0">
                <a:solidFill>
                  <a:srgbClr val="101827"/>
                </a:solidFill>
              </a:rPr>
              <a:t>3.82</a:t>
            </a:r>
          </a:p>
        </p:txBody>
      </p:sp>
    </p:spTree>
    <p:extLst>
      <p:ext uri="{BB962C8B-B14F-4D97-AF65-F5344CB8AC3E}">
        <p14:creationId xmlns:p14="http://schemas.microsoft.com/office/powerpoint/2010/main" val="1424219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59">
            <a:extLst>
              <a:ext uri="{FF2B5EF4-FFF2-40B4-BE49-F238E27FC236}">
                <a16:creationId xmlns:a16="http://schemas.microsoft.com/office/drawing/2014/main" id="{56804E8A-24E4-4209-93E5-E285E2AAEA1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PRICING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70020A-CE74-4D5C-9B13-145CB01ADD9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 dirty="0" err="1">
                <a:solidFill>
                  <a:srgbClr val="101827"/>
                </a:solidFill>
              </a:rPr>
              <a:t>Một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lần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gọi</a:t>
            </a:r>
            <a:r>
              <a:rPr sz="2325" b="1" dirty="0">
                <a:solidFill>
                  <a:srgbClr val="101827"/>
                </a:solidFill>
              </a:rPr>
              <a:t> model </a:t>
            </a:r>
            <a:r>
              <a:rPr sz="2325" b="1" dirty="0" err="1">
                <a:solidFill>
                  <a:srgbClr val="101827"/>
                </a:solidFill>
              </a:rPr>
              <a:t>tính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tiền</a:t>
            </a:r>
            <a:r>
              <a:rPr sz="2325" b="1" dirty="0">
                <a:solidFill>
                  <a:srgbClr val="101827"/>
                </a:solidFill>
              </a:rPr>
              <a:t> ở </a:t>
            </a:r>
            <a:r>
              <a:rPr sz="2325" b="1" dirty="0" err="1">
                <a:solidFill>
                  <a:srgbClr val="101827"/>
                </a:solidFill>
              </a:rPr>
              <a:t>cả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hai</a:t>
            </a:r>
            <a:r>
              <a:rPr sz="2325" b="1" dirty="0">
                <a:solidFill>
                  <a:srgbClr val="101827"/>
                </a:solidFill>
              </a:rPr>
              <a:t> </a:t>
            </a:r>
            <a:r>
              <a:rPr sz="2325" b="1" dirty="0" err="1">
                <a:solidFill>
                  <a:srgbClr val="101827"/>
                </a:solidFill>
              </a:rPr>
              <a:t>chiều</a:t>
            </a:r>
            <a:endParaRPr sz="2325" b="1" dirty="0">
              <a:solidFill>
                <a:srgbClr val="101827"/>
              </a:solidFill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C65AD09-6D57-4770-8DDF-ABF9928D967F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F8687E-CF32-442A-BE77-DF05A8B10C63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F7830D-FF8A-4FB8-89D0-C5C03730D8BF}"/>
              </a:ext>
            </a:extLst>
          </p:cNvPr>
          <p:cNvSpPr>
            <a:spLocks noGrp="1"/>
          </p:cNvSpPr>
          <p:nvPr/>
        </p:nvSpPr>
        <p:spPr>
          <a:xfrm>
            <a:off x="1759376" y="1342420"/>
            <a:ext cx="1117174" cy="2667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rPr sz="1100" b="1" dirty="0">
                <a:solidFill>
                  <a:srgbClr val="D97706"/>
                </a:solidFill>
              </a:rPr>
              <a:t>INPUT TOKEN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D9EA40-CC73-45C2-B5F7-D5279A2A3D91}"/>
              </a:ext>
            </a:extLst>
          </p:cNvPr>
          <p:cNvSpPr>
            <a:spLocks noGrp="1"/>
          </p:cNvSpPr>
          <p:nvPr/>
        </p:nvSpPr>
        <p:spPr>
          <a:xfrm>
            <a:off x="9097588" y="1336947"/>
            <a:ext cx="1215109" cy="26670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100" b="1" dirty="0">
                <a:solidFill>
                  <a:srgbClr val="0E9AA7"/>
                </a:solidFill>
              </a:rPr>
              <a:t>OUTPUT TOKEN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69EE83-83E0-4F3F-84FA-FFB0852B781E}"/>
              </a:ext>
            </a:extLst>
          </p:cNvPr>
          <p:cNvSpPr>
            <a:spLocks noGrp="1"/>
          </p:cNvSpPr>
          <p:nvPr/>
        </p:nvSpPr>
        <p:spPr>
          <a:xfrm>
            <a:off x="1238250" y="4248150"/>
            <a:ext cx="45720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1B4439-4B69-4CFB-B77E-731745298635}"/>
              </a:ext>
            </a:extLst>
          </p:cNvPr>
          <p:cNvSpPr>
            <a:spLocks noGrp="1"/>
          </p:cNvSpPr>
          <p:nvPr/>
        </p:nvSpPr>
        <p:spPr>
          <a:xfrm>
            <a:off x="1333500" y="4286250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Model đại diện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EC12AA9-C4BF-43CE-87A5-A30B11E0B1C0}"/>
              </a:ext>
            </a:extLst>
          </p:cNvPr>
          <p:cNvSpPr>
            <a:spLocks noGrp="1"/>
          </p:cNvSpPr>
          <p:nvPr/>
        </p:nvSpPr>
        <p:spPr>
          <a:xfrm>
            <a:off x="5810250" y="4248150"/>
            <a:ext cx="17145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A5063B2-CF09-431E-939E-27EB3D9E1791}"/>
              </a:ext>
            </a:extLst>
          </p:cNvPr>
          <p:cNvSpPr>
            <a:spLocks noGrp="1"/>
          </p:cNvSpPr>
          <p:nvPr/>
        </p:nvSpPr>
        <p:spPr>
          <a:xfrm>
            <a:off x="5905500" y="428625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7F7A554-0DA6-4192-968C-8B2A965C1D4F}"/>
              </a:ext>
            </a:extLst>
          </p:cNvPr>
          <p:cNvSpPr>
            <a:spLocks noGrp="1"/>
          </p:cNvSpPr>
          <p:nvPr/>
        </p:nvSpPr>
        <p:spPr>
          <a:xfrm>
            <a:off x="7524750" y="4248150"/>
            <a:ext cx="17145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5573AF-7D39-4CEC-BCAD-898AE1432049}"/>
              </a:ext>
            </a:extLst>
          </p:cNvPr>
          <p:cNvSpPr>
            <a:spLocks noGrp="1"/>
          </p:cNvSpPr>
          <p:nvPr/>
        </p:nvSpPr>
        <p:spPr>
          <a:xfrm>
            <a:off x="7620000" y="428625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751A153-A92E-43E3-82F6-1F94AD71CA1A}"/>
              </a:ext>
            </a:extLst>
          </p:cNvPr>
          <p:cNvSpPr>
            <a:spLocks noGrp="1"/>
          </p:cNvSpPr>
          <p:nvPr/>
        </p:nvSpPr>
        <p:spPr>
          <a:xfrm>
            <a:off x="9239250" y="4248150"/>
            <a:ext cx="1714500" cy="40957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88BA18-559E-4A1B-812B-46CEC13BD3B2}"/>
              </a:ext>
            </a:extLst>
          </p:cNvPr>
          <p:cNvSpPr>
            <a:spLocks noGrp="1"/>
          </p:cNvSpPr>
          <p:nvPr/>
        </p:nvSpPr>
        <p:spPr>
          <a:xfrm>
            <a:off x="9334500" y="428625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Tỷ lệ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323B9B-DD53-4CD5-A431-497F0247597B}"/>
              </a:ext>
            </a:extLst>
          </p:cNvPr>
          <p:cNvSpPr>
            <a:spLocks noGrp="1"/>
          </p:cNvSpPr>
          <p:nvPr/>
        </p:nvSpPr>
        <p:spPr>
          <a:xfrm>
            <a:off x="1238250" y="4657725"/>
            <a:ext cx="45720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E2111D-4161-4DF4-B5A4-F94F41536C8B}"/>
              </a:ext>
            </a:extLst>
          </p:cNvPr>
          <p:cNvSpPr>
            <a:spLocks noGrp="1"/>
          </p:cNvSpPr>
          <p:nvPr/>
        </p:nvSpPr>
        <p:spPr>
          <a:xfrm>
            <a:off x="1333500" y="4695825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GPT-5.6 Terra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C4F9B86-45CF-4E8D-8959-BB211F9E81FA}"/>
              </a:ext>
            </a:extLst>
          </p:cNvPr>
          <p:cNvSpPr>
            <a:spLocks noGrp="1"/>
          </p:cNvSpPr>
          <p:nvPr/>
        </p:nvSpPr>
        <p:spPr>
          <a:xfrm>
            <a:off x="5810250" y="465772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69F8A44-1358-40C2-B98A-0AED9BC89BA2}"/>
              </a:ext>
            </a:extLst>
          </p:cNvPr>
          <p:cNvSpPr>
            <a:spLocks noGrp="1"/>
          </p:cNvSpPr>
          <p:nvPr/>
        </p:nvSpPr>
        <p:spPr>
          <a:xfrm>
            <a:off x="5905500" y="469582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$2.00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0DF5AA9-315E-44B6-88AA-9A5E4F40918E}"/>
              </a:ext>
            </a:extLst>
          </p:cNvPr>
          <p:cNvSpPr>
            <a:spLocks noGrp="1"/>
          </p:cNvSpPr>
          <p:nvPr/>
        </p:nvSpPr>
        <p:spPr>
          <a:xfrm>
            <a:off x="7524750" y="465772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9BB81EE-9B70-4725-B627-44922426E71D}"/>
              </a:ext>
            </a:extLst>
          </p:cNvPr>
          <p:cNvSpPr>
            <a:spLocks noGrp="1"/>
          </p:cNvSpPr>
          <p:nvPr/>
        </p:nvSpPr>
        <p:spPr>
          <a:xfrm>
            <a:off x="7620000" y="469582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$12.00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FB8075-15AE-4173-BE3A-9182CE011FF4}"/>
              </a:ext>
            </a:extLst>
          </p:cNvPr>
          <p:cNvSpPr>
            <a:spLocks noGrp="1"/>
          </p:cNvSpPr>
          <p:nvPr/>
        </p:nvSpPr>
        <p:spPr>
          <a:xfrm>
            <a:off x="9239250" y="465772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1294E9B-F2F7-484D-A9F1-2E3EA83FC363}"/>
              </a:ext>
            </a:extLst>
          </p:cNvPr>
          <p:cNvSpPr>
            <a:spLocks noGrp="1"/>
          </p:cNvSpPr>
          <p:nvPr/>
        </p:nvSpPr>
        <p:spPr>
          <a:xfrm>
            <a:off x="9334500" y="469582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6×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A791D8-5066-43C5-988A-64F888F66C4F}"/>
              </a:ext>
            </a:extLst>
          </p:cNvPr>
          <p:cNvSpPr>
            <a:spLocks noGrp="1"/>
          </p:cNvSpPr>
          <p:nvPr/>
        </p:nvSpPr>
        <p:spPr>
          <a:xfrm>
            <a:off x="1238250" y="5067300"/>
            <a:ext cx="45720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764C7F-F887-4405-8A15-86EAC28BC124}"/>
              </a:ext>
            </a:extLst>
          </p:cNvPr>
          <p:cNvSpPr>
            <a:spLocks noGrp="1"/>
          </p:cNvSpPr>
          <p:nvPr/>
        </p:nvSpPr>
        <p:spPr>
          <a:xfrm>
            <a:off x="1333500" y="5105400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Claude Sonnet 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CC22FF0-10E6-40B2-BA4D-92814106AB9C}"/>
              </a:ext>
            </a:extLst>
          </p:cNvPr>
          <p:cNvSpPr>
            <a:spLocks noGrp="1"/>
          </p:cNvSpPr>
          <p:nvPr/>
        </p:nvSpPr>
        <p:spPr>
          <a:xfrm>
            <a:off x="5810250" y="5067300"/>
            <a:ext cx="17145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7FC1855-101C-495C-912B-103001636BB5}"/>
              </a:ext>
            </a:extLst>
          </p:cNvPr>
          <p:cNvSpPr>
            <a:spLocks noGrp="1"/>
          </p:cNvSpPr>
          <p:nvPr/>
        </p:nvSpPr>
        <p:spPr>
          <a:xfrm>
            <a:off x="5905500" y="510540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$2.00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DF6018-2DEB-4E9D-94B7-3F778EC4F916}"/>
              </a:ext>
            </a:extLst>
          </p:cNvPr>
          <p:cNvSpPr>
            <a:spLocks noGrp="1"/>
          </p:cNvSpPr>
          <p:nvPr/>
        </p:nvSpPr>
        <p:spPr>
          <a:xfrm>
            <a:off x="7524750" y="5067300"/>
            <a:ext cx="17145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5F66B87-9A6B-44FD-BB47-0ED756A34156}"/>
              </a:ext>
            </a:extLst>
          </p:cNvPr>
          <p:cNvSpPr>
            <a:spLocks noGrp="1"/>
          </p:cNvSpPr>
          <p:nvPr/>
        </p:nvSpPr>
        <p:spPr>
          <a:xfrm>
            <a:off x="7620000" y="510540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$10.00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36C230D-F4C5-4A61-B9AB-3D9D294F6D68}"/>
              </a:ext>
            </a:extLst>
          </p:cNvPr>
          <p:cNvSpPr>
            <a:spLocks noGrp="1"/>
          </p:cNvSpPr>
          <p:nvPr/>
        </p:nvSpPr>
        <p:spPr>
          <a:xfrm>
            <a:off x="9239250" y="5067300"/>
            <a:ext cx="1714500" cy="40957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0BF5710-24AF-4F0C-A457-A17B51097F9D}"/>
              </a:ext>
            </a:extLst>
          </p:cNvPr>
          <p:cNvSpPr>
            <a:spLocks noGrp="1"/>
          </p:cNvSpPr>
          <p:nvPr/>
        </p:nvSpPr>
        <p:spPr>
          <a:xfrm>
            <a:off x="9334500" y="5105400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5×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B71E49F-7349-42F6-A056-4F3787444EC0}"/>
              </a:ext>
            </a:extLst>
          </p:cNvPr>
          <p:cNvSpPr>
            <a:spLocks noGrp="1"/>
          </p:cNvSpPr>
          <p:nvPr/>
        </p:nvSpPr>
        <p:spPr>
          <a:xfrm>
            <a:off x="1238250" y="5476875"/>
            <a:ext cx="45720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AA3CABB-80F4-472C-99C6-F326D85311B9}"/>
              </a:ext>
            </a:extLst>
          </p:cNvPr>
          <p:cNvSpPr>
            <a:spLocks noGrp="1"/>
          </p:cNvSpPr>
          <p:nvPr/>
        </p:nvSpPr>
        <p:spPr>
          <a:xfrm>
            <a:off x="1333500" y="5514975"/>
            <a:ext cx="43815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Gemini 3.5 Flash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56288C1-025E-4F77-80D1-D8E698AEA861}"/>
              </a:ext>
            </a:extLst>
          </p:cNvPr>
          <p:cNvSpPr>
            <a:spLocks noGrp="1"/>
          </p:cNvSpPr>
          <p:nvPr/>
        </p:nvSpPr>
        <p:spPr>
          <a:xfrm>
            <a:off x="5810250" y="547687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58422E-953D-4FCD-B148-D5293AEE9502}"/>
              </a:ext>
            </a:extLst>
          </p:cNvPr>
          <p:cNvSpPr>
            <a:spLocks noGrp="1"/>
          </p:cNvSpPr>
          <p:nvPr/>
        </p:nvSpPr>
        <p:spPr>
          <a:xfrm>
            <a:off x="5905500" y="551497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$1.50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826F54C-6CB6-4D31-9D64-A84F501D578B}"/>
              </a:ext>
            </a:extLst>
          </p:cNvPr>
          <p:cNvSpPr>
            <a:spLocks noGrp="1"/>
          </p:cNvSpPr>
          <p:nvPr/>
        </p:nvSpPr>
        <p:spPr>
          <a:xfrm>
            <a:off x="7524750" y="547687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7593319-A0AD-411E-92B3-C1943041A332}"/>
              </a:ext>
            </a:extLst>
          </p:cNvPr>
          <p:cNvSpPr>
            <a:spLocks noGrp="1"/>
          </p:cNvSpPr>
          <p:nvPr/>
        </p:nvSpPr>
        <p:spPr>
          <a:xfrm>
            <a:off x="7620000" y="551497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$9.00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E50DA28-F364-48EB-9AD5-05ECBF0E20D6}"/>
              </a:ext>
            </a:extLst>
          </p:cNvPr>
          <p:cNvSpPr>
            <a:spLocks noGrp="1"/>
          </p:cNvSpPr>
          <p:nvPr/>
        </p:nvSpPr>
        <p:spPr>
          <a:xfrm>
            <a:off x="9239250" y="5476875"/>
            <a:ext cx="1714500" cy="4095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7620CAA-5914-4E3F-868E-7FB0CD63C84E}"/>
              </a:ext>
            </a:extLst>
          </p:cNvPr>
          <p:cNvSpPr>
            <a:spLocks noGrp="1"/>
          </p:cNvSpPr>
          <p:nvPr/>
        </p:nvSpPr>
        <p:spPr>
          <a:xfrm>
            <a:off x="9334500" y="5514975"/>
            <a:ext cx="1524000" cy="3333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>
                <a:solidFill>
                  <a:srgbClr val="101827"/>
                </a:solidFill>
              </a:rPr>
              <a:t>6×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88679F7-EE4C-45EF-B4E4-7A3FE5E3B432}"/>
              </a:ext>
            </a:extLst>
          </p:cNvPr>
          <p:cNvSpPr>
            <a:spLocks noGrp="1"/>
          </p:cNvSpPr>
          <p:nvPr/>
        </p:nvSpPr>
        <p:spPr>
          <a:xfrm>
            <a:off x="1238250" y="5943600"/>
            <a:ext cx="97155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Standard API · USD / 1M token · snapshot 18/08/2026</a:t>
            </a:r>
          </a:p>
        </p:txBody>
      </p:sp>
      <p:sp>
        <p:nvSpPr>
          <p:cNvPr id="57" name="Straight Connector 56">
            <a:extLst>
              <a:ext uri="{FF2B5EF4-FFF2-40B4-BE49-F238E27FC236}">
                <a16:creationId xmlns:a16="http://schemas.microsoft.com/office/drawing/2014/main" id="{EBD9EC4E-4BB7-4190-BB65-16B4F07D86B8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B50D1AA-B6CD-483C-AEAC-0FA3491EB82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INPUT + OUTPUT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752B4FF-FF43-469B-BE4D-B693BDE1F6DB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5 / 20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B91F612-6986-4EF4-D8DC-216E7BA6A149}"/>
              </a:ext>
            </a:extLst>
          </p:cNvPr>
          <p:cNvSpPr>
            <a:spLocks noGrp="1"/>
          </p:cNvSpPr>
          <p:nvPr/>
        </p:nvSpPr>
        <p:spPr>
          <a:xfrm>
            <a:off x="1312661" y="2039931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3C30C310-4662-9C72-53EB-191F39CBA9A5}"/>
              </a:ext>
            </a:extLst>
          </p:cNvPr>
          <p:cNvSpPr>
            <a:spLocks noGrp="1"/>
          </p:cNvSpPr>
          <p:nvPr/>
        </p:nvSpPr>
        <p:spPr>
          <a:xfrm>
            <a:off x="1312661" y="1677504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4E013B7-1190-0252-2E7C-BBFC95EA2C78}"/>
              </a:ext>
            </a:extLst>
          </p:cNvPr>
          <p:cNvSpPr>
            <a:spLocks noGrp="1"/>
          </p:cNvSpPr>
          <p:nvPr/>
        </p:nvSpPr>
        <p:spPr>
          <a:xfrm>
            <a:off x="1998461" y="1673663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4FCB989-6493-FCA0-ED59-246B4E0E0558}"/>
              </a:ext>
            </a:extLst>
          </p:cNvPr>
          <p:cNvSpPr>
            <a:spLocks noGrp="1"/>
          </p:cNvSpPr>
          <p:nvPr/>
        </p:nvSpPr>
        <p:spPr>
          <a:xfrm>
            <a:off x="2684261" y="1675341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4FB237BC-0025-5F47-D355-A4DC0C65945F}"/>
              </a:ext>
            </a:extLst>
          </p:cNvPr>
          <p:cNvSpPr>
            <a:spLocks noGrp="1"/>
          </p:cNvSpPr>
          <p:nvPr/>
        </p:nvSpPr>
        <p:spPr>
          <a:xfrm>
            <a:off x="1998461" y="2041052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536EE5E4-4F4B-3947-86B6-F7E46562C44C}"/>
              </a:ext>
            </a:extLst>
          </p:cNvPr>
          <p:cNvSpPr>
            <a:spLocks noGrp="1"/>
          </p:cNvSpPr>
          <p:nvPr/>
        </p:nvSpPr>
        <p:spPr>
          <a:xfrm>
            <a:off x="2684261" y="2048374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3B09C6D7-A590-BB3F-5B74-855088E6AC9B}"/>
              </a:ext>
            </a:extLst>
          </p:cNvPr>
          <p:cNvSpPr>
            <a:spLocks noGrp="1"/>
          </p:cNvSpPr>
          <p:nvPr/>
        </p:nvSpPr>
        <p:spPr>
          <a:xfrm>
            <a:off x="1312661" y="2410452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9CF42065-915E-F378-02D9-CB7172D6CD68}"/>
              </a:ext>
            </a:extLst>
          </p:cNvPr>
          <p:cNvSpPr>
            <a:spLocks noGrp="1"/>
          </p:cNvSpPr>
          <p:nvPr/>
        </p:nvSpPr>
        <p:spPr>
          <a:xfrm>
            <a:off x="1998461" y="2410452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D35BDE5-785D-A115-3EEF-DFA47EE0033F}"/>
              </a:ext>
            </a:extLst>
          </p:cNvPr>
          <p:cNvSpPr>
            <a:spLocks noGrp="1"/>
          </p:cNvSpPr>
          <p:nvPr/>
        </p:nvSpPr>
        <p:spPr>
          <a:xfrm>
            <a:off x="2684261" y="2415086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r>
              <a:rPr lang="en-US" dirty="0"/>
              <a:t>       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63F61C7-9E37-A28F-F27E-2FD41D00B863}"/>
              </a:ext>
            </a:extLst>
          </p:cNvPr>
          <p:cNvCxnSpPr>
            <a:cxnSpLocks/>
          </p:cNvCxnSpPr>
          <p:nvPr/>
        </p:nvCxnSpPr>
        <p:spPr>
          <a:xfrm>
            <a:off x="3585619" y="2221277"/>
            <a:ext cx="13361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8266B46C-5CF0-58B6-968C-E0CD4DA6A1FB}"/>
              </a:ext>
            </a:extLst>
          </p:cNvPr>
          <p:cNvSpPr/>
          <p:nvPr/>
        </p:nvSpPr>
        <p:spPr>
          <a:xfrm>
            <a:off x="5353050" y="1762601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EE79F139-31E8-F682-290F-F8C930D3B811}"/>
              </a:ext>
            </a:extLst>
          </p:cNvPr>
          <p:cNvSpPr>
            <a:spLocks noGrp="1"/>
          </p:cNvSpPr>
          <p:nvPr/>
        </p:nvSpPr>
        <p:spPr>
          <a:xfrm>
            <a:off x="8333543" y="2030988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8FCAB79-0594-F630-CA9E-FFB362DC79B3}"/>
              </a:ext>
            </a:extLst>
          </p:cNvPr>
          <p:cNvSpPr>
            <a:spLocks noGrp="1"/>
          </p:cNvSpPr>
          <p:nvPr/>
        </p:nvSpPr>
        <p:spPr>
          <a:xfrm>
            <a:off x="9315397" y="2030987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03FDD8C-5081-081B-60A4-8914703AB060}"/>
              </a:ext>
            </a:extLst>
          </p:cNvPr>
          <p:cNvCxnSpPr>
            <a:cxnSpLocks/>
          </p:cNvCxnSpPr>
          <p:nvPr/>
        </p:nvCxnSpPr>
        <p:spPr>
          <a:xfrm>
            <a:off x="6703043" y="2221277"/>
            <a:ext cx="13361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8BB088B-C909-377D-B266-F0B6C5D9060B}"/>
              </a:ext>
            </a:extLst>
          </p:cNvPr>
          <p:cNvSpPr>
            <a:spLocks noGrp="1"/>
          </p:cNvSpPr>
          <p:nvPr/>
        </p:nvSpPr>
        <p:spPr>
          <a:xfrm>
            <a:off x="10297251" y="2039931"/>
            <a:ext cx="628650" cy="323850"/>
          </a:xfrm>
          <a:prstGeom prst="roundRect">
            <a:avLst>
              <a:gd name="adj" fmla="val 23529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179C2C-4AFD-F99D-FEFA-C937A6D0D34C}"/>
              </a:ext>
            </a:extLst>
          </p:cNvPr>
          <p:cNvSpPr txBox="1"/>
          <p:nvPr/>
        </p:nvSpPr>
        <p:spPr>
          <a:xfrm>
            <a:off x="11189407" y="207833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56DFE2-A29C-4F26-5C48-45BEC92255E0}"/>
              </a:ext>
            </a:extLst>
          </p:cNvPr>
          <p:cNvSpPr txBox="1"/>
          <p:nvPr/>
        </p:nvSpPr>
        <p:spPr>
          <a:xfrm>
            <a:off x="1390705" y="2841715"/>
            <a:ext cx="1864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err="1"/>
              <a:t>Đọc</a:t>
            </a:r>
            <a:r>
              <a:rPr lang="en-US" sz="1600" dirty="0"/>
              <a:t> </a:t>
            </a:r>
            <a:r>
              <a:rPr lang="en-US" sz="1600" dirty="0" err="1"/>
              <a:t>theo</a:t>
            </a:r>
            <a:r>
              <a:rPr lang="en-US" sz="1600" dirty="0"/>
              <a:t> </a:t>
            </a:r>
            <a:r>
              <a:rPr lang="en-US" sz="1600" dirty="0" err="1"/>
              <a:t>khối</a:t>
            </a:r>
            <a:r>
              <a:rPr lang="en-US" sz="1600" dirty="0"/>
              <a:t> token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64814E-FDA0-7C03-9882-6349A49CAACE}"/>
              </a:ext>
            </a:extLst>
          </p:cNvPr>
          <p:cNvSpPr txBox="1"/>
          <p:nvPr/>
        </p:nvSpPr>
        <p:spPr>
          <a:xfrm>
            <a:off x="8792147" y="2841715"/>
            <a:ext cx="18259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 err="1"/>
              <a:t>Tạo</a:t>
            </a:r>
            <a:r>
              <a:rPr lang="en-US" sz="1600" dirty="0"/>
              <a:t> </a:t>
            </a:r>
            <a:r>
              <a:rPr lang="en-US" sz="1600" dirty="0" err="1"/>
              <a:t>từng</a:t>
            </a:r>
            <a:r>
              <a:rPr lang="en-US" sz="1600" dirty="0"/>
              <a:t> token</a:t>
            </a:r>
          </a:p>
        </p:txBody>
      </p:sp>
      <p:sp>
        <p:nvSpPr>
          <p:cNvPr id="95" name="Arrow: Right 94">
            <a:extLst>
              <a:ext uri="{FF2B5EF4-FFF2-40B4-BE49-F238E27FC236}">
                <a16:creationId xmlns:a16="http://schemas.microsoft.com/office/drawing/2014/main" id="{EB1EF0D3-B427-D5A7-C964-066CE020C6E6}"/>
              </a:ext>
            </a:extLst>
          </p:cNvPr>
          <p:cNvSpPr/>
          <p:nvPr/>
        </p:nvSpPr>
        <p:spPr>
          <a:xfrm>
            <a:off x="9055653" y="2136790"/>
            <a:ext cx="170046" cy="156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rrow: Right 96">
            <a:extLst>
              <a:ext uri="{FF2B5EF4-FFF2-40B4-BE49-F238E27FC236}">
                <a16:creationId xmlns:a16="http://schemas.microsoft.com/office/drawing/2014/main" id="{2F4502F2-DF5D-CC22-C101-AC0299609B62}"/>
              </a:ext>
            </a:extLst>
          </p:cNvPr>
          <p:cNvSpPr/>
          <p:nvPr/>
        </p:nvSpPr>
        <p:spPr>
          <a:xfrm>
            <a:off x="10037507" y="2123385"/>
            <a:ext cx="170046" cy="156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47ED9BFB-4A27-72F3-DEEC-6FA748847B0C}"/>
              </a:ext>
            </a:extLst>
          </p:cNvPr>
          <p:cNvSpPr/>
          <p:nvPr/>
        </p:nvSpPr>
        <p:spPr>
          <a:xfrm>
            <a:off x="11015599" y="2141330"/>
            <a:ext cx="170046" cy="156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63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6438F3C-EF3B-4C7D-B227-B92C8BD94D2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MODEL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ABB04D-56FB-497E-902C-65ABD7A416B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 dirty="0">
                <a:solidFill>
                  <a:srgbClr val="101827"/>
                </a:solidFill>
              </a:rPr>
              <a:t>Model </a:t>
            </a:r>
            <a:r>
              <a:rPr sz="2775" b="1" dirty="0" err="1">
                <a:solidFill>
                  <a:srgbClr val="101827"/>
                </a:solidFill>
              </a:rPr>
              <a:t>chỉ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biến</a:t>
            </a:r>
            <a:r>
              <a:rPr sz="2775" b="1" dirty="0">
                <a:solidFill>
                  <a:srgbClr val="101827"/>
                </a:solidFill>
              </a:rPr>
              <a:t> </a:t>
            </a:r>
            <a:r>
              <a:rPr sz="2775" b="1" dirty="0" err="1">
                <a:solidFill>
                  <a:srgbClr val="101827"/>
                </a:solidFill>
              </a:rPr>
              <a:t>một</a:t>
            </a:r>
            <a:r>
              <a:rPr sz="2775" b="1" dirty="0">
                <a:solidFill>
                  <a:srgbClr val="101827"/>
                </a:solidFill>
              </a:rPr>
              <a:t> payload </a:t>
            </a:r>
            <a:r>
              <a:rPr sz="2775" b="1" dirty="0" err="1">
                <a:solidFill>
                  <a:srgbClr val="101827"/>
                </a:solidFill>
              </a:rPr>
              <a:t>thành</a:t>
            </a:r>
            <a:r>
              <a:rPr sz="2775" b="1" dirty="0">
                <a:solidFill>
                  <a:srgbClr val="101827"/>
                </a:solidFill>
              </a:rPr>
              <a:t> output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594CE9D-ACC3-4E4A-A1C4-074D5734268D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8C6A9C-47C3-458C-AE21-33A35F069E97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AFCA6F1-A914-4D45-A4BA-F0C6AFD1C9EC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609850" cy="1333500"/>
          </a:xfrm>
          <a:prstGeom prst="roundRect">
            <a:avLst>
              <a:gd name="adj" fmla="val 5714"/>
            </a:avLst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C5B37-0234-4A88-9717-289BF48FEC07}"/>
              </a:ext>
            </a:extLst>
          </p:cNvPr>
          <p:cNvSpPr>
            <a:spLocks noGrp="1"/>
          </p:cNvSpPr>
          <p:nvPr/>
        </p:nvSpPr>
        <p:spPr>
          <a:xfrm>
            <a:off x="952500" y="2485072"/>
            <a:ext cx="2114550" cy="361950"/>
          </a:xfrm>
          <a:prstGeom prst="rect">
            <a:avLst/>
          </a:prstGeom>
        </p:spPr>
        <p:txBody>
          <a:bodyPr anchor="ctr">
            <a:normAutofit fontScale="92024" lnSpcReduction="10000"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</a:defRPr>
            </a:pPr>
            <a:r>
              <a:rPr sz="2100" b="1" dirty="0">
                <a:solidFill>
                  <a:srgbClr val="2563EB"/>
                </a:solidFill>
              </a:rPr>
              <a:t>PAYLOAD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3961AA1-EC4E-4587-8F3A-A721DBD0CAF9}"/>
              </a:ext>
            </a:extLst>
          </p:cNvPr>
          <p:cNvSpPr>
            <a:spLocks noGrp="1"/>
          </p:cNvSpPr>
          <p:nvPr/>
        </p:nvSpPr>
        <p:spPr>
          <a:xfrm flipV="1">
            <a:off x="3314700" y="2666049"/>
            <a:ext cx="1276350" cy="952"/>
          </a:xfrm>
          <a:prstGeom prst="line">
            <a:avLst/>
          </a:prstGeom>
          <a:ln w="38100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6B43C8-1AE8-4943-B743-789034FD1BD1}"/>
              </a:ext>
            </a:extLst>
          </p:cNvPr>
          <p:cNvSpPr>
            <a:spLocks noGrp="1"/>
          </p:cNvSpPr>
          <p:nvPr/>
        </p:nvSpPr>
        <p:spPr>
          <a:xfrm>
            <a:off x="4591050" y="1752600"/>
            <a:ext cx="2990850" cy="1828800"/>
          </a:xfrm>
          <a:prstGeom prst="roundRect">
            <a:avLst>
              <a:gd name="adj" fmla="val 4167"/>
            </a:avLst>
          </a:prstGeom>
          <a:solidFill>
            <a:srgbClr val="EEE9FF"/>
          </a:solidFill>
          <a:ln w="23813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13B481-D80C-4869-B888-B01214A58BAB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2266950" cy="457200"/>
          </a:xfrm>
          <a:prstGeom prst="rect">
            <a:avLst/>
          </a:prstGeom>
        </p:spPr>
        <p:txBody>
          <a:bodyPr anchor="ctr">
            <a:normAutofit fontScale="94118"/>
          </a:bodyPr>
          <a:lstStyle/>
          <a:p>
            <a:pPr algn="ctr">
              <a:lnSpc>
                <a:spcPct val="100000"/>
              </a:lnSpc>
              <a:buNone/>
              <a:defRPr sz="2550" b="1">
                <a:solidFill>
                  <a:srgbClr val="6246B5"/>
                </a:solidFill>
              </a:defRPr>
            </a:pPr>
            <a:r>
              <a:rPr sz="2550" b="1" dirty="0">
                <a:solidFill>
                  <a:srgbClr val="6246B5"/>
                </a:solidFill>
              </a:rPr>
              <a:t>MODEL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703B954-E71C-4FA1-8E5A-1497204F3D5C}"/>
              </a:ext>
            </a:extLst>
          </p:cNvPr>
          <p:cNvSpPr>
            <a:spLocks noGrp="1"/>
          </p:cNvSpPr>
          <p:nvPr/>
        </p:nvSpPr>
        <p:spPr>
          <a:xfrm flipV="1">
            <a:off x="7600950" y="2666047"/>
            <a:ext cx="1200150" cy="953"/>
          </a:xfrm>
          <a:prstGeom prst="line">
            <a:avLst/>
          </a:prstGeom>
          <a:ln w="38100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53AA0A-BF57-46AE-AAD0-057AE3F3A549}"/>
              </a:ext>
            </a:extLst>
          </p:cNvPr>
          <p:cNvSpPr>
            <a:spLocks noGrp="1"/>
          </p:cNvSpPr>
          <p:nvPr/>
        </p:nvSpPr>
        <p:spPr>
          <a:xfrm>
            <a:off x="8801100" y="2000250"/>
            <a:ext cx="2705100" cy="1333500"/>
          </a:xfrm>
          <a:prstGeom prst="roundRect">
            <a:avLst>
              <a:gd name="adj" fmla="val 5714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A6EF71-C3B1-498D-B045-08B21C37C085}"/>
              </a:ext>
            </a:extLst>
          </p:cNvPr>
          <p:cNvSpPr>
            <a:spLocks noGrp="1"/>
          </p:cNvSpPr>
          <p:nvPr/>
        </p:nvSpPr>
        <p:spPr>
          <a:xfrm>
            <a:off x="9048750" y="2247900"/>
            <a:ext cx="2209800" cy="685800"/>
          </a:xfrm>
          <a:prstGeom prst="rect">
            <a:avLst/>
          </a:prstGeom>
        </p:spPr>
        <p:txBody>
          <a:bodyPr anchor="ctr">
            <a:normAutofit fontScale="98302"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0E9AA7"/>
                </a:solidFill>
              </a:defRPr>
            </a:pPr>
            <a:r>
              <a:rPr sz="1725" b="1" dirty="0">
                <a:solidFill>
                  <a:srgbClr val="0E9AA7"/>
                </a:solidFill>
              </a:rPr>
              <a:t>RESPONSE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A93CDF-730B-43CF-9008-63151FC0454C}"/>
              </a:ext>
            </a:extLst>
          </p:cNvPr>
          <p:cNvSpPr>
            <a:spLocks noGrp="1"/>
          </p:cNvSpPr>
          <p:nvPr/>
        </p:nvSpPr>
        <p:spPr>
          <a:xfrm>
            <a:off x="533400" y="4171950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13D8A6-2869-45F6-AE46-67A381F2B5A8}"/>
              </a:ext>
            </a:extLst>
          </p:cNvPr>
          <p:cNvSpPr>
            <a:spLocks noGrp="1"/>
          </p:cNvSpPr>
          <p:nvPr/>
        </p:nvSpPr>
        <p:spPr>
          <a:xfrm>
            <a:off x="53340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A94E2F-873C-4217-898B-076652848677}"/>
              </a:ext>
            </a:extLst>
          </p:cNvPr>
          <p:cNvSpPr>
            <a:spLocks noGrp="1"/>
          </p:cNvSpPr>
          <p:nvPr/>
        </p:nvSpPr>
        <p:spPr>
          <a:xfrm>
            <a:off x="104775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Chỉ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biết</a:t>
            </a:r>
            <a:r>
              <a:rPr sz="1275" b="1" dirty="0">
                <a:solidFill>
                  <a:srgbClr val="334155"/>
                </a:solidFill>
              </a:rPr>
              <a:t> request </a:t>
            </a:r>
            <a:r>
              <a:rPr sz="1275" b="1" dirty="0" err="1">
                <a:solidFill>
                  <a:srgbClr val="334155"/>
                </a:solidFill>
              </a:rPr>
              <a:t>hiện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tại</a:t>
            </a:r>
            <a:endParaRPr sz="1275" b="1" dirty="0">
              <a:solidFill>
                <a:srgbClr val="33415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3F36CE-824D-4FF2-ABD9-A992A9550243}"/>
              </a:ext>
            </a:extLst>
          </p:cNvPr>
          <p:cNvSpPr>
            <a:spLocks noGrp="1"/>
          </p:cNvSpPr>
          <p:nvPr/>
        </p:nvSpPr>
        <p:spPr>
          <a:xfrm>
            <a:off x="3333750" y="4171950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EB71FB-CA8F-44D9-8327-E161DE670A1F}"/>
              </a:ext>
            </a:extLst>
          </p:cNvPr>
          <p:cNvSpPr>
            <a:spLocks noGrp="1"/>
          </p:cNvSpPr>
          <p:nvPr/>
        </p:nvSpPr>
        <p:spPr>
          <a:xfrm>
            <a:off x="333375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2EE6F2-8459-4BEB-B286-CDF202AECCEB}"/>
              </a:ext>
            </a:extLst>
          </p:cNvPr>
          <p:cNvSpPr>
            <a:spLocks noGrp="1"/>
          </p:cNvSpPr>
          <p:nvPr/>
        </p:nvSpPr>
        <p:spPr>
          <a:xfrm>
            <a:off x="384810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Không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tự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giữ</a:t>
            </a:r>
            <a:r>
              <a:rPr sz="1275" b="1" dirty="0">
                <a:solidFill>
                  <a:srgbClr val="334155"/>
                </a:solidFill>
              </a:rPr>
              <a:t> working memory </a:t>
            </a:r>
            <a:r>
              <a:rPr sz="1275" b="1" dirty="0" err="1">
                <a:solidFill>
                  <a:srgbClr val="334155"/>
                </a:solidFill>
              </a:rPr>
              <a:t>bền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vững</a:t>
            </a:r>
            <a:endParaRPr sz="1275" b="1" dirty="0">
              <a:solidFill>
                <a:srgbClr val="334155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638346-F21B-4233-BC6E-080B72197F1E}"/>
              </a:ext>
            </a:extLst>
          </p:cNvPr>
          <p:cNvSpPr>
            <a:spLocks noGrp="1"/>
          </p:cNvSpPr>
          <p:nvPr/>
        </p:nvSpPr>
        <p:spPr>
          <a:xfrm>
            <a:off x="6134100" y="4171950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78238-BB81-42A6-BBD7-4E7198988244}"/>
              </a:ext>
            </a:extLst>
          </p:cNvPr>
          <p:cNvSpPr>
            <a:spLocks noGrp="1"/>
          </p:cNvSpPr>
          <p:nvPr/>
        </p:nvSpPr>
        <p:spPr>
          <a:xfrm>
            <a:off x="613410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61751-6C1B-41DB-8876-ACF3AF10C019}"/>
              </a:ext>
            </a:extLst>
          </p:cNvPr>
          <p:cNvSpPr>
            <a:spLocks noGrp="1"/>
          </p:cNvSpPr>
          <p:nvPr/>
        </p:nvSpPr>
        <p:spPr>
          <a:xfrm>
            <a:off x="664845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Không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trực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tiếp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đọc</a:t>
            </a:r>
            <a:r>
              <a:rPr sz="1275" b="1" dirty="0">
                <a:solidFill>
                  <a:srgbClr val="334155"/>
                </a:solidFill>
              </a:rPr>
              <a:t> file hay </a:t>
            </a:r>
            <a:r>
              <a:rPr sz="1275" b="1" dirty="0" err="1">
                <a:solidFill>
                  <a:srgbClr val="334155"/>
                </a:solidFill>
              </a:rPr>
              <a:t>chạy</a:t>
            </a:r>
            <a:r>
              <a:rPr sz="1275" b="1" dirty="0">
                <a:solidFill>
                  <a:srgbClr val="334155"/>
                </a:solidFill>
              </a:rPr>
              <a:t> command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C5A140-B7B9-4447-BE35-795F5F7AA2F4}"/>
              </a:ext>
            </a:extLst>
          </p:cNvPr>
          <p:cNvSpPr>
            <a:spLocks noGrp="1"/>
          </p:cNvSpPr>
          <p:nvPr/>
        </p:nvSpPr>
        <p:spPr>
          <a:xfrm>
            <a:off x="8934450" y="4238625"/>
            <a:ext cx="400050" cy="257175"/>
          </a:xfrm>
          <a:prstGeom prst="rect">
            <a:avLst/>
          </a:prstGeom>
        </p:spPr>
        <p:txBody>
          <a:bodyPr anchor="ctr">
            <a:normAutofit fontScale="96667" lnSpcReduction="10000"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28311C-FCB3-42A2-8466-1847D7D7C2DF}"/>
              </a:ext>
            </a:extLst>
          </p:cNvPr>
          <p:cNvSpPr>
            <a:spLocks noGrp="1"/>
          </p:cNvSpPr>
          <p:nvPr/>
        </p:nvSpPr>
        <p:spPr>
          <a:xfrm>
            <a:off x="9448800" y="4019550"/>
            <a:ext cx="2095500" cy="742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334155"/>
                </a:solidFill>
              </a:defRPr>
            </a:pPr>
            <a:r>
              <a:rPr sz="1275" b="1" dirty="0" err="1">
                <a:solidFill>
                  <a:srgbClr val="334155"/>
                </a:solidFill>
              </a:rPr>
              <a:t>Chỉ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sinh</a:t>
            </a:r>
            <a:r>
              <a:rPr sz="1275" b="1" dirty="0">
                <a:solidFill>
                  <a:srgbClr val="334155"/>
                </a:solidFill>
              </a:rPr>
              <a:t> text </a:t>
            </a:r>
            <a:r>
              <a:rPr sz="1275" b="1" dirty="0" err="1">
                <a:solidFill>
                  <a:srgbClr val="334155"/>
                </a:solidFill>
              </a:rPr>
              <a:t>hoặc</a:t>
            </a:r>
            <a:r>
              <a:rPr sz="1275" b="1" dirty="0">
                <a:solidFill>
                  <a:srgbClr val="334155"/>
                </a:solidFill>
              </a:rPr>
              <a:t> </a:t>
            </a:r>
            <a:r>
              <a:rPr sz="1275" b="1" dirty="0" err="1">
                <a:solidFill>
                  <a:srgbClr val="334155"/>
                </a:solidFill>
              </a:rPr>
              <a:t>mô</a:t>
            </a:r>
            <a:r>
              <a:rPr sz="1275" b="1" dirty="0">
                <a:solidFill>
                  <a:srgbClr val="334155"/>
                </a:solidFill>
              </a:rPr>
              <a:t> tả tool call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A87B8A85-09ED-4611-A6E9-B04BA9E6802C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B45AD5-453C-4AF3-9253-A117E753964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MODEL → HARNESS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948433-1B8C-4B36-82BB-1A48DA861968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6 / 20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F4A4FF5-F722-F7EA-34ED-2F0C288FF2E8}"/>
              </a:ext>
            </a:extLst>
          </p:cNvPr>
          <p:cNvSpPr>
            <a:spLocks noGrp="1"/>
          </p:cNvSpPr>
          <p:nvPr/>
        </p:nvSpPr>
        <p:spPr>
          <a:xfrm>
            <a:off x="8924733" y="4167187"/>
            <a:ext cx="400050" cy="4000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r>
              <a:rPr lang="en-US" sz="11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8" name="agent-boundary-label">
            <a:extLst>
              <a:ext uri="{FF2B5EF4-FFF2-40B4-BE49-F238E27FC236}">
                <a16:creationId xmlns:a16="http://schemas.microsoft.com/office/drawing/2014/main" id="{04A8EF05-3E44-2154-F404-376435DBF0C2}"/>
              </a:ext>
            </a:extLst>
          </p:cNvPr>
          <p:cNvSpPr>
            <a:spLocks noGrp="1"/>
          </p:cNvSpPr>
          <p:nvPr/>
        </p:nvSpPr>
        <p:spPr>
          <a:xfrm>
            <a:off x="1495425" y="1361122"/>
            <a:ext cx="990600" cy="26670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agent-boundary-label">
            <a:extLst>
              <a:ext uri="{FF2B5EF4-FFF2-40B4-BE49-F238E27FC236}">
                <a16:creationId xmlns:a16="http://schemas.microsoft.com/office/drawing/2014/main" id="{E75215DA-D7FA-7D88-D00C-930D6767A0A3}"/>
              </a:ext>
            </a:extLst>
          </p:cNvPr>
          <p:cNvSpPr>
            <a:spLocks noGrp="1"/>
          </p:cNvSpPr>
          <p:nvPr/>
        </p:nvSpPr>
        <p:spPr>
          <a:xfrm>
            <a:off x="9658350" y="1362074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7FD7DD4-F7B3-D974-7A93-5B38FC122310}"/>
              </a:ext>
            </a:extLst>
          </p:cNvPr>
          <p:cNvCxnSpPr>
            <a:stCxn id="38" idx="2"/>
            <a:endCxn id="5" idx="0"/>
          </p:cNvCxnSpPr>
          <p:nvPr/>
        </p:nvCxnSpPr>
        <p:spPr>
          <a:xfrm>
            <a:off x="1990725" y="1627822"/>
            <a:ext cx="0" cy="372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7F28133-94CA-60A3-3E80-F0113962C532}"/>
              </a:ext>
            </a:extLst>
          </p:cNvPr>
          <p:cNvCxnSpPr>
            <a:stCxn id="11" idx="0"/>
            <a:endCxn id="40" idx="2"/>
          </p:cNvCxnSpPr>
          <p:nvPr/>
        </p:nvCxnSpPr>
        <p:spPr>
          <a:xfrm flipV="1">
            <a:off x="10153650" y="1628774"/>
            <a:ext cx="0" cy="371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452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6438F3C-EF3B-4C7D-B227-B92C8BD94D2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HARNESS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ABB04D-56FB-497E-902C-65ABD7A416B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Agent = Harness + Model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594CE9D-ACC3-4E4A-A1C4-074D5734268D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8C6A9C-47C3-458C-AE21-33A35F069E97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AFCA6F1-A914-4D45-A4BA-F0C6AFD1C9EC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609850" cy="1333500"/>
          </a:xfrm>
          <a:prstGeom prst="roundRect">
            <a:avLst>
              <a:gd name="adj" fmla="val 5714"/>
            </a:avLst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C5B37-0234-4A88-9717-289BF48FEC07}"/>
              </a:ext>
            </a:extLst>
          </p:cNvPr>
          <p:cNvSpPr>
            <a:spLocks noGrp="1"/>
          </p:cNvSpPr>
          <p:nvPr/>
        </p:nvSpPr>
        <p:spPr>
          <a:xfrm>
            <a:off x="933450" y="2514600"/>
            <a:ext cx="2114550" cy="4191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2563EB"/>
                </a:solidFill>
              </a:defRPr>
            </a:pPr>
            <a:r>
              <a:rPr sz="1950" b="1">
                <a:solidFill>
                  <a:srgbClr val="2563EB"/>
                </a:solidFill>
              </a:rPr>
              <a:t>Tạo payload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03961AA1-EC4E-4587-8F3A-A721DBD0CAF9}"/>
              </a:ext>
            </a:extLst>
          </p:cNvPr>
          <p:cNvSpPr>
            <a:spLocks noGrp="1"/>
          </p:cNvSpPr>
          <p:nvPr/>
        </p:nvSpPr>
        <p:spPr>
          <a:xfrm>
            <a:off x="3314700" y="2667000"/>
            <a:ext cx="1276350" cy="1"/>
          </a:xfrm>
          <a:prstGeom prst="line">
            <a:avLst/>
          </a:prstGeom>
          <a:ln w="38100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6B43C8-1AE8-4943-B743-789034FD1BD1}"/>
              </a:ext>
            </a:extLst>
          </p:cNvPr>
          <p:cNvSpPr>
            <a:spLocks noGrp="1"/>
          </p:cNvSpPr>
          <p:nvPr/>
        </p:nvSpPr>
        <p:spPr>
          <a:xfrm>
            <a:off x="4591050" y="1752600"/>
            <a:ext cx="2990850" cy="1828800"/>
          </a:xfrm>
          <a:prstGeom prst="roundRect">
            <a:avLst>
              <a:gd name="adj" fmla="val 4167"/>
            </a:avLst>
          </a:prstGeom>
          <a:solidFill>
            <a:srgbClr val="EEE9FF"/>
          </a:solidFill>
          <a:ln w="23813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13B481-D80C-4869-B888-B01214A58BAB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2266950" cy="457200"/>
          </a:xfrm>
          <a:prstGeom prst="rect">
            <a:avLst/>
          </a:prstGeom>
        </p:spPr>
        <p:txBody>
          <a:bodyPr anchor="ctr">
            <a:normAutofit fontScale="94118"/>
          </a:bodyPr>
          <a:lstStyle/>
          <a:p>
            <a:pPr algn="ctr">
              <a:lnSpc>
                <a:spcPct val="100000"/>
              </a:lnSpc>
              <a:buNone/>
              <a:defRPr sz="2550" b="1">
                <a:solidFill>
                  <a:srgbClr val="6246B5"/>
                </a:solidFill>
              </a:defRPr>
            </a:pPr>
            <a:r>
              <a:rPr sz="2550" b="1">
                <a:solidFill>
                  <a:srgbClr val="6246B5"/>
                </a:solidFill>
              </a:rPr>
              <a:t>MODEL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703B954-E71C-4FA1-8E5A-1497204F3D5C}"/>
              </a:ext>
            </a:extLst>
          </p:cNvPr>
          <p:cNvSpPr>
            <a:spLocks noGrp="1"/>
          </p:cNvSpPr>
          <p:nvPr/>
        </p:nvSpPr>
        <p:spPr>
          <a:xfrm>
            <a:off x="7600950" y="2667001"/>
            <a:ext cx="1200150" cy="0"/>
          </a:xfrm>
          <a:prstGeom prst="line">
            <a:avLst/>
          </a:prstGeom>
          <a:ln w="38100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53AA0A-BF57-46AE-AAD0-057AE3F3A549}"/>
              </a:ext>
            </a:extLst>
          </p:cNvPr>
          <p:cNvSpPr>
            <a:spLocks noGrp="1"/>
          </p:cNvSpPr>
          <p:nvPr/>
        </p:nvSpPr>
        <p:spPr>
          <a:xfrm>
            <a:off x="8801100" y="2000250"/>
            <a:ext cx="2705100" cy="1333500"/>
          </a:xfrm>
          <a:prstGeom prst="roundRect">
            <a:avLst>
              <a:gd name="adj" fmla="val 5714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A6EF71-C3B1-498D-B045-08B21C37C085}"/>
              </a:ext>
            </a:extLst>
          </p:cNvPr>
          <p:cNvSpPr>
            <a:spLocks noGrp="1"/>
          </p:cNvSpPr>
          <p:nvPr/>
        </p:nvSpPr>
        <p:spPr>
          <a:xfrm>
            <a:off x="9048750" y="2514600"/>
            <a:ext cx="2209800" cy="4191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Xử lý response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A87B8A85-09ED-4611-A6E9-B04BA9E6802C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CB45AD5-453C-4AF3-9253-A117E753964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MODEL → HARNESS → AGENT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948433-1B8C-4B36-82BB-1A48DA861968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7 / 21</a:t>
            </a:r>
          </a:p>
        </p:txBody>
      </p:sp>
      <p:sp>
        <p:nvSpPr>
          <p:cNvPr id="31" name="agent-boundary">
            <a:extLst>
              <a:ext uri="{FF2B5EF4-FFF2-40B4-BE49-F238E27FC236}">
                <a16:creationId xmlns:a16="http://schemas.microsoft.com/office/drawing/2014/main" id="{2E297298-2919-4FE3-B0D4-FC2CC4732A8F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2381250"/>
          </a:xfrm>
          <a:prstGeom prst="roundRect">
            <a:avLst>
              <a:gd name="adj" fmla="val 4800"/>
            </a:avLst>
          </a:prstGeom>
          <a:noFill/>
          <a:ln w="14288">
            <a:solidFill>
              <a:srgbClr val="A9B7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agent-boundary-label">
            <a:extLst>
              <a:ext uri="{FF2B5EF4-FFF2-40B4-BE49-F238E27FC236}">
                <a16:creationId xmlns:a16="http://schemas.microsoft.com/office/drawing/2014/main" id="{B168DD62-C1EF-46CE-BA52-C59284603B3B}"/>
              </a:ext>
            </a:extLst>
          </p:cNvPr>
          <p:cNvSpPr>
            <a:spLocks noGrp="1"/>
          </p:cNvSpPr>
          <p:nvPr/>
        </p:nvSpPr>
        <p:spPr>
          <a:xfrm>
            <a:off x="5600700" y="1323975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sz="1125" b="1" dirty="0">
                <a:solidFill>
                  <a:srgbClr val="6246B5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33" name="left-harness-label">
            <a:extLst>
              <a:ext uri="{FF2B5EF4-FFF2-40B4-BE49-F238E27FC236}">
                <a16:creationId xmlns:a16="http://schemas.microsoft.com/office/drawing/2014/main" id="{EE3BF910-E19F-4CC3-B0C6-4FE5A811E1AB}"/>
              </a:ext>
            </a:extLst>
          </p:cNvPr>
          <p:cNvSpPr>
            <a:spLocks noGrp="1"/>
          </p:cNvSpPr>
          <p:nvPr/>
        </p:nvSpPr>
        <p:spPr>
          <a:xfrm>
            <a:off x="933450" y="2190750"/>
            <a:ext cx="2114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050" b="1">
                <a:solidFill>
                  <a:srgbClr val="2563EB"/>
                </a:solidFill>
                <a:latin typeface="Calibri"/>
                <a:ea typeface="Calibri"/>
                <a:cs typeface="Calibri"/>
              </a:defRPr>
            </a:pPr>
            <a:r>
              <a:rPr sz="1050" b="1" dirty="0">
                <a:solidFill>
                  <a:srgbClr val="2563EB"/>
                </a:solidFill>
                <a:latin typeface="Calibri"/>
                <a:ea typeface="Calibri"/>
                <a:cs typeface="Calibri"/>
              </a:rPr>
              <a:t>HARNESS</a:t>
            </a:r>
          </a:p>
        </p:txBody>
      </p:sp>
      <p:sp>
        <p:nvSpPr>
          <p:cNvPr id="34" name="right-harness-label">
            <a:extLst>
              <a:ext uri="{FF2B5EF4-FFF2-40B4-BE49-F238E27FC236}">
                <a16:creationId xmlns:a16="http://schemas.microsoft.com/office/drawing/2014/main" id="{3FB60E45-CC55-407E-BE63-1994AB0C8435}"/>
              </a:ext>
            </a:extLst>
          </p:cNvPr>
          <p:cNvSpPr>
            <a:spLocks noGrp="1"/>
          </p:cNvSpPr>
          <p:nvPr/>
        </p:nvSpPr>
        <p:spPr>
          <a:xfrm>
            <a:off x="9048750" y="2190750"/>
            <a:ext cx="2209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050" b="1">
                <a:solidFill>
                  <a:srgbClr val="0E9AA7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0E9AA7"/>
                </a:solidFill>
                <a:latin typeface="Calibri"/>
                <a:ea typeface="Calibri"/>
                <a:cs typeface="Calibri"/>
              </a:rPr>
              <a:t>HARNESS</a:t>
            </a:r>
          </a:p>
        </p:txBody>
      </p:sp>
      <p:sp>
        <p:nvSpPr>
          <p:cNvPr id="35" name="payload-edge-label">
            <a:extLst>
              <a:ext uri="{FF2B5EF4-FFF2-40B4-BE49-F238E27FC236}">
                <a16:creationId xmlns:a16="http://schemas.microsoft.com/office/drawing/2014/main" id="{4B872311-F362-430D-9B3A-D37FD5D1630F}"/>
              </a:ext>
            </a:extLst>
          </p:cNvPr>
          <p:cNvSpPr>
            <a:spLocks noGrp="1"/>
          </p:cNvSpPr>
          <p:nvPr/>
        </p:nvSpPr>
        <p:spPr>
          <a:xfrm>
            <a:off x="3352800" y="2343150"/>
            <a:ext cx="1123950" cy="2286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975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75" b="1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PAYLOAD</a:t>
            </a:r>
          </a:p>
        </p:txBody>
      </p:sp>
      <p:sp>
        <p:nvSpPr>
          <p:cNvPr id="36" name="response-edge-label">
            <a:extLst>
              <a:ext uri="{FF2B5EF4-FFF2-40B4-BE49-F238E27FC236}">
                <a16:creationId xmlns:a16="http://schemas.microsoft.com/office/drawing/2014/main" id="{51A47825-B9EB-4311-AB28-BABF3458854C}"/>
              </a:ext>
            </a:extLst>
          </p:cNvPr>
          <p:cNvSpPr>
            <a:spLocks noGrp="1"/>
          </p:cNvSpPr>
          <p:nvPr/>
        </p:nvSpPr>
        <p:spPr>
          <a:xfrm>
            <a:off x="7600950" y="2190750"/>
            <a:ext cx="1123950" cy="400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RESPONSE /</a:t>
            </a:r>
          </a:p>
          <a:p>
            <a:pPr algn="ctr">
              <a:defRPr sz="900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 INTENT</a:t>
            </a:r>
          </a:p>
        </p:txBody>
      </p:sp>
      <p:sp>
        <p:nvSpPr>
          <p:cNvPr id="37" name="harness-examples-heading">
            <a:extLst>
              <a:ext uri="{FF2B5EF4-FFF2-40B4-BE49-F238E27FC236}">
                <a16:creationId xmlns:a16="http://schemas.microsoft.com/office/drawing/2014/main" id="{9F8BE2C0-EA00-4F26-91BB-08A17AA23B2D}"/>
              </a:ext>
            </a:extLst>
          </p:cNvPr>
          <p:cNvSpPr>
            <a:spLocks noGrp="1"/>
          </p:cNvSpPr>
          <p:nvPr/>
        </p:nvSpPr>
        <p:spPr>
          <a:xfrm>
            <a:off x="665344" y="4305300"/>
            <a:ext cx="903916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125" b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</a:t>
            </a:r>
            <a:r>
              <a:rPr sz="1125" b="1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oding-agent</a:t>
            </a:r>
          </a:p>
        </p:txBody>
      </p:sp>
      <p:sp>
        <p:nvSpPr>
          <p:cNvPr id="38" name="harness-claude-code">
            <a:extLst>
              <a:ext uri="{FF2B5EF4-FFF2-40B4-BE49-F238E27FC236}">
                <a16:creationId xmlns:a16="http://schemas.microsoft.com/office/drawing/2014/main" id="{AA9CB6AC-6DF7-4925-8552-CBEDF4763311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2860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3" name="Graphic 7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57250" y="4924425"/>
            <a:ext cx="361950" cy="361950"/>
          </a:xfrm>
          <a:prstGeom prst="rect">
            <a:avLst/>
          </a:prstGeom>
        </p:spPr>
      </p:pic>
      <p:sp>
        <p:nvSpPr>
          <p:cNvPr id="40" name="harness-name-claude-code">
            <a:extLst>
              <a:ext uri="{FF2B5EF4-FFF2-40B4-BE49-F238E27FC236}">
                <a16:creationId xmlns:a16="http://schemas.microsoft.com/office/drawing/2014/main" id="{FAB90B50-2445-49F9-9755-E5806E85C83A}"/>
              </a:ext>
            </a:extLst>
          </p:cNvPr>
          <p:cNvSpPr>
            <a:spLocks noGrp="1"/>
          </p:cNvSpPr>
          <p:nvPr/>
        </p:nvSpPr>
        <p:spPr>
          <a:xfrm>
            <a:off x="1333500" y="487680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0182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1827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41" name="harness-codex">
            <a:extLst>
              <a:ext uri="{FF2B5EF4-FFF2-40B4-BE49-F238E27FC236}">
                <a16:creationId xmlns:a16="http://schemas.microsoft.com/office/drawing/2014/main" id="{59D4D8E1-AA21-4761-9787-F65FC00E140C}"/>
              </a:ext>
            </a:extLst>
          </p:cNvPr>
          <p:cNvSpPr>
            <a:spLocks noGrp="1"/>
          </p:cNvSpPr>
          <p:nvPr/>
        </p:nvSpPr>
        <p:spPr>
          <a:xfrm>
            <a:off x="4953000" y="4762500"/>
            <a:ext cx="22860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6" name="Graphic 7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124450" y="4924425"/>
            <a:ext cx="361950" cy="361950"/>
          </a:xfrm>
          <a:prstGeom prst="rect">
            <a:avLst/>
          </a:prstGeom>
        </p:spPr>
      </p:pic>
      <p:sp>
        <p:nvSpPr>
          <p:cNvPr id="43" name="harness-name-codex">
            <a:extLst>
              <a:ext uri="{FF2B5EF4-FFF2-40B4-BE49-F238E27FC236}">
                <a16:creationId xmlns:a16="http://schemas.microsoft.com/office/drawing/2014/main" id="{93D70906-E27A-44EB-8CEA-7C815CE52EBD}"/>
              </a:ext>
            </a:extLst>
          </p:cNvPr>
          <p:cNvSpPr>
            <a:spLocks noGrp="1"/>
          </p:cNvSpPr>
          <p:nvPr/>
        </p:nvSpPr>
        <p:spPr>
          <a:xfrm>
            <a:off x="5600700" y="487680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0182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1827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44" name="harness-gemini-cli">
            <a:extLst>
              <a:ext uri="{FF2B5EF4-FFF2-40B4-BE49-F238E27FC236}">
                <a16:creationId xmlns:a16="http://schemas.microsoft.com/office/drawing/2014/main" id="{2D167804-3FC4-4C2E-86C8-180D9DFBEB27}"/>
              </a:ext>
            </a:extLst>
          </p:cNvPr>
          <p:cNvSpPr>
            <a:spLocks noGrp="1"/>
          </p:cNvSpPr>
          <p:nvPr/>
        </p:nvSpPr>
        <p:spPr>
          <a:xfrm>
            <a:off x="9105900" y="4762500"/>
            <a:ext cx="228600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4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9" name="Graphic 7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277350" y="4924425"/>
            <a:ext cx="361950" cy="361950"/>
          </a:xfrm>
          <a:prstGeom prst="rect">
            <a:avLst/>
          </a:prstGeom>
        </p:spPr>
      </p:pic>
      <p:sp>
        <p:nvSpPr>
          <p:cNvPr id="46" name="harness-name-gemini-cli">
            <a:extLst>
              <a:ext uri="{FF2B5EF4-FFF2-40B4-BE49-F238E27FC236}">
                <a16:creationId xmlns:a16="http://schemas.microsoft.com/office/drawing/2014/main" id="{D1FCD762-8194-490C-8DDD-115A21A63B1D}"/>
              </a:ext>
            </a:extLst>
          </p:cNvPr>
          <p:cNvSpPr>
            <a:spLocks noGrp="1"/>
          </p:cNvSpPr>
          <p:nvPr/>
        </p:nvSpPr>
        <p:spPr>
          <a:xfrm>
            <a:off x="9753600" y="487680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01827"/>
                </a:solidFill>
                <a:latin typeface="Calibri"/>
                <a:ea typeface="Calibri"/>
                <a:cs typeface="Calibri"/>
              </a:defRPr>
            </a:pPr>
            <a:r>
              <a:rPr sz="1350" b="1" dirty="0">
                <a:solidFill>
                  <a:srgbClr val="101827"/>
                </a:solidFill>
                <a:latin typeface="Calibri"/>
                <a:ea typeface="Calibri"/>
                <a:cs typeface="Calibri"/>
              </a:rPr>
              <a:t>Gemini CLI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35A2A675-B503-4715-B068-F7263705F7CA}"/>
              </a:ext>
            </a:extLst>
          </p:cNvPr>
          <p:cNvCxnSpPr>
            <a:stCxn id="11" idx="2"/>
            <a:endCxn id="5" idx="2"/>
          </p:cNvCxnSpPr>
          <p:nvPr/>
        </p:nvCxnSpPr>
        <p:spPr>
          <a:xfrm rot="5400000">
            <a:off x="6072188" y="-747712"/>
            <a:ext cx="12700" cy="8162925"/>
          </a:xfrm>
          <a:prstGeom prst="bentConnector3">
            <a:avLst>
              <a:gd name="adj1" fmla="val 291140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08002FA-0C46-B906-CC73-5873562EE5B4}"/>
              </a:ext>
            </a:extLst>
          </p:cNvPr>
          <p:cNvCxnSpPr>
            <a:cxnSpLocks/>
            <a:stCxn id="11" idx="0"/>
            <a:endCxn id="57" idx="2"/>
          </p:cNvCxnSpPr>
          <p:nvPr/>
        </p:nvCxnSpPr>
        <p:spPr>
          <a:xfrm flipV="1">
            <a:off x="10153650" y="1394869"/>
            <a:ext cx="6351" cy="60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8826851-4C71-146F-6D38-B2A9075FC3C9}"/>
              </a:ext>
            </a:extLst>
          </p:cNvPr>
          <p:cNvSpPr txBox="1"/>
          <p:nvPr/>
        </p:nvSpPr>
        <p:spPr>
          <a:xfrm>
            <a:off x="2062003" y="1323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5" name="agent-boundary-label">
            <a:extLst>
              <a:ext uri="{FF2B5EF4-FFF2-40B4-BE49-F238E27FC236}">
                <a16:creationId xmlns:a16="http://schemas.microsoft.com/office/drawing/2014/main" id="{4C38A0A6-26B4-45C0-2BBA-2F2497CD02D8}"/>
              </a:ext>
            </a:extLst>
          </p:cNvPr>
          <p:cNvSpPr>
            <a:spLocks noGrp="1"/>
          </p:cNvSpPr>
          <p:nvPr/>
        </p:nvSpPr>
        <p:spPr>
          <a:xfrm>
            <a:off x="1495425" y="1126954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agent-boundary-label">
            <a:extLst>
              <a:ext uri="{FF2B5EF4-FFF2-40B4-BE49-F238E27FC236}">
                <a16:creationId xmlns:a16="http://schemas.microsoft.com/office/drawing/2014/main" id="{F9C3E330-03F8-F8E9-3C78-0D1D7C720E10}"/>
              </a:ext>
            </a:extLst>
          </p:cNvPr>
          <p:cNvSpPr>
            <a:spLocks noGrp="1"/>
          </p:cNvSpPr>
          <p:nvPr/>
        </p:nvSpPr>
        <p:spPr>
          <a:xfrm>
            <a:off x="9664701" y="1128169"/>
            <a:ext cx="990600" cy="26670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6246B5"/>
                </a:solidFill>
                <a:latin typeface="Calibri"/>
                <a:ea typeface="Calibri"/>
                <a:cs typeface="Calibri"/>
              </a:defRPr>
            </a:pPr>
            <a:r>
              <a:rPr lang="en-US" sz="1125" b="1" dirty="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User</a:t>
            </a:r>
            <a:endParaRPr sz="1125" b="1" dirty="0">
              <a:solidFill>
                <a:schemeClr val="accent6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1247378-B4FD-2DE0-54D9-21DC6344C6FC}"/>
              </a:ext>
            </a:extLst>
          </p:cNvPr>
          <p:cNvCxnSpPr>
            <a:stCxn id="55" idx="2"/>
            <a:endCxn id="5" idx="0"/>
          </p:cNvCxnSpPr>
          <p:nvPr/>
        </p:nvCxnSpPr>
        <p:spPr>
          <a:xfrm>
            <a:off x="1990725" y="1393654"/>
            <a:ext cx="0" cy="606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22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F1C5AAAA-2F6C-4C9E-821A-CF3477A0A5E6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HARNESS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821DC2-2A68-4721-8417-F93FBD36E1C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775" b="1">
                <a:solidFill>
                  <a:srgbClr val="101827"/>
                </a:solidFill>
              </a:rPr>
              <a:t>Harness biến model thành agent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6D856EB-9462-424E-A329-119E9A2D8C62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4FBCA5-52D3-4FB4-BD6F-57997EAC817F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0</a:t>
            </a:r>
            <a:r>
              <a:rPr lang="en-US" sz="1050" b="1" dirty="0">
                <a:solidFill>
                  <a:srgbClr val="64748B"/>
                </a:solidFill>
              </a:rPr>
              <a:t>8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1950E6-A9B1-421A-9FAF-D91EAF2A5500}"/>
              </a:ext>
            </a:extLst>
          </p:cNvPr>
          <p:cNvSpPr>
            <a:spLocks noGrp="1"/>
          </p:cNvSpPr>
          <p:nvPr/>
        </p:nvSpPr>
        <p:spPr>
          <a:xfrm>
            <a:off x="495300" y="1257300"/>
            <a:ext cx="11201400" cy="304800"/>
          </a:xfrm>
          <a:prstGeom prst="rect">
            <a:avLst/>
          </a:prstGeom>
        </p:spPr>
        <p:txBody>
          <a:bodyPr anchor="ctr">
            <a:normAutofit fontScale="96389" lnSpcReduction="10000"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Phần mềm nằm giữa người dùng, model và môi trường làm việc.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6F2670-A9B4-439E-82F1-351156C33A0C}"/>
              </a:ext>
            </a:extLst>
          </p:cNvPr>
          <p:cNvSpPr>
            <a:spLocks noGrp="1"/>
          </p:cNvSpPr>
          <p:nvPr/>
        </p:nvSpPr>
        <p:spPr>
          <a:xfrm>
            <a:off x="2095500" y="1771650"/>
            <a:ext cx="8001000" cy="3015142"/>
          </a:xfrm>
          <a:prstGeom prst="roundRect">
            <a:avLst>
              <a:gd name="adj" fmla="val 2020"/>
            </a:avLst>
          </a:prstGeom>
          <a:solidFill>
            <a:srgbClr val="FCFDFE"/>
          </a:solidFill>
          <a:ln w="23813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71ACF-B8EC-4E12-92B1-37A965F5CA62}"/>
              </a:ext>
            </a:extLst>
          </p:cNvPr>
          <p:cNvSpPr>
            <a:spLocks noGrp="1"/>
          </p:cNvSpPr>
          <p:nvPr/>
        </p:nvSpPr>
        <p:spPr>
          <a:xfrm>
            <a:off x="2381250" y="1885950"/>
            <a:ext cx="74295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425" b="1">
                <a:solidFill>
                  <a:srgbClr val="6246B5"/>
                </a:solidFill>
              </a:rPr>
              <a:t>HARNESS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793D0-E4C8-4D6F-827C-0663EFA18927}"/>
              </a:ext>
            </a:extLst>
          </p:cNvPr>
          <p:cNvSpPr>
            <a:spLocks noGrp="1"/>
          </p:cNvSpPr>
          <p:nvPr/>
        </p:nvSpPr>
        <p:spPr>
          <a:xfrm>
            <a:off x="2400300" y="238125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A20ABA-EB4D-44FF-B7EB-F5962C529EA8}"/>
              </a:ext>
            </a:extLst>
          </p:cNvPr>
          <p:cNvSpPr>
            <a:spLocks noGrp="1"/>
          </p:cNvSpPr>
          <p:nvPr/>
        </p:nvSpPr>
        <p:spPr>
          <a:xfrm>
            <a:off x="2533650" y="249555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Task / UI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E004ED-CAF0-4660-ACD7-39260AC7FA41}"/>
              </a:ext>
            </a:extLst>
          </p:cNvPr>
          <p:cNvSpPr>
            <a:spLocks noGrp="1"/>
          </p:cNvSpPr>
          <p:nvPr/>
        </p:nvSpPr>
        <p:spPr>
          <a:xfrm>
            <a:off x="2514600" y="283845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 dirty="0">
                <a:solidFill>
                  <a:srgbClr val="64748B"/>
                </a:solidFill>
              </a:rPr>
              <a:t>Nhận </a:t>
            </a:r>
            <a:r>
              <a:rPr sz="1050" b="0" dirty="0" err="1">
                <a:solidFill>
                  <a:srgbClr val="64748B"/>
                </a:solidFill>
              </a:rPr>
              <a:t>yêu</a:t>
            </a:r>
            <a:r>
              <a:rPr sz="1050" b="0" dirty="0">
                <a:solidFill>
                  <a:srgbClr val="64748B"/>
                </a:solidFill>
              </a:rPr>
              <a:t> </a:t>
            </a:r>
            <a:r>
              <a:rPr sz="1050" b="0" dirty="0" err="1">
                <a:solidFill>
                  <a:srgbClr val="64748B"/>
                </a:solidFill>
              </a:rPr>
              <a:t>cầu</a:t>
            </a:r>
            <a:r>
              <a:rPr sz="1050" b="0" dirty="0">
                <a:solidFill>
                  <a:srgbClr val="64748B"/>
                </a:solidFill>
              </a:rPr>
              <a:t> · </a:t>
            </a:r>
            <a:r>
              <a:rPr sz="1050" b="0" dirty="0" err="1">
                <a:solidFill>
                  <a:srgbClr val="64748B"/>
                </a:solidFill>
              </a:rPr>
              <a:t>trả</a:t>
            </a:r>
            <a:r>
              <a:rPr sz="1050" b="0" dirty="0">
                <a:solidFill>
                  <a:srgbClr val="64748B"/>
                </a:solidFill>
              </a:rPr>
              <a:t> </a:t>
            </a:r>
            <a:r>
              <a:rPr sz="1050" b="0" dirty="0" err="1">
                <a:solidFill>
                  <a:srgbClr val="64748B"/>
                </a:solidFill>
              </a:rPr>
              <a:t>kết</a:t>
            </a:r>
            <a:r>
              <a:rPr sz="1050" b="0" dirty="0">
                <a:solidFill>
                  <a:srgbClr val="64748B"/>
                </a:solidFill>
              </a:rPr>
              <a:t> </a:t>
            </a:r>
            <a:r>
              <a:rPr sz="1050" b="0" dirty="0" err="1">
                <a:solidFill>
                  <a:srgbClr val="64748B"/>
                </a:solidFill>
              </a:rPr>
              <a:t>quả</a:t>
            </a:r>
            <a:endParaRPr sz="1050" b="0" dirty="0">
              <a:solidFill>
                <a:srgbClr val="64748B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6E0CBC-24DF-4DBD-BC4E-A7EEDB1D765D}"/>
              </a:ext>
            </a:extLst>
          </p:cNvPr>
          <p:cNvSpPr>
            <a:spLocks noGrp="1"/>
          </p:cNvSpPr>
          <p:nvPr/>
        </p:nvSpPr>
        <p:spPr>
          <a:xfrm>
            <a:off x="4914900" y="238125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6833CA-4A42-42A0-8F3D-72268FA698C7}"/>
              </a:ext>
            </a:extLst>
          </p:cNvPr>
          <p:cNvSpPr>
            <a:spLocks noGrp="1"/>
          </p:cNvSpPr>
          <p:nvPr/>
        </p:nvSpPr>
        <p:spPr>
          <a:xfrm>
            <a:off x="5048250" y="249555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0E9AA7"/>
                </a:solidFill>
              </a:defRPr>
            </a:pPr>
            <a:r>
              <a:rPr sz="1350" b="1">
                <a:solidFill>
                  <a:srgbClr val="0E9AA7"/>
                </a:solidFill>
              </a:rPr>
              <a:t>Context builder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A279DC-D30C-40A1-8CF0-BA34FCA69E2E}"/>
              </a:ext>
            </a:extLst>
          </p:cNvPr>
          <p:cNvSpPr>
            <a:spLocks noGrp="1"/>
          </p:cNvSpPr>
          <p:nvPr/>
        </p:nvSpPr>
        <p:spPr>
          <a:xfrm>
            <a:off x="5029200" y="283845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Lắp instructions · files · history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A0C597F-6800-47E7-82DC-14785201A47A}"/>
              </a:ext>
            </a:extLst>
          </p:cNvPr>
          <p:cNvSpPr>
            <a:spLocks noGrp="1"/>
          </p:cNvSpPr>
          <p:nvPr/>
        </p:nvSpPr>
        <p:spPr>
          <a:xfrm>
            <a:off x="7429500" y="238125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6273A2-9007-4392-835E-5FF79EBB63F8}"/>
              </a:ext>
            </a:extLst>
          </p:cNvPr>
          <p:cNvSpPr>
            <a:spLocks noGrp="1"/>
          </p:cNvSpPr>
          <p:nvPr/>
        </p:nvSpPr>
        <p:spPr>
          <a:xfrm>
            <a:off x="7562850" y="249555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350" b="1">
                <a:solidFill>
                  <a:srgbClr val="6246B5"/>
                </a:solidFill>
              </a:rPr>
              <a:t>Model interface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214E97-5056-4A25-8324-63F6346CC340}"/>
              </a:ext>
            </a:extLst>
          </p:cNvPr>
          <p:cNvSpPr>
            <a:spLocks noGrp="1"/>
          </p:cNvSpPr>
          <p:nvPr/>
        </p:nvSpPr>
        <p:spPr>
          <a:xfrm>
            <a:off x="7543800" y="283845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Gửi request · nhận response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83CDFF1-E74E-4A6B-8F0E-B39187E57CF1}"/>
              </a:ext>
            </a:extLst>
          </p:cNvPr>
          <p:cNvSpPr>
            <a:spLocks noGrp="1"/>
          </p:cNvSpPr>
          <p:nvPr/>
        </p:nvSpPr>
        <p:spPr>
          <a:xfrm>
            <a:off x="2400300" y="358140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F069AF-A90F-4C86-81D6-2BF6364B7A09}"/>
              </a:ext>
            </a:extLst>
          </p:cNvPr>
          <p:cNvSpPr>
            <a:spLocks noGrp="1"/>
          </p:cNvSpPr>
          <p:nvPr/>
        </p:nvSpPr>
        <p:spPr>
          <a:xfrm>
            <a:off x="2533650" y="369570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Tool controller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2A1080-ED71-412D-8483-39C284C08D99}"/>
              </a:ext>
            </a:extLst>
          </p:cNvPr>
          <p:cNvSpPr>
            <a:spLocks noGrp="1"/>
          </p:cNvSpPr>
          <p:nvPr/>
        </p:nvSpPr>
        <p:spPr>
          <a:xfrm>
            <a:off x="2514600" y="4038600"/>
            <a:ext cx="2038350" cy="323850"/>
          </a:xfrm>
          <a:prstGeom prst="rect">
            <a:avLst/>
          </a:prstGeom>
        </p:spPr>
        <p:txBody>
          <a:bodyPr anchor="ctr">
            <a:normAutofit fontScale="96318"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Validate · chạy tool · thu kết quả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B5AC21C-ECC7-4201-B9D2-4919F3DD4889}"/>
              </a:ext>
            </a:extLst>
          </p:cNvPr>
          <p:cNvSpPr>
            <a:spLocks noGrp="1"/>
          </p:cNvSpPr>
          <p:nvPr/>
        </p:nvSpPr>
        <p:spPr>
          <a:xfrm>
            <a:off x="4914900" y="358140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240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1CA6B5-FE8C-4F6E-BA86-0ED131F24603}"/>
              </a:ext>
            </a:extLst>
          </p:cNvPr>
          <p:cNvSpPr>
            <a:spLocks noGrp="1"/>
          </p:cNvSpPr>
          <p:nvPr/>
        </p:nvSpPr>
        <p:spPr>
          <a:xfrm>
            <a:off x="5048250" y="369570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0E9AA7"/>
                </a:solidFill>
              </a:defRPr>
            </a:pPr>
            <a:r>
              <a:rPr sz="1350" b="1">
                <a:solidFill>
                  <a:srgbClr val="0E9AA7"/>
                </a:solidFill>
              </a:rPr>
              <a:t>Context manager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3247F1-0FB4-437F-B835-97C4914C3374}"/>
              </a:ext>
            </a:extLst>
          </p:cNvPr>
          <p:cNvSpPr>
            <a:spLocks noGrp="1"/>
          </p:cNvSpPr>
          <p:nvPr/>
        </p:nvSpPr>
        <p:spPr>
          <a:xfrm>
            <a:off x="5029200" y="4038600"/>
            <a:ext cx="203835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Append · prune · compact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8BC511C-AA76-4E1A-ACF0-7DCB6BDAED0A}"/>
              </a:ext>
            </a:extLst>
          </p:cNvPr>
          <p:cNvSpPr>
            <a:spLocks noGrp="1"/>
          </p:cNvSpPr>
          <p:nvPr/>
        </p:nvSpPr>
        <p:spPr>
          <a:xfrm>
            <a:off x="7429500" y="3581400"/>
            <a:ext cx="2266950" cy="933450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5240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C3FB7E-A502-4BF0-9104-E6BF80635D8D}"/>
              </a:ext>
            </a:extLst>
          </p:cNvPr>
          <p:cNvSpPr>
            <a:spLocks noGrp="1"/>
          </p:cNvSpPr>
          <p:nvPr/>
        </p:nvSpPr>
        <p:spPr>
          <a:xfrm>
            <a:off x="7562850" y="3695700"/>
            <a:ext cx="2000250" cy="266700"/>
          </a:xfrm>
          <a:prstGeom prst="rect">
            <a:avLst/>
          </a:prstGeom>
        </p:spPr>
        <p:txBody>
          <a:bodyPr anchor="ctr">
            <a:normAutofit fontScale="85185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Session manager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4F960D0-5CFF-43E9-829A-50FC5039F20A}"/>
              </a:ext>
            </a:extLst>
          </p:cNvPr>
          <p:cNvSpPr>
            <a:spLocks noGrp="1"/>
          </p:cNvSpPr>
          <p:nvPr/>
        </p:nvSpPr>
        <p:spPr>
          <a:xfrm>
            <a:off x="7543800" y="4038600"/>
            <a:ext cx="2038350" cy="323850"/>
          </a:xfrm>
          <a:prstGeom prst="rect">
            <a:avLst/>
          </a:prstGeom>
        </p:spPr>
        <p:txBody>
          <a:bodyPr anchor="ctr">
            <a:normAutofit fontScale="96578"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Boundary · compact · restart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E9A6BF4-39E6-425F-B4DC-A44CE525BBB1}"/>
              </a:ext>
            </a:extLst>
          </p:cNvPr>
          <p:cNvSpPr>
            <a:spLocks noGrp="1"/>
          </p:cNvSpPr>
          <p:nvPr/>
        </p:nvSpPr>
        <p:spPr>
          <a:xfrm>
            <a:off x="2571750" y="4992053"/>
            <a:ext cx="70485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8C672F-DBEA-44C0-80E1-410BBC214927}"/>
              </a:ext>
            </a:extLst>
          </p:cNvPr>
          <p:cNvSpPr>
            <a:spLocks noGrp="1"/>
          </p:cNvSpPr>
          <p:nvPr/>
        </p:nvSpPr>
        <p:spPr>
          <a:xfrm>
            <a:off x="2762250" y="5058728"/>
            <a:ext cx="66675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425" b="1" dirty="0">
                <a:solidFill>
                  <a:srgbClr val="6246B5"/>
                </a:solidFill>
              </a:rPr>
              <a:t>Harness </a:t>
            </a:r>
            <a:r>
              <a:rPr sz="1425" b="1" dirty="0" err="1">
                <a:solidFill>
                  <a:srgbClr val="6246B5"/>
                </a:solidFill>
              </a:rPr>
              <a:t>quyết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định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gửi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gì</a:t>
            </a:r>
            <a:r>
              <a:rPr sz="1425" b="1" dirty="0">
                <a:solidFill>
                  <a:srgbClr val="6246B5"/>
                </a:solidFill>
              </a:rPr>
              <a:t>, </a:t>
            </a:r>
            <a:r>
              <a:rPr sz="1425" b="1" dirty="0" err="1">
                <a:solidFill>
                  <a:srgbClr val="6246B5"/>
                </a:solidFill>
              </a:rPr>
              <a:t>gọi</a:t>
            </a:r>
            <a:r>
              <a:rPr sz="1425" b="1" dirty="0">
                <a:solidFill>
                  <a:srgbClr val="6246B5"/>
                </a:solidFill>
              </a:rPr>
              <a:t> model </a:t>
            </a:r>
            <a:r>
              <a:rPr sz="1425" b="1" dirty="0" err="1">
                <a:solidFill>
                  <a:srgbClr val="6246B5"/>
                </a:solidFill>
              </a:rPr>
              <a:t>khi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nào</a:t>
            </a:r>
            <a:r>
              <a:rPr sz="1425" b="1" dirty="0">
                <a:solidFill>
                  <a:srgbClr val="6246B5"/>
                </a:solidFill>
              </a:rPr>
              <a:t> và </a:t>
            </a:r>
            <a:r>
              <a:rPr sz="1425" b="1" dirty="0" err="1">
                <a:solidFill>
                  <a:srgbClr val="6246B5"/>
                </a:solidFill>
              </a:rPr>
              <a:t>giữ</a:t>
            </a:r>
            <a:r>
              <a:rPr sz="1425" b="1" dirty="0">
                <a:solidFill>
                  <a:srgbClr val="6246B5"/>
                </a:solidFill>
              </a:rPr>
              <a:t> lại </a:t>
            </a:r>
            <a:r>
              <a:rPr sz="1425" b="1" dirty="0" err="1">
                <a:solidFill>
                  <a:srgbClr val="6246B5"/>
                </a:solidFill>
              </a:rPr>
              <a:t>điều</a:t>
            </a:r>
            <a:r>
              <a:rPr sz="1425" b="1" dirty="0">
                <a:solidFill>
                  <a:srgbClr val="6246B5"/>
                </a:solidFill>
              </a:rPr>
              <a:t> </a:t>
            </a:r>
            <a:r>
              <a:rPr sz="1425" b="1" dirty="0" err="1">
                <a:solidFill>
                  <a:srgbClr val="6246B5"/>
                </a:solidFill>
              </a:rPr>
              <a:t>gì</a:t>
            </a:r>
            <a:r>
              <a:rPr sz="1425" b="1" dirty="0">
                <a:solidFill>
                  <a:srgbClr val="6246B5"/>
                </a:solidFill>
              </a:rPr>
              <a:t>.</a:t>
            </a:r>
          </a:p>
        </p:txBody>
      </p:sp>
      <p:sp>
        <p:nvSpPr>
          <p:cNvPr id="30" name="Straight Connector 29">
            <a:extLst>
              <a:ext uri="{FF2B5EF4-FFF2-40B4-BE49-F238E27FC236}">
                <a16:creationId xmlns:a16="http://schemas.microsoft.com/office/drawing/2014/main" id="{5A9FC6AB-C2A0-4869-892D-3C388EC3084A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463D12-F15E-4774-AB14-762350808DA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HARNESS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20A96CE-313F-41C0-9D47-6F14E546E325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b="0" dirty="0">
                <a:solidFill>
                  <a:srgbClr val="64748B"/>
                </a:solidFill>
              </a:rPr>
              <a:t>8</a:t>
            </a:r>
            <a:r>
              <a:rPr sz="900" b="0" dirty="0">
                <a:solidFill>
                  <a:srgbClr val="64748B"/>
                </a:solidFill>
              </a:rPr>
              <a:t> / 2</a:t>
            </a:r>
            <a:r>
              <a:rPr lang="en-US" sz="900" b="0" dirty="0">
                <a:solidFill>
                  <a:srgbClr val="64748B"/>
                </a:solidFill>
              </a:rPr>
              <a:t>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638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DD3D5D13-F521-407E-8153-6EC978C3CF31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CONTEXT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3EA164-1330-4AF0-9AE0-94D2540975F1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75" b="1" dirty="0">
                <a:solidFill>
                  <a:srgbClr val="101827"/>
                </a:solidFill>
              </a:rPr>
              <a:t>Context window là </a:t>
            </a:r>
            <a:r>
              <a:rPr sz="2175" b="1" dirty="0" err="1">
                <a:solidFill>
                  <a:srgbClr val="101827"/>
                </a:solidFill>
              </a:rPr>
              <a:t>bộ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nhớ</a:t>
            </a:r>
            <a:r>
              <a:rPr sz="2175" b="1" dirty="0">
                <a:solidFill>
                  <a:srgbClr val="101827"/>
                </a:solidFill>
              </a:rPr>
              <a:t> làm </a:t>
            </a:r>
            <a:r>
              <a:rPr sz="2175" b="1" dirty="0" err="1">
                <a:solidFill>
                  <a:srgbClr val="101827"/>
                </a:solidFill>
              </a:rPr>
              <a:t>việc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của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một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lần</a:t>
            </a:r>
            <a:r>
              <a:rPr sz="2175" b="1" dirty="0">
                <a:solidFill>
                  <a:srgbClr val="101827"/>
                </a:solidFill>
              </a:rPr>
              <a:t> </a:t>
            </a:r>
            <a:r>
              <a:rPr sz="2175" b="1" dirty="0" err="1">
                <a:solidFill>
                  <a:srgbClr val="101827"/>
                </a:solidFill>
              </a:rPr>
              <a:t>gọi</a:t>
            </a:r>
            <a:r>
              <a:rPr sz="2175" b="1" dirty="0">
                <a:solidFill>
                  <a:srgbClr val="101827"/>
                </a:solidFill>
              </a:rPr>
              <a:t> model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17478D1-945C-4B97-BB2A-2C07B728D10F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5BD0EE-BEDF-498B-8B22-8BD807813F94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0</a:t>
            </a:r>
            <a:r>
              <a:rPr lang="en-US" sz="1050" b="1" dirty="0">
                <a:solidFill>
                  <a:srgbClr val="64748B"/>
                </a:solidFill>
              </a:rPr>
              <a:t>9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7EEBD0-5A3B-4239-9A48-F9EDF958F4BD}"/>
              </a:ext>
            </a:extLst>
          </p:cNvPr>
          <p:cNvSpPr>
            <a:spLocks noGrp="1"/>
          </p:cNvSpPr>
          <p:nvPr/>
        </p:nvSpPr>
        <p:spPr>
          <a:xfrm>
            <a:off x="495300" y="1276350"/>
            <a:ext cx="11201400" cy="304800"/>
          </a:xfrm>
          <a:prstGeom prst="rect">
            <a:avLst/>
          </a:prstGeom>
        </p:spPr>
        <p:txBody>
          <a:bodyPr anchor="ctr">
            <a:normAutofit fontScale="96389" lnSpcReduction="10000"/>
          </a:bodyPr>
          <a:lstStyle/>
          <a:p>
            <a:pPr algn="ctr">
              <a:lnSpc>
                <a:spcPct val="100000"/>
              </a:lnSpc>
              <a:buNone/>
              <a:defRPr sz="1575" b="0">
                <a:solidFill>
                  <a:srgbClr val="334155"/>
                </a:solidFill>
              </a:defRPr>
            </a:pPr>
            <a:r>
              <a:rPr lang="en-US" sz="1575" dirty="0">
                <a:solidFill>
                  <a:srgbClr val="334155"/>
                </a:solidFill>
              </a:rPr>
              <a:t>Context window là </a:t>
            </a:r>
            <a:r>
              <a:rPr lang="en-US" sz="1575" dirty="0" err="1">
                <a:solidFill>
                  <a:srgbClr val="334155"/>
                </a:solidFill>
              </a:rPr>
              <a:t>không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gian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giới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hạn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chứa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toàn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bộ</a:t>
            </a:r>
            <a:r>
              <a:rPr lang="en-US" sz="1575" dirty="0">
                <a:solidFill>
                  <a:srgbClr val="334155"/>
                </a:solidFill>
              </a:rPr>
              <a:t> thông tin model </a:t>
            </a:r>
            <a:r>
              <a:rPr lang="en-US" sz="1575" dirty="0" err="1">
                <a:solidFill>
                  <a:srgbClr val="334155"/>
                </a:solidFill>
              </a:rPr>
              <a:t>sử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dụng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trong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một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lần</a:t>
            </a:r>
            <a:r>
              <a:rPr lang="en-US" sz="1575" dirty="0">
                <a:solidFill>
                  <a:srgbClr val="334155"/>
                </a:solidFill>
              </a:rPr>
              <a:t> </a:t>
            </a:r>
            <a:r>
              <a:rPr lang="en-US" sz="1575" dirty="0" err="1">
                <a:solidFill>
                  <a:srgbClr val="334155"/>
                </a:solidFill>
              </a:rPr>
              <a:t>gọi</a:t>
            </a:r>
            <a:r>
              <a:rPr lang="en-US" sz="1575" dirty="0">
                <a:solidFill>
                  <a:srgbClr val="334155"/>
                </a:solidFill>
              </a:rPr>
              <a:t>.</a:t>
            </a:r>
            <a:endParaRPr sz="1575" dirty="0">
              <a:solidFill>
                <a:srgbClr val="334155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9F08E5-2D64-4E82-9764-887D3469DE83}"/>
              </a:ext>
            </a:extLst>
          </p:cNvPr>
          <p:cNvSpPr>
            <a:spLocks noGrp="1"/>
          </p:cNvSpPr>
          <p:nvPr/>
        </p:nvSpPr>
        <p:spPr>
          <a:xfrm>
            <a:off x="495300" y="1981200"/>
            <a:ext cx="1047750" cy="876300"/>
          </a:xfrm>
          <a:prstGeom prst="rect">
            <a:avLst/>
          </a:prstGeom>
          <a:solidFill>
            <a:srgbClr val="0B1220"/>
          </a:solidFill>
          <a:ln w="9525">
            <a:solidFill>
              <a:srgbClr val="0B122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1778AB-E87E-4D13-9C04-6D32BD9B05A5}"/>
              </a:ext>
            </a:extLst>
          </p:cNvPr>
          <p:cNvSpPr>
            <a:spLocks noGrp="1"/>
          </p:cNvSpPr>
          <p:nvPr/>
        </p:nvSpPr>
        <p:spPr>
          <a:xfrm>
            <a:off x="571500" y="2190750"/>
            <a:ext cx="8953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A93C55-F056-4298-B7F8-79FC504F7EEF}"/>
              </a:ext>
            </a:extLst>
          </p:cNvPr>
          <p:cNvSpPr>
            <a:spLocks noGrp="1"/>
          </p:cNvSpPr>
          <p:nvPr/>
        </p:nvSpPr>
        <p:spPr>
          <a:xfrm>
            <a:off x="1543050" y="1981200"/>
            <a:ext cx="1143000" cy="876300"/>
          </a:xfrm>
          <a:prstGeom prst="rect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C0BE7D-6E4F-4716-8570-029E1B86AAD8}"/>
              </a:ext>
            </a:extLst>
          </p:cNvPr>
          <p:cNvSpPr>
            <a:spLocks noGrp="1"/>
          </p:cNvSpPr>
          <p:nvPr/>
        </p:nvSpPr>
        <p:spPr>
          <a:xfrm>
            <a:off x="1619250" y="2190750"/>
            <a:ext cx="9906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2A61AE-BA6A-463A-B2A7-CD0D94735E7B}"/>
              </a:ext>
            </a:extLst>
          </p:cNvPr>
          <p:cNvSpPr>
            <a:spLocks noGrp="1"/>
          </p:cNvSpPr>
          <p:nvPr/>
        </p:nvSpPr>
        <p:spPr>
          <a:xfrm>
            <a:off x="2686050" y="1981200"/>
            <a:ext cx="1047750" cy="8763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3C0116-66B4-4596-9DE5-9D730854CD2E}"/>
              </a:ext>
            </a:extLst>
          </p:cNvPr>
          <p:cNvSpPr>
            <a:spLocks noGrp="1"/>
          </p:cNvSpPr>
          <p:nvPr/>
        </p:nvSpPr>
        <p:spPr>
          <a:xfrm>
            <a:off x="2762250" y="2190750"/>
            <a:ext cx="8953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BB6D22-373A-458C-8B1E-3934338E71E8}"/>
              </a:ext>
            </a:extLst>
          </p:cNvPr>
          <p:cNvSpPr>
            <a:spLocks noGrp="1"/>
          </p:cNvSpPr>
          <p:nvPr/>
        </p:nvSpPr>
        <p:spPr>
          <a:xfrm>
            <a:off x="3733800" y="1981200"/>
            <a:ext cx="2000250" cy="876300"/>
          </a:xfrm>
          <a:prstGeom prst="rect">
            <a:avLst/>
          </a:prstGeom>
          <a:solidFill>
            <a:srgbClr val="334155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0EF7B2-C705-4FBF-B5EE-BE9895AB8D92}"/>
              </a:ext>
            </a:extLst>
          </p:cNvPr>
          <p:cNvSpPr>
            <a:spLocks noGrp="1"/>
          </p:cNvSpPr>
          <p:nvPr/>
        </p:nvSpPr>
        <p:spPr>
          <a:xfrm>
            <a:off x="3810000" y="2190750"/>
            <a:ext cx="18478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History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94FA9B-2C51-4057-9026-16AE10BBCEB2}"/>
              </a:ext>
            </a:extLst>
          </p:cNvPr>
          <p:cNvSpPr>
            <a:spLocks noGrp="1"/>
          </p:cNvSpPr>
          <p:nvPr/>
        </p:nvSpPr>
        <p:spPr>
          <a:xfrm>
            <a:off x="5734050" y="1981200"/>
            <a:ext cx="1714500" cy="876300"/>
          </a:xfrm>
          <a:prstGeom prst="rect">
            <a:avLst/>
          </a:prstGeom>
          <a:solidFill>
            <a:srgbClr val="0E9AA7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C4E068-3CD0-4E35-BDDF-45693D557786}"/>
              </a:ext>
            </a:extLst>
          </p:cNvPr>
          <p:cNvSpPr>
            <a:spLocks noGrp="1"/>
          </p:cNvSpPr>
          <p:nvPr/>
        </p:nvSpPr>
        <p:spPr>
          <a:xfrm>
            <a:off x="5810250" y="2190750"/>
            <a:ext cx="15621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86F43B-B28E-4FAE-8960-F097DC8367EE}"/>
              </a:ext>
            </a:extLst>
          </p:cNvPr>
          <p:cNvSpPr>
            <a:spLocks noGrp="1"/>
          </p:cNvSpPr>
          <p:nvPr/>
        </p:nvSpPr>
        <p:spPr>
          <a:xfrm>
            <a:off x="7448550" y="1981200"/>
            <a:ext cx="1809750" cy="876300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BE3ECB-C5F5-492B-9ABE-FB1E4DAFB802}"/>
              </a:ext>
            </a:extLst>
          </p:cNvPr>
          <p:cNvSpPr>
            <a:spLocks noGrp="1"/>
          </p:cNvSpPr>
          <p:nvPr/>
        </p:nvSpPr>
        <p:spPr>
          <a:xfrm>
            <a:off x="7524750" y="2190750"/>
            <a:ext cx="165735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Tool results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08A691-9875-45DB-AD01-1A7674309E54}"/>
              </a:ext>
            </a:extLst>
          </p:cNvPr>
          <p:cNvSpPr>
            <a:spLocks noGrp="1"/>
          </p:cNvSpPr>
          <p:nvPr/>
        </p:nvSpPr>
        <p:spPr>
          <a:xfrm>
            <a:off x="9258300" y="1981200"/>
            <a:ext cx="1714500" cy="876300"/>
          </a:xfrm>
          <a:prstGeom prst="rect">
            <a:avLst/>
          </a:prstGeom>
          <a:solidFill>
            <a:srgbClr val="16845B"/>
          </a:solidFill>
          <a:ln w="9525">
            <a:solidFill>
              <a:srgbClr val="16845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813844-FA36-4A9C-A0B0-1678B03DA443}"/>
              </a:ext>
            </a:extLst>
          </p:cNvPr>
          <p:cNvSpPr>
            <a:spLocks noGrp="1"/>
          </p:cNvSpPr>
          <p:nvPr/>
        </p:nvSpPr>
        <p:spPr>
          <a:xfrm>
            <a:off x="9334500" y="2190750"/>
            <a:ext cx="1562100" cy="4000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Output còn lại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A8B94F14-66E0-4425-AA6E-7BECF89EE054}"/>
              </a:ext>
            </a:extLst>
          </p:cNvPr>
          <p:cNvSpPr>
            <a:spLocks noGrp="1"/>
          </p:cNvSpPr>
          <p:nvPr/>
        </p:nvSpPr>
        <p:spPr>
          <a:xfrm>
            <a:off x="495300" y="3086100"/>
            <a:ext cx="11201400" cy="953"/>
          </a:xfrm>
          <a:prstGeom prst="line">
            <a:avLst/>
          </a:prstGeom>
          <a:ln w="19050">
            <a:solidFill>
              <a:srgbClr val="10182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BCD3BB-7C3F-408F-84ED-6C689C9708A0}"/>
              </a:ext>
            </a:extLst>
          </p:cNvPr>
          <p:cNvSpPr>
            <a:spLocks noGrp="1"/>
          </p:cNvSpPr>
          <p:nvPr/>
        </p:nvSpPr>
        <p:spPr>
          <a:xfrm>
            <a:off x="495300" y="3162300"/>
            <a:ext cx="28575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288E81-7435-493F-9C06-98C0D1855F1F}"/>
              </a:ext>
            </a:extLst>
          </p:cNvPr>
          <p:cNvSpPr>
            <a:spLocks noGrp="1"/>
          </p:cNvSpPr>
          <p:nvPr/>
        </p:nvSpPr>
        <p:spPr>
          <a:xfrm>
            <a:off x="10096500" y="3162300"/>
            <a:ext cx="16002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r">
              <a:lnSpc>
                <a:spcPct val="100000"/>
              </a:lnSpc>
              <a:buNone/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GIỚI HẠN CONTEXT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1A621E-9A02-4138-AF56-AB0942B6545A}"/>
              </a:ext>
            </a:extLst>
          </p:cNvPr>
          <p:cNvSpPr>
            <a:spLocks noGrp="1"/>
          </p:cNvSpPr>
          <p:nvPr/>
        </p:nvSpPr>
        <p:spPr>
          <a:xfrm>
            <a:off x="495300" y="3810000"/>
            <a:ext cx="533400" cy="285750"/>
          </a:xfrm>
          <a:prstGeom prst="rect">
            <a:avLst/>
          </a:prstGeom>
        </p:spPr>
        <p:txBody>
          <a:bodyPr anchor="ctr">
            <a:normAutofit fontScale="85833" lnSpcReduction="2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>
                <a:solidFill>
                  <a:srgbClr val="0E9AA7"/>
                </a:solidFill>
              </a:rPr>
              <a:t>01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336ECCB-7570-40A4-9E8B-1999CBA1A76E}"/>
              </a:ext>
            </a:extLst>
          </p:cNvPr>
          <p:cNvSpPr>
            <a:spLocks noGrp="1"/>
          </p:cNvSpPr>
          <p:nvPr/>
        </p:nvSpPr>
        <p:spPr>
          <a:xfrm>
            <a:off x="495300" y="4171950"/>
            <a:ext cx="2381250" cy="685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350" b="1">
                <a:solidFill>
                  <a:srgbClr val="334155"/>
                </a:solidFill>
              </a:rPr>
              <a:t>Có giới hạn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421052-13D2-454F-8ED9-3CF73BA257E2}"/>
              </a:ext>
            </a:extLst>
          </p:cNvPr>
          <p:cNvSpPr>
            <a:spLocks noGrp="1"/>
          </p:cNvSpPr>
          <p:nvPr/>
        </p:nvSpPr>
        <p:spPr>
          <a:xfrm>
            <a:off x="4724400" y="3844328"/>
            <a:ext cx="533400" cy="285750"/>
          </a:xfrm>
          <a:prstGeom prst="rect">
            <a:avLst/>
          </a:prstGeom>
        </p:spPr>
        <p:txBody>
          <a:bodyPr anchor="ctr">
            <a:normAutofit fontScale="85833" lnSpcReduction="2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 dirty="0">
                <a:solidFill>
                  <a:srgbClr val="0E9AA7"/>
                </a:solidFill>
              </a:rPr>
              <a:t>02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5F1F1D-D476-4CDA-95FA-7EFEAFCB105F}"/>
              </a:ext>
            </a:extLst>
          </p:cNvPr>
          <p:cNvSpPr>
            <a:spLocks noGrp="1"/>
          </p:cNvSpPr>
          <p:nvPr/>
        </p:nvSpPr>
        <p:spPr>
          <a:xfrm>
            <a:off x="4724400" y="4206278"/>
            <a:ext cx="2381250" cy="685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lang="en-US" sz="1350" b="1" dirty="0" err="1">
                <a:solidFill>
                  <a:srgbClr val="334155"/>
                </a:solidFill>
              </a:rPr>
              <a:t>Chứa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tất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cả</a:t>
            </a:r>
            <a:r>
              <a:rPr lang="en-US" sz="1350" b="1" dirty="0">
                <a:solidFill>
                  <a:srgbClr val="334155"/>
                </a:solidFill>
              </a:rPr>
              <a:t> thông tin </a:t>
            </a:r>
            <a:r>
              <a:rPr lang="en-US" sz="1350" b="1" dirty="0" err="1">
                <a:solidFill>
                  <a:srgbClr val="334155"/>
                </a:solidFill>
              </a:rPr>
              <a:t>liên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quan</a:t>
            </a:r>
            <a:endParaRPr sz="1350" b="1" dirty="0">
              <a:solidFill>
                <a:srgbClr val="334155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7657852-8CC9-472C-B7F4-E41C68B8A688}"/>
              </a:ext>
            </a:extLst>
          </p:cNvPr>
          <p:cNvSpPr>
            <a:spLocks noGrp="1"/>
          </p:cNvSpPr>
          <p:nvPr/>
        </p:nvSpPr>
        <p:spPr>
          <a:xfrm>
            <a:off x="9334500" y="3805367"/>
            <a:ext cx="533400" cy="285750"/>
          </a:xfrm>
          <a:prstGeom prst="rect">
            <a:avLst/>
          </a:prstGeom>
        </p:spPr>
        <p:txBody>
          <a:bodyPr anchor="ctr">
            <a:normAutofit fontScale="85833" lnSpcReduction="20000"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0E9AA7"/>
                </a:solidFill>
              </a:defRPr>
            </a:pPr>
            <a:r>
              <a:rPr sz="1800" b="1" dirty="0">
                <a:solidFill>
                  <a:srgbClr val="0E9AA7"/>
                </a:solidFill>
              </a:rPr>
              <a:t>0</a:t>
            </a:r>
            <a:r>
              <a:rPr lang="en-US" sz="1800" b="1" dirty="0">
                <a:solidFill>
                  <a:srgbClr val="0E9AA7"/>
                </a:solidFill>
              </a:rPr>
              <a:t>3</a:t>
            </a:r>
            <a:endParaRPr sz="1800" b="1" dirty="0">
              <a:solidFill>
                <a:srgbClr val="0E9AA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15DB396-78FC-417C-9B6C-3590AE43D945}"/>
              </a:ext>
            </a:extLst>
          </p:cNvPr>
          <p:cNvSpPr>
            <a:spLocks noGrp="1"/>
          </p:cNvSpPr>
          <p:nvPr/>
        </p:nvSpPr>
        <p:spPr>
          <a:xfrm>
            <a:off x="9334500" y="4167317"/>
            <a:ext cx="2564974" cy="685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lang="en-US" sz="1350" b="1" dirty="0" err="1">
                <a:solidFill>
                  <a:srgbClr val="334155"/>
                </a:solidFill>
              </a:rPr>
              <a:t>Được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gửi</a:t>
            </a:r>
            <a:r>
              <a:rPr lang="en-US" sz="1350" b="1" dirty="0">
                <a:solidFill>
                  <a:srgbClr val="334155"/>
                </a:solidFill>
              </a:rPr>
              <a:t> lại ở </a:t>
            </a:r>
            <a:r>
              <a:rPr lang="en-US" sz="1350" b="1" dirty="0" err="1">
                <a:solidFill>
                  <a:srgbClr val="334155"/>
                </a:solidFill>
              </a:rPr>
              <a:t>mọi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lần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gọi</a:t>
            </a:r>
            <a:r>
              <a:rPr lang="en-US" sz="1350" b="1" dirty="0">
                <a:solidFill>
                  <a:srgbClr val="334155"/>
                </a:solidFill>
              </a:rPr>
              <a:t> model</a:t>
            </a:r>
            <a:endParaRPr sz="1350" b="1" dirty="0">
              <a:solidFill>
                <a:srgbClr val="33415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8B2116F-CD92-46B4-98FD-65FEE4DCC58F}"/>
              </a:ext>
            </a:extLst>
          </p:cNvPr>
          <p:cNvSpPr>
            <a:spLocks noGrp="1"/>
          </p:cNvSpPr>
          <p:nvPr/>
        </p:nvSpPr>
        <p:spPr>
          <a:xfrm>
            <a:off x="2209800" y="5314950"/>
            <a:ext cx="7772400" cy="533400"/>
          </a:xfrm>
          <a:prstGeom prst="roundRect">
            <a:avLst>
              <a:gd name="adj" fmla="val 14286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E643B4-7E02-4EB0-9972-125B0769CA13}"/>
              </a:ext>
            </a:extLst>
          </p:cNvPr>
          <p:cNvSpPr>
            <a:spLocks noGrp="1"/>
          </p:cNvSpPr>
          <p:nvPr/>
        </p:nvSpPr>
        <p:spPr>
          <a:xfrm>
            <a:off x="2400300" y="5381625"/>
            <a:ext cx="7391400" cy="400050"/>
          </a:xfrm>
          <a:prstGeom prst="rect">
            <a:avLst/>
          </a:prstGeom>
        </p:spPr>
        <p:txBody>
          <a:bodyPr anchor="ctr">
            <a:normAutofit fontScale="98866"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650" b="1">
                <a:solidFill>
                  <a:srgbClr val="6246B5"/>
                </a:solidFill>
              </a:rPr>
              <a:t>Nhiều context hơn không mặc định đồng nghĩa với nhiều hiểu biết hơn.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A0F36D7-CB58-4376-BC9A-D8EDCED495C7}"/>
              </a:ext>
            </a:extLst>
          </p:cNvPr>
          <p:cNvSpPr>
            <a:spLocks noGrp="1"/>
          </p:cNvSpPr>
          <p:nvPr/>
        </p:nvSpPr>
        <p:spPr>
          <a:xfrm>
            <a:off x="495300" y="6000750"/>
            <a:ext cx="11201400" cy="209550"/>
          </a:xfrm>
          <a:prstGeom prst="rect">
            <a:avLst/>
          </a:prstGeom>
        </p:spPr>
        <p:txBody>
          <a:bodyPr anchor="ctr">
            <a:normAutofit fontScale="68284" lnSpcReduction="20000"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275" b="0" i="1">
                <a:solidFill>
                  <a:srgbClr val="64748B"/>
                </a:solidFill>
              </a:rPr>
              <a:t>Bộ nhớ của một lần gọi model không phải bộ nhớ dài hạn bền vững.</a:t>
            </a:r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DB8A4335-5459-43B0-9DFD-310DF8A3E9B1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8AFA36-F860-4847-AB77-C95D4E35EF1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CONTEXT WINDOW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A68B9B-BE6D-4874-92A7-1E9EB2BFB51F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dirty="0">
                <a:solidFill>
                  <a:srgbClr val="64748B"/>
                </a:solidFill>
              </a:rPr>
              <a:t>9</a:t>
            </a:r>
            <a:r>
              <a:rPr sz="900" b="0" dirty="0">
                <a:solidFill>
                  <a:srgbClr val="64748B"/>
                </a:solidFill>
              </a:rPr>
              <a:t> / 2</a:t>
            </a:r>
            <a:r>
              <a:rPr lang="en-US" sz="900" b="0" dirty="0">
                <a:solidFill>
                  <a:srgbClr val="64748B"/>
                </a:solidFill>
              </a:rPr>
              <a:t>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3966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88DEAAEC-1FB1-4042-A520-B46A3AF0580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CACHE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B25DE7-9E8F-48D5-85F6-F095C04E5CF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Cache giúp giảm chi phí cho nội dung được sử dụng lại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87989AD-9089-4B29-911E-7DC06D9381F6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54CF5D-5A44-4159-9CDB-48A660AD0791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1050" b="1" dirty="0">
                <a:solidFill>
                  <a:srgbClr val="64748B"/>
                </a:solidFill>
              </a:rPr>
              <a:t>10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214468-B1B4-44AB-907C-C3DF68EFC239}"/>
              </a:ext>
            </a:extLst>
          </p:cNvPr>
          <p:cNvSpPr>
            <a:spLocks noGrp="1"/>
          </p:cNvSpPr>
          <p:nvPr/>
        </p:nvSpPr>
        <p:spPr>
          <a:xfrm>
            <a:off x="495300" y="1428750"/>
            <a:ext cx="1524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LẦN GỌI MODEL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1620C9-2730-4F8D-8469-17C0A818DD63}"/>
              </a:ext>
            </a:extLst>
          </p:cNvPr>
          <p:cNvSpPr>
            <a:spLocks noGrp="1"/>
          </p:cNvSpPr>
          <p:nvPr/>
        </p:nvSpPr>
        <p:spPr>
          <a:xfrm>
            <a:off x="495300" y="1752600"/>
            <a:ext cx="161925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D5BD50-B244-4432-BC9C-D97AECFED84A}"/>
              </a:ext>
            </a:extLst>
          </p:cNvPr>
          <p:cNvSpPr>
            <a:spLocks noGrp="1"/>
          </p:cNvSpPr>
          <p:nvPr/>
        </p:nvSpPr>
        <p:spPr>
          <a:xfrm>
            <a:off x="571500" y="1857375"/>
            <a:ext cx="14668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4086F-07AB-42F5-BC9F-2F06F5EB6034}"/>
              </a:ext>
            </a:extLst>
          </p:cNvPr>
          <p:cNvSpPr>
            <a:spLocks noGrp="1"/>
          </p:cNvSpPr>
          <p:nvPr/>
        </p:nvSpPr>
        <p:spPr>
          <a:xfrm>
            <a:off x="2114550" y="1752600"/>
            <a:ext cx="142875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95CDAA-CF76-4E52-A4C4-4F80FB01925C}"/>
              </a:ext>
            </a:extLst>
          </p:cNvPr>
          <p:cNvSpPr>
            <a:spLocks noGrp="1"/>
          </p:cNvSpPr>
          <p:nvPr/>
        </p:nvSpPr>
        <p:spPr>
          <a:xfrm>
            <a:off x="2190750" y="1857375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Rules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BA66D1-38C6-4819-83DE-114CB1C5498C}"/>
              </a:ext>
            </a:extLst>
          </p:cNvPr>
          <p:cNvSpPr>
            <a:spLocks noGrp="1"/>
          </p:cNvSpPr>
          <p:nvPr/>
        </p:nvSpPr>
        <p:spPr>
          <a:xfrm>
            <a:off x="3543300" y="1752600"/>
            <a:ext cx="142875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5D35DE-94D0-4F89-A641-76F06381F46E}"/>
              </a:ext>
            </a:extLst>
          </p:cNvPr>
          <p:cNvSpPr>
            <a:spLocks noGrp="1"/>
          </p:cNvSpPr>
          <p:nvPr/>
        </p:nvSpPr>
        <p:spPr>
          <a:xfrm>
            <a:off x="3619500" y="1857375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Tools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6DD260-9D84-40E0-B3E4-4BEF14281B00}"/>
              </a:ext>
            </a:extLst>
          </p:cNvPr>
          <p:cNvSpPr>
            <a:spLocks noGrp="1"/>
          </p:cNvSpPr>
          <p:nvPr/>
        </p:nvSpPr>
        <p:spPr>
          <a:xfrm>
            <a:off x="4972050" y="1752600"/>
            <a:ext cx="2476500" cy="533400"/>
          </a:xfrm>
          <a:prstGeom prst="rect">
            <a:avLst/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E8128A-1D90-4618-BE5B-55449D715C2F}"/>
              </a:ext>
            </a:extLst>
          </p:cNvPr>
          <p:cNvSpPr>
            <a:spLocks noGrp="1"/>
          </p:cNvSpPr>
          <p:nvPr/>
        </p:nvSpPr>
        <p:spPr>
          <a:xfrm>
            <a:off x="5048250" y="1857375"/>
            <a:ext cx="2324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History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5B7F-CE07-48D0-A452-FB86C41B0D25}"/>
              </a:ext>
            </a:extLst>
          </p:cNvPr>
          <p:cNvSpPr>
            <a:spLocks noGrp="1"/>
          </p:cNvSpPr>
          <p:nvPr/>
        </p:nvSpPr>
        <p:spPr>
          <a:xfrm>
            <a:off x="7448550" y="1752600"/>
            <a:ext cx="2095500" cy="533400"/>
          </a:xfrm>
          <a:prstGeom prst="rect">
            <a:avLst/>
          </a:prstGeom>
          <a:solidFill>
            <a:srgbClr val="E9F1FF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5E63BA-0FC7-4F41-BB86-21EB7E53E3B9}"/>
              </a:ext>
            </a:extLst>
          </p:cNvPr>
          <p:cNvSpPr>
            <a:spLocks noGrp="1"/>
          </p:cNvSpPr>
          <p:nvPr/>
        </p:nvSpPr>
        <p:spPr>
          <a:xfrm>
            <a:off x="7524750" y="1857375"/>
            <a:ext cx="1943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sz="1200" b="1" dirty="0">
                <a:solidFill>
                  <a:srgbClr val="2563EB"/>
                </a:solidFill>
              </a:rPr>
              <a:t>User message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A67DD52-1CAA-4652-8BCE-8DDE60124505}"/>
              </a:ext>
            </a:extLst>
          </p:cNvPr>
          <p:cNvSpPr>
            <a:spLocks noGrp="1"/>
          </p:cNvSpPr>
          <p:nvPr/>
        </p:nvSpPr>
        <p:spPr>
          <a:xfrm>
            <a:off x="9906000" y="1866900"/>
            <a:ext cx="1676400" cy="304800"/>
          </a:xfrm>
          <a:prstGeom prst="roundRect">
            <a:avLst>
              <a:gd name="adj" fmla="val 25000"/>
            </a:avLst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C40DCE-2411-4A23-9F6C-1FB34D868BF7}"/>
              </a:ext>
            </a:extLst>
          </p:cNvPr>
          <p:cNvSpPr>
            <a:spLocks noGrp="1"/>
          </p:cNvSpPr>
          <p:nvPr/>
        </p:nvSpPr>
        <p:spPr>
          <a:xfrm>
            <a:off x="10001250" y="1885950"/>
            <a:ext cx="14859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0E9AA7"/>
                </a:solidFill>
              </a:defRPr>
            </a:pPr>
            <a:r>
              <a:rPr lang="en-US" sz="1125" b="1" dirty="0" err="1">
                <a:solidFill>
                  <a:srgbClr val="0E9AA7"/>
                </a:solidFill>
              </a:rPr>
              <a:t>Phiên</a:t>
            </a:r>
            <a:r>
              <a:rPr lang="en-US" sz="1125" b="1" dirty="0">
                <a:solidFill>
                  <a:srgbClr val="0E9AA7"/>
                </a:solidFill>
              </a:rPr>
              <a:t> </a:t>
            </a:r>
            <a:r>
              <a:rPr sz="1125" b="1" dirty="0" err="1">
                <a:solidFill>
                  <a:srgbClr val="0E9AA7"/>
                </a:solidFill>
              </a:rPr>
              <a:t>mới</a:t>
            </a:r>
            <a:endParaRPr sz="1125" b="1" dirty="0">
              <a:solidFill>
                <a:srgbClr val="0E9AA7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C11762-74F5-4BAB-B059-2E68C625E4DB}"/>
              </a:ext>
            </a:extLst>
          </p:cNvPr>
          <p:cNvSpPr>
            <a:spLocks noGrp="1"/>
          </p:cNvSpPr>
          <p:nvPr/>
        </p:nvSpPr>
        <p:spPr>
          <a:xfrm>
            <a:off x="495300" y="2374345"/>
            <a:ext cx="1524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LẦN GỌI MODEL 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17E340-B47F-4ED4-B071-7B8E355EF52B}"/>
              </a:ext>
            </a:extLst>
          </p:cNvPr>
          <p:cNvSpPr>
            <a:spLocks noGrp="1"/>
          </p:cNvSpPr>
          <p:nvPr/>
        </p:nvSpPr>
        <p:spPr>
          <a:xfrm>
            <a:off x="495300" y="2698195"/>
            <a:ext cx="16192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EB13FA-B9DA-4448-80D1-B0DA25118D9A}"/>
              </a:ext>
            </a:extLst>
          </p:cNvPr>
          <p:cNvSpPr>
            <a:spLocks noGrp="1"/>
          </p:cNvSpPr>
          <p:nvPr/>
        </p:nvSpPr>
        <p:spPr>
          <a:xfrm>
            <a:off x="571500" y="2802970"/>
            <a:ext cx="14668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964D9E-4000-4632-BDC8-8471D5B0B430}"/>
              </a:ext>
            </a:extLst>
          </p:cNvPr>
          <p:cNvSpPr>
            <a:spLocks noGrp="1"/>
          </p:cNvSpPr>
          <p:nvPr/>
        </p:nvSpPr>
        <p:spPr>
          <a:xfrm>
            <a:off x="2114550" y="2698195"/>
            <a:ext cx="14287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A6B641-2DC1-4DD5-9117-9744AD15ED03}"/>
              </a:ext>
            </a:extLst>
          </p:cNvPr>
          <p:cNvSpPr>
            <a:spLocks noGrp="1"/>
          </p:cNvSpPr>
          <p:nvPr/>
        </p:nvSpPr>
        <p:spPr>
          <a:xfrm>
            <a:off x="2190750" y="2802970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Rules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5338D0-2858-4AB9-89F3-B7162CAC61C6}"/>
              </a:ext>
            </a:extLst>
          </p:cNvPr>
          <p:cNvSpPr>
            <a:spLocks noGrp="1"/>
          </p:cNvSpPr>
          <p:nvPr/>
        </p:nvSpPr>
        <p:spPr>
          <a:xfrm>
            <a:off x="3543300" y="2698195"/>
            <a:ext cx="14287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0B6FAD-C550-4A88-BE39-EB55243BD7E0}"/>
              </a:ext>
            </a:extLst>
          </p:cNvPr>
          <p:cNvSpPr>
            <a:spLocks noGrp="1"/>
          </p:cNvSpPr>
          <p:nvPr/>
        </p:nvSpPr>
        <p:spPr>
          <a:xfrm>
            <a:off x="3619500" y="2802970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Tools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FD1B64-2F9C-439C-A529-8A76DDF9F870}"/>
              </a:ext>
            </a:extLst>
          </p:cNvPr>
          <p:cNvSpPr>
            <a:spLocks noGrp="1"/>
          </p:cNvSpPr>
          <p:nvPr/>
        </p:nvSpPr>
        <p:spPr>
          <a:xfrm>
            <a:off x="4972050" y="2698195"/>
            <a:ext cx="247650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CEE7A4-5318-415A-B988-C12AAA5A8BBA}"/>
              </a:ext>
            </a:extLst>
          </p:cNvPr>
          <p:cNvSpPr>
            <a:spLocks noGrp="1"/>
          </p:cNvSpPr>
          <p:nvPr/>
        </p:nvSpPr>
        <p:spPr>
          <a:xfrm>
            <a:off x="5048250" y="2802970"/>
            <a:ext cx="2324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History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EACBC80-C11C-46CD-9C70-9F27C7357689}"/>
              </a:ext>
            </a:extLst>
          </p:cNvPr>
          <p:cNvSpPr>
            <a:spLocks noGrp="1"/>
          </p:cNvSpPr>
          <p:nvPr/>
        </p:nvSpPr>
        <p:spPr>
          <a:xfrm>
            <a:off x="7448550" y="2698195"/>
            <a:ext cx="2095500" cy="533400"/>
          </a:xfrm>
          <a:prstGeom prst="rect">
            <a:avLst/>
          </a:prstGeom>
          <a:solidFill>
            <a:srgbClr val="E9F1FF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090D835-FE35-49CC-9A18-9E1307178B9C}"/>
              </a:ext>
            </a:extLst>
          </p:cNvPr>
          <p:cNvSpPr>
            <a:spLocks noGrp="1"/>
          </p:cNvSpPr>
          <p:nvPr/>
        </p:nvSpPr>
        <p:spPr>
          <a:xfrm>
            <a:off x="7524750" y="2802970"/>
            <a:ext cx="1943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sz="1200" b="1" dirty="0">
                <a:solidFill>
                  <a:srgbClr val="2563EB"/>
                </a:solidFill>
              </a:rPr>
              <a:t>Tool result </a:t>
            </a:r>
            <a:r>
              <a:rPr sz="1200" b="1" dirty="0" err="1">
                <a:solidFill>
                  <a:srgbClr val="2563EB"/>
                </a:solidFill>
              </a:rPr>
              <a:t>mới</a:t>
            </a:r>
            <a:endParaRPr sz="1200" b="1" dirty="0">
              <a:solidFill>
                <a:srgbClr val="2563EB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0EB9E9E-1A33-4E7A-BC6F-3215325BB92A}"/>
              </a:ext>
            </a:extLst>
          </p:cNvPr>
          <p:cNvSpPr>
            <a:spLocks noGrp="1"/>
          </p:cNvSpPr>
          <p:nvPr/>
        </p:nvSpPr>
        <p:spPr>
          <a:xfrm>
            <a:off x="9906000" y="2774395"/>
            <a:ext cx="1676400" cy="304800"/>
          </a:xfrm>
          <a:prstGeom prst="roundRect">
            <a:avLst>
              <a:gd name="adj" fmla="val 25000"/>
            </a:avLst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11B6CD4-70DC-4715-96DD-AB0AE35509BF}"/>
              </a:ext>
            </a:extLst>
          </p:cNvPr>
          <p:cNvSpPr>
            <a:spLocks noGrp="1"/>
          </p:cNvSpPr>
          <p:nvPr/>
        </p:nvSpPr>
        <p:spPr>
          <a:xfrm>
            <a:off x="10001250" y="2793445"/>
            <a:ext cx="14859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0E9AA7"/>
                </a:solidFill>
              </a:defRPr>
            </a:pPr>
            <a:r>
              <a:rPr sz="1125" b="1" dirty="0">
                <a:solidFill>
                  <a:schemeClr val="accent6"/>
                </a:solidFill>
              </a:rPr>
              <a:t>Cache hit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CA821BB-A149-4859-82EC-DE61155F5746}"/>
              </a:ext>
            </a:extLst>
          </p:cNvPr>
          <p:cNvSpPr>
            <a:spLocks noGrp="1"/>
          </p:cNvSpPr>
          <p:nvPr/>
        </p:nvSpPr>
        <p:spPr>
          <a:xfrm>
            <a:off x="495300" y="5052789"/>
            <a:ext cx="3429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412C14-E38B-4D85-B458-760DCEFC2E46}"/>
              </a:ext>
            </a:extLst>
          </p:cNvPr>
          <p:cNvSpPr>
            <a:spLocks noGrp="1"/>
          </p:cNvSpPr>
          <p:nvPr/>
        </p:nvSpPr>
        <p:spPr>
          <a:xfrm>
            <a:off x="647700" y="5157564"/>
            <a:ext cx="1809750" cy="209550"/>
          </a:xfrm>
          <a:prstGeom prst="rect">
            <a:avLst/>
          </a:prstGeom>
        </p:spPr>
        <p:txBody>
          <a:bodyPr anchor="ctr">
            <a:normAutofit fontScale="72083" lnSpcReduction="2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GPT-5.6 Terra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A115273-27EA-471D-A30A-090DC8E654CA}"/>
              </a:ext>
            </a:extLst>
          </p:cNvPr>
          <p:cNvSpPr>
            <a:spLocks noGrp="1"/>
          </p:cNvSpPr>
          <p:nvPr/>
        </p:nvSpPr>
        <p:spPr>
          <a:xfrm>
            <a:off x="2362200" y="5109939"/>
            <a:ext cx="1390650" cy="323850"/>
          </a:xfrm>
          <a:prstGeom prst="rect">
            <a:avLst/>
          </a:prstGeom>
        </p:spPr>
        <p:txBody>
          <a:bodyPr anchor="ctr">
            <a:normAutofit fontScale="87930"/>
          </a:bodyPr>
          <a:lstStyle/>
          <a:p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$2.00 → $0.20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DA13D13-C3EB-48BE-9A8D-6CAB5B61AB9A}"/>
              </a:ext>
            </a:extLst>
          </p:cNvPr>
          <p:cNvSpPr>
            <a:spLocks noGrp="1"/>
          </p:cNvSpPr>
          <p:nvPr/>
        </p:nvSpPr>
        <p:spPr>
          <a:xfrm>
            <a:off x="647700" y="5452839"/>
            <a:ext cx="3105150" cy="171450"/>
          </a:xfrm>
          <a:prstGeom prst="rect">
            <a:avLst/>
          </a:prstGeom>
        </p:spPr>
        <p:txBody>
          <a:bodyPr anchor="ctr">
            <a:normAutofit fontScale="61346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60813200-3DFE-4B33-98BB-C13E865718F3}"/>
              </a:ext>
            </a:extLst>
          </p:cNvPr>
          <p:cNvSpPr>
            <a:spLocks noGrp="1"/>
          </p:cNvSpPr>
          <p:nvPr/>
        </p:nvSpPr>
        <p:spPr>
          <a:xfrm>
            <a:off x="4229100" y="5052789"/>
            <a:ext cx="3429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8C6F307-1782-44EC-B1C7-1BF99E333871}"/>
              </a:ext>
            </a:extLst>
          </p:cNvPr>
          <p:cNvSpPr>
            <a:spLocks noGrp="1"/>
          </p:cNvSpPr>
          <p:nvPr/>
        </p:nvSpPr>
        <p:spPr>
          <a:xfrm>
            <a:off x="4381500" y="5157564"/>
            <a:ext cx="1809750" cy="209550"/>
          </a:xfrm>
          <a:prstGeom prst="rect">
            <a:avLst/>
          </a:prstGeom>
        </p:spPr>
        <p:txBody>
          <a:bodyPr anchor="ctr">
            <a:normAutofit fontScale="72083" lnSpcReduction="2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Claude Sonnet 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26A554-7729-4E0B-9988-C9AABC62BECC}"/>
              </a:ext>
            </a:extLst>
          </p:cNvPr>
          <p:cNvSpPr>
            <a:spLocks noGrp="1"/>
          </p:cNvSpPr>
          <p:nvPr/>
        </p:nvSpPr>
        <p:spPr>
          <a:xfrm>
            <a:off x="6096000" y="5109939"/>
            <a:ext cx="1390650" cy="323850"/>
          </a:xfrm>
          <a:prstGeom prst="rect">
            <a:avLst/>
          </a:prstGeom>
        </p:spPr>
        <p:txBody>
          <a:bodyPr anchor="ctr">
            <a:normAutofit fontScale="87930"/>
          </a:bodyPr>
          <a:lstStyle/>
          <a:p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$2.00 → $0.20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F2F7AC-E6DB-45AD-ACD8-9D7FC201DD5E}"/>
              </a:ext>
            </a:extLst>
          </p:cNvPr>
          <p:cNvSpPr>
            <a:spLocks noGrp="1"/>
          </p:cNvSpPr>
          <p:nvPr/>
        </p:nvSpPr>
        <p:spPr>
          <a:xfrm>
            <a:off x="4381500" y="5452839"/>
            <a:ext cx="3105150" cy="171450"/>
          </a:xfrm>
          <a:prstGeom prst="rect">
            <a:avLst/>
          </a:prstGeom>
        </p:spPr>
        <p:txBody>
          <a:bodyPr anchor="ctr">
            <a:normAutofit fontScale="61346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C004A55-D90C-4146-A624-B08F018119EE}"/>
              </a:ext>
            </a:extLst>
          </p:cNvPr>
          <p:cNvSpPr>
            <a:spLocks noGrp="1"/>
          </p:cNvSpPr>
          <p:nvPr/>
        </p:nvSpPr>
        <p:spPr>
          <a:xfrm>
            <a:off x="7962900" y="5052789"/>
            <a:ext cx="3429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2CBD470-DCB1-4AEC-A3CA-E53F862E1A2C}"/>
              </a:ext>
            </a:extLst>
          </p:cNvPr>
          <p:cNvSpPr>
            <a:spLocks noGrp="1"/>
          </p:cNvSpPr>
          <p:nvPr/>
        </p:nvSpPr>
        <p:spPr>
          <a:xfrm>
            <a:off x="8115300" y="5157564"/>
            <a:ext cx="1809750" cy="209550"/>
          </a:xfrm>
          <a:prstGeom prst="rect">
            <a:avLst/>
          </a:prstGeom>
        </p:spPr>
        <p:txBody>
          <a:bodyPr anchor="ctr">
            <a:normAutofit fontScale="72083" lnSpcReduction="20000"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7"/>
                </a:solidFill>
              </a:defRPr>
            </a:pPr>
            <a:r>
              <a:rPr sz="1200" b="1">
                <a:solidFill>
                  <a:srgbClr val="101827"/>
                </a:solidFill>
              </a:rPr>
              <a:t>Gemini 3.5 Flash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115464-FA8E-4086-B1C0-0FD356CD3F62}"/>
              </a:ext>
            </a:extLst>
          </p:cNvPr>
          <p:cNvSpPr>
            <a:spLocks noGrp="1"/>
          </p:cNvSpPr>
          <p:nvPr/>
        </p:nvSpPr>
        <p:spPr>
          <a:xfrm>
            <a:off x="9829800" y="5109939"/>
            <a:ext cx="1390650" cy="323850"/>
          </a:xfrm>
          <a:prstGeom prst="rect">
            <a:avLst/>
          </a:prstGeom>
        </p:spPr>
        <p:txBody>
          <a:bodyPr anchor="ctr">
            <a:normAutofit fontScale="87930"/>
          </a:bodyPr>
          <a:lstStyle/>
          <a:p>
            <a:pPr algn="r">
              <a:lnSpc>
                <a:spcPct val="100000"/>
              </a:lnSpc>
              <a:buNone/>
              <a:defRPr sz="1650" b="1">
                <a:solidFill>
                  <a:srgbClr val="0E9AA7"/>
                </a:solidFill>
              </a:defRPr>
            </a:pPr>
            <a:r>
              <a:rPr sz="1650" b="1">
                <a:solidFill>
                  <a:srgbClr val="0E9AA7"/>
                </a:solidFill>
              </a:rPr>
              <a:t>$1.50 → $0.15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A4A73CD-68F2-47A4-A68D-060CA687F539}"/>
              </a:ext>
            </a:extLst>
          </p:cNvPr>
          <p:cNvSpPr>
            <a:spLocks noGrp="1"/>
          </p:cNvSpPr>
          <p:nvPr/>
        </p:nvSpPr>
        <p:spPr>
          <a:xfrm>
            <a:off x="8115300" y="5452839"/>
            <a:ext cx="3105150" cy="171450"/>
          </a:xfrm>
          <a:prstGeom prst="rect">
            <a:avLst/>
          </a:prstGeom>
        </p:spPr>
        <p:txBody>
          <a:bodyPr anchor="ctr">
            <a:normAutofit fontScale="61346" lnSpcReduction="20000"/>
          </a:bodyPr>
          <a:lstStyle/>
          <a:p>
            <a:pPr algn="l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input → cached input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07B9302-7B9D-4140-88F8-F6397E13CC20}"/>
              </a:ext>
            </a:extLst>
          </p:cNvPr>
          <p:cNvSpPr>
            <a:spLocks noGrp="1"/>
          </p:cNvSpPr>
          <p:nvPr/>
        </p:nvSpPr>
        <p:spPr>
          <a:xfrm>
            <a:off x="495300" y="6057900"/>
            <a:ext cx="112014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ctr">
              <a:lnSpc>
                <a:spcPct val="100000"/>
              </a:lnSpc>
              <a:buNone/>
              <a:defRPr sz="975" b="0">
                <a:solidFill>
                  <a:srgbClr val="64748B"/>
                </a:solidFill>
              </a:defRPr>
            </a:pPr>
            <a:r>
              <a:rPr sz="975" b="0" i="1">
                <a:solidFill>
                  <a:srgbClr val="64748B"/>
                </a:solidFill>
              </a:rPr>
              <a:t>Giá, TTL, cache-write và storage cost phụ thuộc provider · snapshot 18/08/2026</a:t>
            </a: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D56DC79C-E55B-4FD6-AFFA-55559E85C1DB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184FA39-6CA4-4399-8D03-714DA828230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CACHE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607FF92-97C9-49BD-9E76-A1DBBD999889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b="0" dirty="0">
                <a:solidFill>
                  <a:srgbClr val="64748B"/>
                </a:solidFill>
              </a:rPr>
              <a:t>10</a:t>
            </a:r>
            <a:r>
              <a:rPr sz="900" b="0" dirty="0">
                <a:solidFill>
                  <a:srgbClr val="64748B"/>
                </a:solidFill>
              </a:rPr>
              <a:t> / 2</a:t>
            </a:r>
            <a:r>
              <a:rPr lang="en-US" sz="900" b="0" dirty="0">
                <a:solidFill>
                  <a:srgbClr val="64748B"/>
                </a:solidFill>
              </a:rPr>
              <a:t>1</a:t>
            </a:r>
            <a:endParaRPr sz="900" b="0" dirty="0">
              <a:solidFill>
                <a:srgbClr val="64748B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B7533ED-54CB-4DAB-9A6D-799BACA9F0B8}"/>
              </a:ext>
            </a:extLst>
          </p:cNvPr>
          <p:cNvSpPr>
            <a:spLocks noGrp="1"/>
          </p:cNvSpPr>
          <p:nvPr/>
        </p:nvSpPr>
        <p:spPr>
          <a:xfrm>
            <a:off x="495300" y="3291364"/>
            <a:ext cx="1524000" cy="209550"/>
          </a:xfrm>
          <a:prstGeom prst="rect">
            <a:avLst/>
          </a:prstGeom>
        </p:spPr>
        <p:txBody>
          <a:bodyPr anchor="ctr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LẦN GỌI MODEL </a:t>
            </a:r>
            <a:r>
              <a:rPr lang="en-US" sz="1050" b="1" dirty="0">
                <a:solidFill>
                  <a:srgbClr val="64748B"/>
                </a:solidFill>
              </a:rPr>
              <a:t>3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3618BBB-130F-0E30-247D-52939FC7D21E}"/>
              </a:ext>
            </a:extLst>
          </p:cNvPr>
          <p:cNvSpPr>
            <a:spLocks noGrp="1"/>
          </p:cNvSpPr>
          <p:nvPr/>
        </p:nvSpPr>
        <p:spPr>
          <a:xfrm>
            <a:off x="495300" y="3615214"/>
            <a:ext cx="1619250" cy="533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802FAC-3F4A-64F4-A8E2-2C37FB4EE22B}"/>
              </a:ext>
            </a:extLst>
          </p:cNvPr>
          <p:cNvSpPr>
            <a:spLocks noGrp="1"/>
          </p:cNvSpPr>
          <p:nvPr/>
        </p:nvSpPr>
        <p:spPr>
          <a:xfrm>
            <a:off x="571500" y="3719989"/>
            <a:ext cx="14668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System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3746D36-700A-01AC-7566-49E0114A80B5}"/>
              </a:ext>
            </a:extLst>
          </p:cNvPr>
          <p:cNvSpPr>
            <a:spLocks noGrp="1"/>
          </p:cNvSpPr>
          <p:nvPr/>
        </p:nvSpPr>
        <p:spPr>
          <a:xfrm>
            <a:off x="2114550" y="3615214"/>
            <a:ext cx="1428750" cy="533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162CD1-2C3B-4CCE-1194-B2FDFF233523}"/>
              </a:ext>
            </a:extLst>
          </p:cNvPr>
          <p:cNvSpPr>
            <a:spLocks noGrp="1"/>
          </p:cNvSpPr>
          <p:nvPr/>
        </p:nvSpPr>
        <p:spPr>
          <a:xfrm>
            <a:off x="2190750" y="3719989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chemeClr val="accent2"/>
                </a:solidFill>
              </a:rPr>
              <a:t>Rules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F33FBA1-A8FE-84C9-D2BE-C5EE7D67C8EB}"/>
              </a:ext>
            </a:extLst>
          </p:cNvPr>
          <p:cNvSpPr>
            <a:spLocks noGrp="1"/>
          </p:cNvSpPr>
          <p:nvPr/>
        </p:nvSpPr>
        <p:spPr>
          <a:xfrm>
            <a:off x="3543300" y="3615214"/>
            <a:ext cx="1428750" cy="533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39188D0-B039-CEF4-8C8A-8C268FE531FD}"/>
              </a:ext>
            </a:extLst>
          </p:cNvPr>
          <p:cNvSpPr>
            <a:spLocks noGrp="1"/>
          </p:cNvSpPr>
          <p:nvPr/>
        </p:nvSpPr>
        <p:spPr>
          <a:xfrm>
            <a:off x="3619500" y="3719989"/>
            <a:ext cx="12763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chemeClr val="accent2"/>
                </a:solidFill>
              </a:rPr>
              <a:t>Tools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BFF208C-DD9E-C917-573A-5B2683E2FDA6}"/>
              </a:ext>
            </a:extLst>
          </p:cNvPr>
          <p:cNvSpPr>
            <a:spLocks noGrp="1"/>
          </p:cNvSpPr>
          <p:nvPr/>
        </p:nvSpPr>
        <p:spPr>
          <a:xfrm>
            <a:off x="4972050" y="3615214"/>
            <a:ext cx="2476500" cy="533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10EF896-861C-58C7-828C-CD2E4D9CE640}"/>
              </a:ext>
            </a:extLst>
          </p:cNvPr>
          <p:cNvSpPr>
            <a:spLocks noGrp="1"/>
          </p:cNvSpPr>
          <p:nvPr/>
        </p:nvSpPr>
        <p:spPr>
          <a:xfrm>
            <a:off x="5048250" y="3719989"/>
            <a:ext cx="2324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chemeClr val="accent2"/>
                </a:solidFill>
              </a:rPr>
              <a:t>History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58A4810-42C7-C6B6-81D1-0C10666D5635}"/>
              </a:ext>
            </a:extLst>
          </p:cNvPr>
          <p:cNvSpPr>
            <a:spLocks noGrp="1"/>
          </p:cNvSpPr>
          <p:nvPr/>
        </p:nvSpPr>
        <p:spPr>
          <a:xfrm>
            <a:off x="7448550" y="3615214"/>
            <a:ext cx="2095500" cy="533400"/>
          </a:xfrm>
          <a:prstGeom prst="rect">
            <a:avLst/>
          </a:prstGeom>
          <a:solidFill>
            <a:srgbClr val="E9F1FF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F8D2306-6E48-99AC-9BDC-03CDF58473E0}"/>
              </a:ext>
            </a:extLst>
          </p:cNvPr>
          <p:cNvSpPr>
            <a:spLocks noGrp="1"/>
          </p:cNvSpPr>
          <p:nvPr/>
        </p:nvSpPr>
        <p:spPr>
          <a:xfrm>
            <a:off x="7524750" y="3719989"/>
            <a:ext cx="194310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2563EB"/>
                </a:solidFill>
              </a:defRPr>
            </a:pPr>
            <a:r>
              <a:rPr lang="en-US" sz="1200" b="1" dirty="0">
                <a:solidFill>
                  <a:srgbClr val="2563EB"/>
                </a:solidFill>
              </a:rPr>
              <a:t>User message</a:t>
            </a:r>
            <a:endParaRPr sz="1200" b="1" dirty="0">
              <a:solidFill>
                <a:srgbClr val="2563EB"/>
              </a:solidFill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830830E6-BA72-B084-AEB4-F851300819EC}"/>
              </a:ext>
            </a:extLst>
          </p:cNvPr>
          <p:cNvSpPr>
            <a:spLocks noGrp="1"/>
          </p:cNvSpPr>
          <p:nvPr/>
        </p:nvSpPr>
        <p:spPr>
          <a:xfrm>
            <a:off x="9906000" y="3691414"/>
            <a:ext cx="1676400" cy="304800"/>
          </a:xfrm>
          <a:prstGeom prst="roundRect">
            <a:avLst>
              <a:gd name="adj" fmla="val 25000"/>
            </a:avLst>
          </a:prstGeom>
          <a:solidFill>
            <a:srgbClr val="FFF2D8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B15E4C-0861-A189-409A-B04F262C86A9}"/>
              </a:ext>
            </a:extLst>
          </p:cNvPr>
          <p:cNvSpPr>
            <a:spLocks noGrp="1"/>
          </p:cNvSpPr>
          <p:nvPr/>
        </p:nvSpPr>
        <p:spPr>
          <a:xfrm>
            <a:off x="10001250" y="3710464"/>
            <a:ext cx="14859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0E9AA7"/>
                </a:solidFill>
              </a:defRPr>
            </a:pPr>
            <a:r>
              <a:rPr lang="en-US" sz="1125" b="1" dirty="0" err="1">
                <a:solidFill>
                  <a:srgbClr val="D97706"/>
                </a:solidFill>
              </a:rPr>
              <a:t>Vỡ</a:t>
            </a:r>
            <a:r>
              <a:rPr lang="en-US" sz="1125" b="1" dirty="0">
                <a:solidFill>
                  <a:srgbClr val="0E9AA7"/>
                </a:solidFill>
              </a:rPr>
              <a:t> </a:t>
            </a:r>
            <a:r>
              <a:rPr lang="en-US" sz="1125" b="1" dirty="0">
                <a:solidFill>
                  <a:srgbClr val="D97706"/>
                </a:solidFill>
              </a:rPr>
              <a:t>cache!</a:t>
            </a:r>
            <a:endParaRPr sz="1125" b="1" dirty="0">
              <a:solidFill>
                <a:srgbClr val="D97706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E655CD0-C6E1-8C17-D92F-6CDAC7802E1E}"/>
              </a:ext>
            </a:extLst>
          </p:cNvPr>
          <p:cNvSpPr txBox="1"/>
          <p:nvPr/>
        </p:nvSpPr>
        <p:spPr>
          <a:xfrm>
            <a:off x="2466822" y="3289637"/>
            <a:ext cx="81945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 err="1">
                <a:solidFill>
                  <a:schemeClr val="accent2"/>
                </a:solidFill>
              </a:rPr>
              <a:t>Có</a:t>
            </a:r>
            <a:r>
              <a:rPr lang="en-US" sz="1050" b="1" dirty="0">
                <a:solidFill>
                  <a:schemeClr val="accent2"/>
                </a:solidFill>
              </a:rPr>
              <a:t> </a:t>
            </a:r>
            <a:r>
              <a:rPr lang="en-US" sz="1050" b="1" dirty="0" err="1">
                <a:solidFill>
                  <a:schemeClr val="accent2"/>
                </a:solidFill>
              </a:rPr>
              <a:t>thay</a:t>
            </a:r>
            <a:r>
              <a:rPr lang="en-US" sz="1050" b="1" dirty="0">
                <a:solidFill>
                  <a:schemeClr val="accent2"/>
                </a:solidFill>
              </a:rPr>
              <a:t> </a:t>
            </a:r>
            <a:r>
              <a:rPr lang="en-US" sz="1050" b="1" dirty="0" err="1">
                <a:solidFill>
                  <a:schemeClr val="accent2"/>
                </a:solidFill>
              </a:rPr>
              <a:t>đổi</a:t>
            </a:r>
            <a:endParaRPr lang="en-US" sz="1050" b="1" dirty="0">
              <a:solidFill>
                <a:schemeClr val="accent2"/>
              </a:solidFill>
            </a:endParaRPr>
          </a:p>
        </p:txBody>
      </p:sp>
      <p:sp>
        <p:nvSpPr>
          <p:cNvPr id="82" name="Right Brace 81">
            <a:extLst>
              <a:ext uri="{FF2B5EF4-FFF2-40B4-BE49-F238E27FC236}">
                <a16:creationId xmlns:a16="http://schemas.microsoft.com/office/drawing/2014/main" id="{EB78BC3E-9F3D-5EAE-C1EA-FB4E7CC2CE46}"/>
              </a:ext>
            </a:extLst>
          </p:cNvPr>
          <p:cNvSpPr/>
          <p:nvPr/>
        </p:nvSpPr>
        <p:spPr>
          <a:xfrm rot="16200000">
            <a:off x="2791213" y="2839535"/>
            <a:ext cx="75426" cy="14287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975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0CD5590F-BB92-447F-17D6-25FCDA9BE401}"/>
              </a:ext>
            </a:extLst>
          </p:cNvPr>
          <p:cNvSpPr/>
          <p:nvPr/>
        </p:nvSpPr>
        <p:spPr>
          <a:xfrm>
            <a:off x="8918257" y="2934369"/>
            <a:ext cx="1022986" cy="913061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7E9FC0A-C83D-4821-ACF3-84E14BBCB83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LIFECYCLE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778AE9-D4AA-4140-8D4B-CA18EF1C750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Điều gì xảy ra sau khi người dùng gửi yêu cầu?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AB16CA82-1997-4EE7-A974-F269FBC3367D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A4C289-A5B4-4CB7-8F68-1C6A4A5AE9A8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1050" b="1" dirty="0">
                <a:solidFill>
                  <a:srgbClr val="64748B"/>
                </a:solidFill>
              </a:rPr>
              <a:t>11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104A894-0660-469A-AAB6-0944143A806B}"/>
              </a:ext>
            </a:extLst>
          </p:cNvPr>
          <p:cNvSpPr>
            <a:spLocks noGrp="1"/>
          </p:cNvSpPr>
          <p:nvPr/>
        </p:nvSpPr>
        <p:spPr>
          <a:xfrm>
            <a:off x="361950" y="2838450"/>
            <a:ext cx="1104900" cy="11049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CC1302-88C4-429A-A0AE-44038DA5FD77}"/>
              </a:ext>
            </a:extLst>
          </p:cNvPr>
          <p:cNvSpPr>
            <a:spLocks noGrp="1"/>
          </p:cNvSpPr>
          <p:nvPr/>
        </p:nvSpPr>
        <p:spPr>
          <a:xfrm>
            <a:off x="495300" y="3048000"/>
            <a:ext cx="838200" cy="6286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USER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/ TASK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CF1660C-AFFE-46E9-BE6B-22240648B9DD}"/>
              </a:ext>
            </a:extLst>
          </p:cNvPr>
          <p:cNvSpPr>
            <a:spLocks noGrp="1"/>
          </p:cNvSpPr>
          <p:nvPr/>
        </p:nvSpPr>
        <p:spPr>
          <a:xfrm>
            <a:off x="2727960" y="2850833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4B1ED1-A508-416F-B72E-3E9D07730DA2}"/>
              </a:ext>
            </a:extLst>
          </p:cNvPr>
          <p:cNvSpPr>
            <a:spLocks noGrp="1"/>
          </p:cNvSpPr>
          <p:nvPr/>
        </p:nvSpPr>
        <p:spPr>
          <a:xfrm>
            <a:off x="2842260" y="2984182"/>
            <a:ext cx="1581150" cy="495299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400" b="1" dirty="0">
                <a:solidFill>
                  <a:srgbClr val="101827"/>
                </a:solidFill>
                <a:hlinkClick r:id="rId4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4" action="ppaction://hlinksldjump"/>
              </a:rPr>
              <a:t>tạo</a:t>
            </a:r>
            <a:r>
              <a:rPr lang="en-US" sz="1400" b="1" dirty="0">
                <a:solidFill>
                  <a:srgbClr val="101827"/>
                </a:solidFill>
                <a:hlinkClick r:id="rId4" action="ppaction://hlinksldjump"/>
              </a:rPr>
              <a:t> payload</a:t>
            </a:r>
            <a:endParaRPr sz="1400" dirty="0">
              <a:solidFill>
                <a:srgbClr val="101827"/>
              </a:solidFill>
              <a:hlinkClick r:id="rId4" action="ppaction://hlinksldjump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1752D9-FDA1-462D-B05B-7033EB2618A2}"/>
              </a:ext>
            </a:extLst>
          </p:cNvPr>
          <p:cNvSpPr>
            <a:spLocks noGrp="1"/>
          </p:cNvSpPr>
          <p:nvPr/>
        </p:nvSpPr>
        <p:spPr>
          <a:xfrm>
            <a:off x="2804159" y="3565208"/>
            <a:ext cx="1581150" cy="2095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instructions · tools · history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3A45F41-2A60-43B3-97D7-70A68D2381E8}"/>
              </a:ext>
            </a:extLst>
          </p:cNvPr>
          <p:cNvSpPr>
            <a:spLocks noGrp="1"/>
          </p:cNvSpPr>
          <p:nvPr/>
        </p:nvSpPr>
        <p:spPr>
          <a:xfrm>
            <a:off x="5876925" y="2857500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B9A101-30BA-486B-B6BA-7BAE45F7EC73}"/>
              </a:ext>
            </a:extLst>
          </p:cNvPr>
          <p:cNvSpPr>
            <a:spLocks noGrp="1"/>
          </p:cNvSpPr>
          <p:nvPr/>
        </p:nvSpPr>
        <p:spPr>
          <a:xfrm>
            <a:off x="5991225" y="2990850"/>
            <a:ext cx="1581150" cy="323850"/>
          </a:xfrm>
          <a:prstGeom prst="rect">
            <a:avLst/>
          </a:prstGeom>
        </p:spPr>
        <p:txBody>
          <a:bodyPr anchor="ctr">
            <a:normAutofit fontScale="99924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M</a:t>
            </a:r>
            <a:r>
              <a:rPr sz="1400" b="1" dirty="0">
                <a:solidFill>
                  <a:srgbClr val="101827"/>
                </a:solidFill>
                <a:hlinkClick r:id="rId5" action="ppaction://hlinksldjump"/>
              </a:rPr>
              <a:t>odel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5" action="ppaction://hlinksldjump"/>
              </a:rPr>
              <a:t>xử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lý</a:t>
            </a:r>
            <a:endParaRPr sz="1400" b="1" dirty="0">
              <a:solidFill>
                <a:srgbClr val="101827"/>
              </a:solidFill>
              <a:hlinkClick r:id="rId5" action="ppaction://hlinksldjump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A15297-66EF-4BC0-948F-0E8F4E4D66F8}"/>
              </a:ext>
            </a:extLst>
          </p:cNvPr>
          <p:cNvSpPr>
            <a:spLocks noGrp="1"/>
          </p:cNvSpPr>
          <p:nvPr/>
        </p:nvSpPr>
        <p:spPr>
          <a:xfrm>
            <a:off x="6093857" y="3524249"/>
            <a:ext cx="1391127" cy="24384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 err="1">
                <a:solidFill>
                  <a:srgbClr val="64748B"/>
                </a:solidFill>
              </a:rPr>
              <a:t>phản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hồi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hoặc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yêu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cầu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gọi</a:t>
            </a:r>
            <a:r>
              <a:rPr sz="1000" b="0" dirty="0">
                <a:solidFill>
                  <a:srgbClr val="64748B"/>
                </a:solidFill>
              </a:rPr>
              <a:t> tool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EE7D4A0-882E-4B6A-98CA-DF5D23EF7D08}"/>
              </a:ext>
            </a:extLst>
          </p:cNvPr>
          <p:cNvSpPr>
            <a:spLocks noGrp="1"/>
          </p:cNvSpPr>
          <p:nvPr/>
        </p:nvSpPr>
        <p:spPr>
          <a:xfrm>
            <a:off x="8968502" y="3103796"/>
            <a:ext cx="984885" cy="611355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Trả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lời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hoặc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yêu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cầu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Tool?</a:t>
            </a:r>
            <a:endParaRPr sz="1400" b="1" dirty="0">
              <a:solidFill>
                <a:srgbClr val="101827"/>
              </a:solidFill>
              <a:hlinkClick r:id="rId6" action="ppaction://hlinksldjump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3F6DFB3-60B6-4B7E-8A1B-B418C3389775}"/>
              </a:ext>
            </a:extLst>
          </p:cNvPr>
          <p:cNvSpPr>
            <a:spLocks noGrp="1"/>
          </p:cNvSpPr>
          <p:nvPr/>
        </p:nvSpPr>
        <p:spPr>
          <a:xfrm>
            <a:off x="5551170" y="4552949"/>
            <a:ext cx="2476500" cy="781050"/>
          </a:xfrm>
          <a:prstGeom prst="roundRect">
            <a:avLst>
              <a:gd name="adj" fmla="val 9756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9A26A7-EBB9-4117-BBDB-ACF3E419BF58}"/>
              </a:ext>
            </a:extLst>
          </p:cNvPr>
          <p:cNvSpPr>
            <a:spLocks noGrp="1"/>
          </p:cNvSpPr>
          <p:nvPr/>
        </p:nvSpPr>
        <p:spPr>
          <a:xfrm>
            <a:off x="5665470" y="4718684"/>
            <a:ext cx="2247900" cy="323850"/>
          </a:xfrm>
          <a:prstGeom prst="rect">
            <a:avLst/>
          </a:prstGeom>
        </p:spPr>
        <p:txBody>
          <a:bodyPr anchor="ctr">
            <a:normAutofit fontScale="96825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</a:rPr>
              <a:t>điều</a:t>
            </a:r>
            <a:r>
              <a:rPr lang="en-US" sz="1400" b="1" dirty="0">
                <a:solidFill>
                  <a:srgbClr val="101827"/>
                </a:solidFill>
              </a:rPr>
              <a:t> </a:t>
            </a:r>
            <a:r>
              <a:rPr lang="en-US" sz="1400" b="1" dirty="0" err="1">
                <a:solidFill>
                  <a:srgbClr val="101827"/>
                </a:solidFill>
              </a:rPr>
              <a:t>phối</a:t>
            </a:r>
            <a:r>
              <a:rPr lang="en-US" sz="1400" b="1" dirty="0">
                <a:solidFill>
                  <a:srgbClr val="101827"/>
                </a:solidFill>
              </a:rPr>
              <a:t> tool</a:t>
            </a:r>
            <a:endParaRPr sz="1400" b="1" dirty="0">
              <a:solidFill>
                <a:srgbClr val="101827"/>
              </a:solidFill>
              <a:hlinkClick r:id="rId7" action="ppaction://hlinksldjump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CBD7BC-BEF8-463F-BDB3-393A68883BB7}"/>
              </a:ext>
            </a:extLst>
          </p:cNvPr>
          <p:cNvSpPr>
            <a:spLocks noGrp="1"/>
          </p:cNvSpPr>
          <p:nvPr/>
        </p:nvSpPr>
        <p:spPr>
          <a:xfrm>
            <a:off x="5665470" y="5080634"/>
            <a:ext cx="2247900" cy="1714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file · code · API · test</a:t>
            </a: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354B990E-BC2B-4683-99CF-CCD0DEA0E990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A626A97-C2B8-40BD-A860-7C9A2E42153C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LIFECYCLE · CHỌN NODE / CẠNH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FA9DDBC-6A1B-4039-955D-3AB6D72F90B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b="0" dirty="0">
                <a:solidFill>
                  <a:srgbClr val="64748B"/>
                </a:solidFill>
              </a:rPr>
              <a:t>11 / 21</a:t>
            </a:r>
            <a:endParaRPr sz="900" b="0" dirty="0">
              <a:solidFill>
                <a:srgbClr val="64748B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5FC0B65-E471-CC1C-8CF0-BED2AE442DF8}"/>
              </a:ext>
            </a:extLst>
          </p:cNvPr>
          <p:cNvCxnSpPr>
            <a:cxnSpLocks/>
            <a:stCxn id="22" idx="3"/>
            <a:endCxn id="58" idx="1"/>
          </p:cNvCxnSpPr>
          <p:nvPr/>
        </p:nvCxnSpPr>
        <p:spPr>
          <a:xfrm>
            <a:off x="7686675" y="3390900"/>
            <a:ext cx="12315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1ED300A-EA49-320D-0FE7-B7EA733F893B}"/>
              </a:ext>
            </a:extLst>
          </p:cNvPr>
          <p:cNvCxnSpPr>
            <a:cxnSpLocks/>
            <a:stCxn id="58" idx="3"/>
            <a:endCxn id="17" idx="0"/>
          </p:cNvCxnSpPr>
          <p:nvPr/>
        </p:nvCxnSpPr>
        <p:spPr>
          <a:xfrm flipH="1" flipV="1">
            <a:off x="914400" y="2838450"/>
            <a:ext cx="9026843" cy="552450"/>
          </a:xfrm>
          <a:prstGeom prst="bentConnector4">
            <a:avLst>
              <a:gd name="adj1" fmla="val -12155"/>
              <a:gd name="adj2" fmla="val 3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B583C64C-B335-C7E8-0196-CF23FF4E1221}"/>
              </a:ext>
            </a:extLst>
          </p:cNvPr>
          <p:cNvCxnSpPr>
            <a:cxnSpLocks/>
            <a:stCxn id="32" idx="1"/>
            <a:endCxn id="19" idx="2"/>
          </p:cNvCxnSpPr>
          <p:nvPr/>
        </p:nvCxnSpPr>
        <p:spPr>
          <a:xfrm rot="10800000">
            <a:off x="3632836" y="3917634"/>
            <a:ext cx="1918335" cy="10258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56A685CC-AD53-50D8-5364-932C8004B8F0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4537710" y="3384233"/>
            <a:ext cx="133921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48E0348-16B8-1FA4-A553-145802A8EE4A}"/>
              </a:ext>
            </a:extLst>
          </p:cNvPr>
          <p:cNvCxnSpPr>
            <a:cxnSpLocks/>
            <a:stCxn id="17" idx="6"/>
            <a:endCxn id="19" idx="1"/>
          </p:cNvCxnSpPr>
          <p:nvPr/>
        </p:nvCxnSpPr>
        <p:spPr>
          <a:xfrm flipV="1">
            <a:off x="1466850" y="3384233"/>
            <a:ext cx="1261110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634748D5-CBA7-C697-F938-6F56C31CB0B2}"/>
              </a:ext>
            </a:extLst>
          </p:cNvPr>
          <p:cNvCxnSpPr>
            <a:cxnSpLocks/>
            <a:stCxn id="58" idx="2"/>
            <a:endCxn id="32" idx="3"/>
          </p:cNvCxnSpPr>
          <p:nvPr/>
        </p:nvCxnSpPr>
        <p:spPr>
          <a:xfrm rot="5400000">
            <a:off x="8180688" y="3694412"/>
            <a:ext cx="1096044" cy="1402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44C161D3-BC1D-4B87-E5C2-0298E97832D0}"/>
              </a:ext>
            </a:extLst>
          </p:cNvPr>
          <p:cNvSpPr txBox="1"/>
          <p:nvPr/>
        </p:nvSpPr>
        <p:spPr>
          <a:xfrm>
            <a:off x="1491138" y="306493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1. </a:t>
            </a:r>
            <a:r>
              <a:rPr lang="en-US" sz="1200" b="1" dirty="0" err="1"/>
              <a:t>Gửi</a:t>
            </a:r>
            <a:r>
              <a:rPr lang="en-US" sz="1200" b="1" dirty="0"/>
              <a:t>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endParaRPr lang="en-US" sz="1200" b="1" dirty="0"/>
          </a:p>
        </p:txBody>
      </p:sp>
      <p:sp>
        <p:nvSpPr>
          <p:cNvPr id="124" name="TextBox 123">
            <a:hlinkClick r:id="rId8" action="ppaction://hlinksldjump"/>
            <a:extLst>
              <a:ext uri="{FF2B5EF4-FFF2-40B4-BE49-F238E27FC236}">
                <a16:creationId xmlns:a16="http://schemas.microsoft.com/office/drawing/2014/main" id="{A100FF14-A5A4-9541-54DF-D25996DC5B5E}"/>
              </a:ext>
            </a:extLst>
          </p:cNvPr>
          <p:cNvSpPr txBox="1"/>
          <p:nvPr/>
        </p:nvSpPr>
        <p:spPr>
          <a:xfrm>
            <a:off x="4888706" y="1399400"/>
            <a:ext cx="2410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3.1. </a:t>
            </a:r>
            <a:r>
              <a:rPr lang="en-US" sz="1200" b="1" dirty="0">
                <a:hlinkClick r:id="rId8" action="ppaction://hlinksldjump"/>
              </a:rPr>
              <a:t>Trả </a:t>
            </a:r>
            <a:r>
              <a:rPr lang="en-US" sz="1200" b="1" dirty="0" err="1">
                <a:hlinkClick r:id="rId8" action="ppaction://hlinksldjump"/>
              </a:rPr>
              <a:t>kết</a:t>
            </a:r>
            <a:r>
              <a:rPr lang="en-US" sz="1200" b="1" dirty="0">
                <a:hlinkClick r:id="rId8" action="ppaction://hlinksldjump"/>
              </a:rPr>
              <a:t> </a:t>
            </a:r>
            <a:r>
              <a:rPr lang="en-US" sz="1200" b="1" dirty="0" err="1">
                <a:hlinkClick r:id="rId8" action="ppaction://hlinksldjump"/>
              </a:rPr>
              <a:t>quả</a:t>
            </a:r>
            <a:endParaRPr lang="en-US" sz="1200" b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45EBD86-DF30-9271-71C2-9C228AC48A95}"/>
              </a:ext>
            </a:extLst>
          </p:cNvPr>
          <p:cNvSpPr txBox="1"/>
          <p:nvPr/>
        </p:nvSpPr>
        <p:spPr>
          <a:xfrm>
            <a:off x="4531042" y="308008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2. </a:t>
            </a:r>
            <a:r>
              <a:rPr lang="en-US" sz="1200" b="1" dirty="0" err="1"/>
              <a:t>Gọi</a:t>
            </a:r>
            <a:r>
              <a:rPr lang="en-US" sz="1200" b="1" dirty="0"/>
              <a:t> model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249F488-95DC-C989-FB3B-F73E8AEBFF38}"/>
              </a:ext>
            </a:extLst>
          </p:cNvPr>
          <p:cNvSpPr txBox="1"/>
          <p:nvPr/>
        </p:nvSpPr>
        <p:spPr>
          <a:xfrm>
            <a:off x="2703671" y="5000237"/>
            <a:ext cx="2420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4.2. </a:t>
            </a:r>
            <a:r>
              <a:rPr lang="en-US" sz="1200" b="1" dirty="0">
                <a:hlinkClick r:id="rId7" action="ppaction://hlinksldjump"/>
              </a:rPr>
              <a:t>Thêm </a:t>
            </a:r>
            <a:r>
              <a:rPr lang="en-US" sz="1200" b="1" dirty="0" err="1">
                <a:hlinkClick r:id="rId7" action="ppaction://hlinksldjump"/>
              </a:rPr>
              <a:t>kết</a:t>
            </a:r>
            <a:r>
              <a:rPr lang="en-US" sz="1200" b="1" dirty="0">
                <a:hlinkClick r:id="rId7" action="ppaction://hlinksldjump"/>
              </a:rPr>
              <a:t> </a:t>
            </a:r>
            <a:r>
              <a:rPr lang="en-US" sz="1200" b="1" dirty="0" err="1">
                <a:hlinkClick r:id="rId7" action="ppaction://hlinksldjump"/>
              </a:rPr>
              <a:t>quả</a:t>
            </a:r>
            <a:r>
              <a:rPr lang="en-US" sz="1200" b="1" dirty="0">
                <a:hlinkClick r:id="rId7" action="ppaction://hlinksldjump"/>
              </a:rPr>
              <a:t> tool </a:t>
            </a:r>
            <a:r>
              <a:rPr lang="en-US" sz="1200" b="1" dirty="0" err="1">
                <a:hlinkClick r:id="rId7" action="ppaction://hlinksldjump"/>
              </a:rPr>
              <a:t>vào</a:t>
            </a:r>
            <a:r>
              <a:rPr lang="en-US" sz="1200" b="1" dirty="0">
                <a:hlinkClick r:id="rId7" action="ppaction://hlinksldjump"/>
              </a:rPr>
              <a:t> context</a:t>
            </a:r>
            <a:endParaRPr lang="en-US" sz="1200" b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D1A6F6BE-3F17-FD0B-5E79-ED1984E5EE7E}"/>
              </a:ext>
            </a:extLst>
          </p:cNvPr>
          <p:cNvSpPr txBox="1"/>
          <p:nvPr/>
        </p:nvSpPr>
        <p:spPr>
          <a:xfrm>
            <a:off x="9429750" y="4156797"/>
            <a:ext cx="12611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4.1.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r>
              <a:rPr lang="en-US" sz="1200" b="1" dirty="0"/>
              <a:t> tool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DA3D817-0900-6343-30A5-366E3BED1AD9}"/>
              </a:ext>
            </a:extLst>
          </p:cNvPr>
          <p:cNvSpPr txBox="1"/>
          <p:nvPr/>
        </p:nvSpPr>
        <p:spPr>
          <a:xfrm>
            <a:off x="5499377" y="4151083"/>
            <a:ext cx="2564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Vòng</a:t>
            </a:r>
            <a:r>
              <a:rPr lang="en-US" sz="1200" dirty="0"/>
              <a:t> </a:t>
            </a:r>
            <a:r>
              <a:rPr lang="en-US" sz="1200" dirty="0" err="1"/>
              <a:t>lặp</a:t>
            </a:r>
            <a:r>
              <a:rPr lang="en-US" sz="1200" dirty="0"/>
              <a:t> </a:t>
            </a:r>
            <a:r>
              <a:rPr lang="en-US" sz="1200" dirty="0" err="1"/>
              <a:t>gọi</a:t>
            </a:r>
            <a:r>
              <a:rPr lang="en-US" sz="1200" dirty="0"/>
              <a:t> tool </a:t>
            </a:r>
            <a:r>
              <a:rPr lang="en-US" sz="1200" dirty="0" err="1"/>
              <a:t>có</a:t>
            </a:r>
            <a:r>
              <a:rPr lang="en-US" sz="1200" dirty="0"/>
              <a:t> </a:t>
            </a:r>
            <a:r>
              <a:rPr lang="en-US" sz="1200" dirty="0" err="1"/>
              <a:t>thể</a:t>
            </a:r>
            <a:r>
              <a:rPr lang="en-US" sz="1200" dirty="0"/>
              <a:t> </a:t>
            </a:r>
            <a:r>
              <a:rPr lang="en-US" sz="1200" dirty="0" err="1"/>
              <a:t>chạy</a:t>
            </a:r>
            <a:r>
              <a:rPr lang="en-US" sz="1200" dirty="0"/>
              <a:t> </a:t>
            </a:r>
            <a:r>
              <a:rPr lang="en-US" sz="1200" dirty="0" err="1"/>
              <a:t>nhiều</a:t>
            </a:r>
            <a:r>
              <a:rPr lang="en-US" sz="1200" dirty="0"/>
              <a:t> </a:t>
            </a:r>
            <a:r>
              <a:rPr lang="en-US" sz="1200" dirty="0" err="1"/>
              <a:t>lần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1990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B04EE953-2FD8-405C-8EA1-D4859D679E11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C19627-37ED-445F-8DBD-979581BF2B7B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Yêu cầu đầu vào quyết định số vòng lặp phía sau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3286203-3608-42B1-AFBE-B302D3689B52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48A61B-79F4-40AF-BFDD-998541280BB6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1</a:t>
            </a:r>
            <a:r>
              <a:rPr lang="en-US" sz="1050" b="1" dirty="0">
                <a:solidFill>
                  <a:srgbClr val="64748B"/>
                </a:solidFill>
              </a:rPr>
              <a:t>2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970890A-DBBF-4632-A2D3-29522C3B3554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6D2CFB-DF79-470B-8133-4594FB8F75FD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USER / TASK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BAC475-D484-4EC3-BE39-ED9BBCCCFEDA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84AD97-A061-46CF-9845-8A0011B5F0A7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01366-FCBB-40DC-9922-5B9DCE0FC26C}"/>
              </a:ext>
            </a:extLst>
          </p:cNvPr>
          <p:cNvSpPr>
            <a:spLocks noGrp="1"/>
          </p:cNvSpPr>
          <p:nvPr/>
        </p:nvSpPr>
        <p:spPr>
          <a:xfrm>
            <a:off x="723900" y="20320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 dirty="0" err="1">
                <a:solidFill>
                  <a:srgbClr val="334155"/>
                </a:solidFill>
              </a:rPr>
              <a:t>Gộp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nhiều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việc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không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liên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quan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E617BF6-A086-4EF4-A894-824FE61E74BA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940284-CA8C-41C9-A4E9-D5ED289BA3DF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Không nêu điều kiện hoàn thành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56C2B78-48EB-45F8-94C6-667809DB660A}"/>
              </a:ext>
            </a:extLst>
          </p:cNvPr>
          <p:cNvSpPr>
            <a:spLocks noGrp="1"/>
          </p:cNvSpPr>
          <p:nvPr/>
        </p:nvSpPr>
        <p:spPr>
          <a:xfrm>
            <a:off x="533400" y="29718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A1C299-FA6D-47E4-8F16-0368E7CF156D}"/>
              </a:ext>
            </a:extLst>
          </p:cNvPr>
          <p:cNvSpPr>
            <a:spLocks noGrp="1"/>
          </p:cNvSpPr>
          <p:nvPr/>
        </p:nvSpPr>
        <p:spPr>
          <a:xfrm>
            <a:off x="723900" y="2819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Kh</a:t>
            </a:r>
            <a:r>
              <a:rPr lang="en-US" sz="1350" dirty="0" err="1">
                <a:solidFill>
                  <a:srgbClr val="334155"/>
                </a:solidFill>
              </a:rPr>
              <a:t>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nêu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rõ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những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ràng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buộc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quan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trọng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54B9A1-CEC3-4FE5-B923-D512B3A3D5E1}"/>
              </a:ext>
            </a:extLst>
          </p:cNvPr>
          <p:cNvSpPr>
            <a:spLocks noGrp="1"/>
          </p:cNvSpPr>
          <p:nvPr/>
        </p:nvSpPr>
        <p:spPr>
          <a:xfrm>
            <a:off x="533400" y="33718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C3A40A-F450-4272-94C0-732A9703A0EC}"/>
              </a:ext>
            </a:extLst>
          </p:cNvPr>
          <p:cNvSpPr>
            <a:spLocks noGrp="1"/>
          </p:cNvSpPr>
          <p:nvPr/>
        </p:nvSpPr>
        <p:spPr>
          <a:xfrm>
            <a:off x="723900" y="32258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 dirty="0" err="1">
                <a:solidFill>
                  <a:srgbClr val="334155"/>
                </a:solidFill>
              </a:rPr>
              <a:t>Dán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cả</a:t>
            </a:r>
            <a:r>
              <a:rPr sz="1350" b="0" dirty="0">
                <a:solidFill>
                  <a:srgbClr val="334155"/>
                </a:solidFill>
              </a:rPr>
              <a:t> file </a:t>
            </a:r>
            <a:r>
              <a:rPr sz="1350" b="0" dirty="0" err="1">
                <a:solidFill>
                  <a:srgbClr val="334155"/>
                </a:solidFill>
              </a:rPr>
              <a:t>hoặc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toàn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bộ</a:t>
            </a:r>
            <a:r>
              <a:rPr sz="1350" b="0" dirty="0">
                <a:solidFill>
                  <a:srgbClr val="334155"/>
                </a:solidFill>
              </a:rPr>
              <a:t> log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FF01AC-580B-498D-AC0A-913FAB4DE15B}"/>
              </a:ext>
            </a:extLst>
          </p:cNvPr>
          <p:cNvSpPr>
            <a:spLocks noGrp="1"/>
          </p:cNvSpPr>
          <p:nvPr/>
        </p:nvSpPr>
        <p:spPr>
          <a:xfrm>
            <a:off x="533400" y="37719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F5078-FF59-4EC0-A2C3-E7CDE1505CDC}"/>
              </a:ext>
            </a:extLst>
          </p:cNvPr>
          <p:cNvSpPr>
            <a:spLocks noGrp="1"/>
          </p:cNvSpPr>
          <p:nvPr/>
        </p:nvSpPr>
        <p:spPr>
          <a:xfrm>
            <a:off x="723900" y="362585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sz="1350" b="0" dirty="0" err="1">
                <a:solidFill>
                  <a:srgbClr val="334155"/>
                </a:solidFill>
              </a:rPr>
              <a:t>Yêu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cầu</a:t>
            </a:r>
            <a:r>
              <a:rPr sz="1350" b="0" dirty="0">
                <a:solidFill>
                  <a:srgbClr val="334155"/>
                </a:solidFill>
              </a:rPr>
              <a:t> model </a:t>
            </a:r>
            <a:r>
              <a:rPr lang="en-US" sz="1350" b="0" dirty="0" err="1">
                <a:solidFill>
                  <a:srgbClr val="334155"/>
                </a:solidFill>
              </a:rPr>
              <a:t>dự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đoán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kết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quả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lang="en-US" sz="1350" b="0" dirty="0">
                <a:solidFill>
                  <a:srgbClr val="334155"/>
                </a:solidFill>
              </a:rPr>
              <a:t>mà ta </a:t>
            </a:r>
            <a:r>
              <a:rPr sz="1350" b="0" dirty="0" err="1">
                <a:solidFill>
                  <a:srgbClr val="334155"/>
                </a:solidFill>
              </a:rPr>
              <a:t>có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thể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tự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kiểm</a:t>
            </a:r>
            <a:r>
              <a:rPr sz="1350" b="0" dirty="0">
                <a:solidFill>
                  <a:srgbClr val="334155"/>
                </a:solidFill>
              </a:rPr>
              <a:t> </a:t>
            </a:r>
            <a:r>
              <a:rPr sz="1350" b="0" dirty="0" err="1">
                <a:solidFill>
                  <a:srgbClr val="334155"/>
                </a:solidFill>
              </a:rPr>
              <a:t>tra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144363F1-E84C-4790-B8F2-49505D919F3F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873060-3FD4-4E36-8EAC-E6804AE9FAAA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F8E3ECE-93DD-46A7-AE3B-EBAF58FC0317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5C2559-0DB9-4180-A6E0-9258596CD2CD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517F6C-FDED-422B-8EDB-05D74EEEF2B5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Một task cho một phiên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C82C699-40F6-474A-BE59-53F7CBC5BF4F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21A56F8-27FB-4E57-982E-E53CD473EEC1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F34DB34-8A44-4F41-B0EF-CF004D51E906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>
                <a:solidFill>
                  <a:srgbClr val="101827"/>
                </a:solidFill>
              </a:rPr>
              <a:t>Nêu phạm vi và điều kiện hoàn thành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3680FB5-B1B0-4E86-BB9C-82CDBA3C1B22}"/>
              </a:ext>
            </a:extLst>
          </p:cNvPr>
          <p:cNvSpPr>
            <a:spLocks noGrp="1"/>
          </p:cNvSpPr>
          <p:nvPr/>
        </p:nvSpPr>
        <p:spPr>
          <a:xfrm>
            <a:off x="6324600" y="290512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C506FF-978F-4733-A58A-C99FF31C3EBE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46B401C-DBCD-4160-A639-74A8B7BBAD36}"/>
              </a:ext>
            </a:extLst>
          </p:cNvPr>
          <p:cNvSpPr>
            <a:spLocks noGrp="1"/>
          </p:cNvSpPr>
          <p:nvPr/>
        </p:nvSpPr>
        <p:spPr>
          <a:xfrm>
            <a:off x="6686550" y="28765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dirty="0" err="1">
                <a:solidFill>
                  <a:srgbClr val="101827"/>
                </a:solidFill>
              </a:rPr>
              <a:t>Đưa</a:t>
            </a:r>
            <a:r>
              <a:rPr lang="en-US" sz="1275" dirty="0">
                <a:solidFill>
                  <a:srgbClr val="101827"/>
                </a:solidFill>
              </a:rPr>
              <a:t> các </a:t>
            </a:r>
            <a:r>
              <a:rPr lang="en-US" sz="1275" dirty="0" err="1">
                <a:solidFill>
                  <a:srgbClr val="101827"/>
                </a:solidFill>
              </a:rPr>
              <a:t>ràng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buộc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ngay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từ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đầu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B700E20-02A3-4D8D-A356-CD2A60E006CB}"/>
              </a:ext>
            </a:extLst>
          </p:cNvPr>
          <p:cNvSpPr>
            <a:spLocks noGrp="1"/>
          </p:cNvSpPr>
          <p:nvPr/>
        </p:nvSpPr>
        <p:spPr>
          <a:xfrm>
            <a:off x="6324600" y="330517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E3CF79-CB53-44A6-80E2-A5F07FA39058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E4E7DA1-6F96-47B7-A19D-B2C11D717EA0}"/>
              </a:ext>
            </a:extLst>
          </p:cNvPr>
          <p:cNvSpPr>
            <a:spLocks noGrp="1"/>
          </p:cNvSpPr>
          <p:nvPr/>
        </p:nvSpPr>
        <p:spPr>
          <a:xfrm>
            <a:off x="6686550" y="32766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1827"/>
                </a:solidFill>
              </a:defRPr>
            </a:pPr>
            <a:r>
              <a:rPr lang="en-US" sz="1275" dirty="0" err="1">
                <a:solidFill>
                  <a:srgbClr val="101827"/>
                </a:solidFill>
              </a:rPr>
              <a:t>Chỉ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đúng</a:t>
            </a:r>
            <a:r>
              <a:rPr lang="en-US" sz="1275" dirty="0">
                <a:solidFill>
                  <a:srgbClr val="101827"/>
                </a:solidFill>
              </a:rPr>
              <a:t> file </a:t>
            </a:r>
            <a:r>
              <a:rPr lang="en-US" sz="1275" dirty="0" err="1">
                <a:solidFill>
                  <a:srgbClr val="101827"/>
                </a:solidFill>
              </a:rPr>
              <a:t>hoặc</a:t>
            </a:r>
            <a:r>
              <a:rPr lang="en-US" sz="1275" dirty="0">
                <a:solidFill>
                  <a:srgbClr val="101827"/>
                </a:solidFill>
              </a:rPr>
              <a:t> symbol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CDE0D51A-7E5E-44B4-8FCD-E24B37266EF4}"/>
              </a:ext>
            </a:extLst>
          </p:cNvPr>
          <p:cNvSpPr>
            <a:spLocks noGrp="1"/>
          </p:cNvSpPr>
          <p:nvPr/>
        </p:nvSpPr>
        <p:spPr>
          <a:xfrm>
            <a:off x="6324600" y="3705225"/>
            <a:ext cx="247650" cy="247650"/>
          </a:xfrm>
          <a:prstGeom prst="ellipse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5726CE-8E10-4E6F-A9B2-9CF7755776BE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356AEB8-8D7C-41F3-A8E1-3FFACC843E4A}"/>
              </a:ext>
            </a:extLst>
          </p:cNvPr>
          <p:cNvSpPr>
            <a:spLocks noGrp="1"/>
          </p:cNvSpPr>
          <p:nvPr/>
        </p:nvSpPr>
        <p:spPr>
          <a:xfrm>
            <a:off x="6686550" y="36766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 dirty="0" err="1">
                <a:solidFill>
                  <a:srgbClr val="101827"/>
                </a:solidFill>
              </a:rPr>
              <a:t>Chạy</a:t>
            </a:r>
            <a:r>
              <a:rPr sz="1275" b="0" dirty="0">
                <a:solidFill>
                  <a:srgbClr val="101827"/>
                </a:solidFill>
              </a:rPr>
              <a:t> compiler/test </a:t>
            </a:r>
            <a:r>
              <a:rPr sz="1275" b="0" dirty="0" err="1">
                <a:solidFill>
                  <a:srgbClr val="101827"/>
                </a:solidFill>
              </a:rPr>
              <a:t>thay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vì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yêu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cầu</a:t>
            </a:r>
            <a:r>
              <a:rPr sz="1275" b="0" dirty="0">
                <a:solidFill>
                  <a:srgbClr val="101827"/>
                </a:solidFill>
              </a:rPr>
              <a:t> model </a:t>
            </a:r>
            <a:r>
              <a:rPr sz="1275" b="0" dirty="0" err="1">
                <a:solidFill>
                  <a:srgbClr val="101827"/>
                </a:solidFill>
              </a:rPr>
              <a:t>dự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đoán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B204B0-6A73-4D2B-9F2C-E415999B3B7C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382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C43C4E"/>
                </a:solidFill>
              </a:defRPr>
            </a:pPr>
            <a:r>
              <a:rPr sz="975" b="1">
                <a:solidFill>
                  <a:srgbClr val="C43C4E"/>
                </a:solidFill>
              </a:rPr>
              <a:t>BEFORE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7FD481-C177-4CED-830D-1B18CDFA802D}"/>
              </a:ext>
            </a:extLst>
          </p:cNvPr>
          <p:cNvSpPr>
            <a:spLocks noGrp="1"/>
          </p:cNvSpPr>
          <p:nvPr/>
        </p:nvSpPr>
        <p:spPr>
          <a:xfrm>
            <a:off x="1352550" y="4953000"/>
            <a:ext cx="4419600" cy="552450"/>
          </a:xfrm>
          <a:prstGeom prst="roundRect">
            <a:avLst>
              <a:gd name="adj" fmla="val 13793"/>
            </a:avLst>
          </a:prstGeom>
          <a:solidFill>
            <a:srgbClr val="FDEBED"/>
          </a:solidFill>
          <a:ln w="9525">
            <a:solidFill>
              <a:srgbClr val="F3B6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2DCA562-BDA5-40FB-9003-A0AE744A515C}"/>
              </a:ext>
            </a:extLst>
          </p:cNvPr>
          <p:cNvSpPr>
            <a:spLocks noGrp="1"/>
          </p:cNvSpPr>
          <p:nvPr/>
        </p:nvSpPr>
        <p:spPr>
          <a:xfrm>
            <a:off x="1524000" y="5019675"/>
            <a:ext cx="4076700" cy="4095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 dirty="0">
                <a:solidFill>
                  <a:srgbClr val="101827"/>
                </a:solidFill>
              </a:rPr>
              <a:t>“Sửa auth, </a:t>
            </a:r>
            <a:r>
              <a:rPr sz="1200" b="0" dirty="0" err="1">
                <a:solidFill>
                  <a:srgbClr val="101827"/>
                </a:solidFill>
              </a:rPr>
              <a:t>tiện</a:t>
            </a:r>
            <a:r>
              <a:rPr sz="1200" b="0" dirty="0">
                <a:solidFill>
                  <a:srgbClr val="101827"/>
                </a:solidFill>
              </a:rPr>
              <a:t> </a:t>
            </a:r>
            <a:r>
              <a:rPr sz="1200" b="0" dirty="0" err="1">
                <a:solidFill>
                  <a:srgbClr val="101827"/>
                </a:solidFill>
              </a:rPr>
              <a:t>thể</a:t>
            </a:r>
            <a:r>
              <a:rPr sz="1200" b="0" dirty="0">
                <a:solidFill>
                  <a:srgbClr val="101827"/>
                </a:solidFill>
              </a:rPr>
              <a:t> refactor module và </a:t>
            </a:r>
            <a:r>
              <a:rPr sz="1200" b="0" dirty="0" err="1">
                <a:solidFill>
                  <a:srgbClr val="101827"/>
                </a:solidFill>
              </a:rPr>
              <a:t>bổ</a:t>
            </a:r>
            <a:r>
              <a:rPr sz="1200" b="0" dirty="0">
                <a:solidFill>
                  <a:srgbClr val="101827"/>
                </a:solidFill>
              </a:rPr>
              <a:t> sung test.”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DDFA056-39C3-4397-8000-A1B0FC77322E}"/>
              </a:ext>
            </a:extLst>
          </p:cNvPr>
          <p:cNvSpPr>
            <a:spLocks noGrp="1"/>
          </p:cNvSpPr>
          <p:nvPr/>
        </p:nvSpPr>
        <p:spPr>
          <a:xfrm>
            <a:off x="6115050" y="5010150"/>
            <a:ext cx="685800" cy="190500"/>
          </a:xfrm>
          <a:prstGeom prst="rect">
            <a:avLst/>
          </a:prstGeom>
        </p:spPr>
        <p:txBody>
          <a:bodyPr anchor="ctr">
            <a:normAutofit fontScale="74167" lnSpcReduction="20000"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6845B"/>
                </a:solidFill>
              </a:defRPr>
            </a:pPr>
            <a:r>
              <a:rPr sz="975" b="1">
                <a:solidFill>
                  <a:srgbClr val="16845B"/>
                </a:solidFill>
              </a:rPr>
              <a:t>AFTER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E2557A3-9FD5-438C-9DCD-AD22D12F895B}"/>
              </a:ext>
            </a:extLst>
          </p:cNvPr>
          <p:cNvSpPr>
            <a:spLocks noGrp="1"/>
          </p:cNvSpPr>
          <p:nvPr/>
        </p:nvSpPr>
        <p:spPr>
          <a:xfrm>
            <a:off x="6819900" y="4953000"/>
            <a:ext cx="4876800" cy="552450"/>
          </a:xfrm>
          <a:prstGeom prst="roundRect">
            <a:avLst>
              <a:gd name="adj" fmla="val 13793"/>
            </a:avLst>
          </a:prstGeom>
          <a:solidFill>
            <a:srgbClr val="E8F7F0"/>
          </a:solidFill>
          <a:ln w="9525">
            <a:solidFill>
              <a:srgbClr val="A7DEC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ED9F77-535B-4D5C-B5A8-5597A9120B65}"/>
              </a:ext>
            </a:extLst>
          </p:cNvPr>
          <p:cNvSpPr>
            <a:spLocks noGrp="1"/>
          </p:cNvSpPr>
          <p:nvPr/>
        </p:nvSpPr>
        <p:spPr>
          <a:xfrm>
            <a:off x="6991350" y="5019675"/>
            <a:ext cx="4533900" cy="409575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101827"/>
                </a:solidFill>
              </a:defRPr>
            </a:pPr>
            <a:r>
              <a:rPr sz="1200" b="0" dirty="0">
                <a:solidFill>
                  <a:srgbClr val="101827"/>
                </a:solidFill>
              </a:rPr>
              <a:t>“Sửa refresh token </a:t>
            </a:r>
            <a:r>
              <a:rPr sz="1200" b="0" dirty="0" err="1">
                <a:solidFill>
                  <a:srgbClr val="101827"/>
                </a:solidFill>
              </a:rPr>
              <a:t>trong</a:t>
            </a:r>
            <a:r>
              <a:rPr sz="1200" b="0" dirty="0">
                <a:solidFill>
                  <a:srgbClr val="101827"/>
                </a:solidFill>
              </a:rPr>
              <a:t> </a:t>
            </a:r>
            <a:r>
              <a:rPr sz="1200" b="0" dirty="0" err="1">
                <a:solidFill>
                  <a:srgbClr val="101827"/>
                </a:solidFill>
              </a:rPr>
              <a:t>src</a:t>
            </a:r>
            <a:r>
              <a:rPr sz="1200" b="0" dirty="0">
                <a:solidFill>
                  <a:srgbClr val="101827"/>
                </a:solidFill>
              </a:rPr>
              <a:t>/auth/</a:t>
            </a:r>
            <a:r>
              <a:rPr sz="1200" b="0" dirty="0" err="1">
                <a:solidFill>
                  <a:srgbClr val="101827"/>
                </a:solidFill>
              </a:rPr>
              <a:t>session.ts</a:t>
            </a:r>
            <a:r>
              <a:rPr sz="1200" b="0" dirty="0">
                <a:solidFill>
                  <a:srgbClr val="101827"/>
                </a:solidFill>
              </a:rPr>
              <a:t>. </a:t>
            </a:r>
            <a:r>
              <a:rPr sz="1200" b="0" dirty="0" err="1">
                <a:solidFill>
                  <a:srgbClr val="101827"/>
                </a:solidFill>
              </a:rPr>
              <a:t>Không</a:t>
            </a:r>
            <a:r>
              <a:rPr sz="1200" b="0" dirty="0">
                <a:solidFill>
                  <a:srgbClr val="101827"/>
                </a:solidFill>
              </a:rPr>
              <a:t> </a:t>
            </a:r>
            <a:r>
              <a:rPr sz="1200" b="0" dirty="0" err="1">
                <a:solidFill>
                  <a:srgbClr val="101827"/>
                </a:solidFill>
              </a:rPr>
              <a:t>thêm</a:t>
            </a:r>
            <a:r>
              <a:rPr sz="1200" b="0" dirty="0">
                <a:solidFill>
                  <a:srgbClr val="101827"/>
                </a:solidFill>
              </a:rPr>
              <a:t> dependency. Xong </a:t>
            </a:r>
            <a:r>
              <a:rPr sz="1200" b="0" dirty="0" err="1">
                <a:solidFill>
                  <a:srgbClr val="101827"/>
                </a:solidFill>
              </a:rPr>
              <a:t>khi</a:t>
            </a:r>
            <a:r>
              <a:rPr sz="1200" b="0" dirty="0">
                <a:solidFill>
                  <a:srgbClr val="101827"/>
                </a:solidFill>
              </a:rPr>
              <a:t> test auth </a:t>
            </a:r>
            <a:r>
              <a:rPr sz="1200" b="0" dirty="0" err="1">
                <a:solidFill>
                  <a:srgbClr val="101827"/>
                </a:solidFill>
              </a:rPr>
              <a:t>chạy</a:t>
            </a:r>
            <a:r>
              <a:rPr sz="1200" b="0" dirty="0">
                <a:solidFill>
                  <a:srgbClr val="101827"/>
                </a:solidFill>
              </a:rPr>
              <a:t> qua.”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0D803B-908A-4D8A-AB89-B60909EA7DC6}"/>
              </a:ext>
            </a:extLst>
          </p:cNvPr>
          <p:cNvSpPr>
            <a:spLocks noGrp="1"/>
          </p:cNvSpPr>
          <p:nvPr/>
        </p:nvSpPr>
        <p:spPr>
          <a:xfrm>
            <a:off x="495300" y="5734050"/>
            <a:ext cx="8572500" cy="361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6246B5"/>
                </a:solidFill>
              </a:defRPr>
            </a:pPr>
            <a:r>
              <a:rPr sz="1275" b="1" dirty="0" err="1">
                <a:solidFill>
                  <a:srgbClr val="6246B5"/>
                </a:solidFill>
              </a:rPr>
              <a:t>Yêu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cầu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càng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rõ</a:t>
            </a:r>
            <a:r>
              <a:rPr sz="1275" b="1" dirty="0">
                <a:solidFill>
                  <a:srgbClr val="6246B5"/>
                </a:solidFill>
              </a:rPr>
              <a:t>, agent </a:t>
            </a:r>
            <a:r>
              <a:rPr sz="1275" b="1" dirty="0" err="1">
                <a:solidFill>
                  <a:srgbClr val="6246B5"/>
                </a:solidFill>
              </a:rPr>
              <a:t>càng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ít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phải</a:t>
            </a:r>
            <a:r>
              <a:rPr sz="1275" b="1" dirty="0">
                <a:solidFill>
                  <a:srgbClr val="6246B5"/>
                </a:solidFill>
              </a:rPr>
              <a:t> </a:t>
            </a:r>
            <a:r>
              <a:rPr sz="1275" b="1" dirty="0" err="1">
                <a:solidFill>
                  <a:srgbClr val="6246B5"/>
                </a:solidFill>
              </a:rPr>
              <a:t>tìm</a:t>
            </a:r>
            <a:r>
              <a:rPr sz="1275" b="1" dirty="0">
                <a:solidFill>
                  <a:srgbClr val="6246B5"/>
                </a:solidFill>
              </a:rPr>
              <a:t> lại, </a:t>
            </a:r>
            <a:r>
              <a:rPr sz="1275" b="1" dirty="0" err="1">
                <a:solidFill>
                  <a:srgbClr val="6246B5"/>
                </a:solidFill>
              </a:rPr>
              <a:t>hỏi</a:t>
            </a:r>
            <a:r>
              <a:rPr sz="1275" b="1" dirty="0">
                <a:solidFill>
                  <a:srgbClr val="6246B5"/>
                </a:solidFill>
              </a:rPr>
              <a:t> lại và </a:t>
            </a:r>
            <a:r>
              <a:rPr sz="1275" b="1" dirty="0" err="1">
                <a:solidFill>
                  <a:srgbClr val="6246B5"/>
                </a:solidFill>
              </a:rPr>
              <a:t>sửa</a:t>
            </a:r>
            <a:r>
              <a:rPr sz="1275" b="1" dirty="0">
                <a:solidFill>
                  <a:srgbClr val="6246B5"/>
                </a:solidFill>
              </a:rPr>
              <a:t> lại.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133C690C-519C-472F-BBCF-3C869636FDF8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09EE799-FFE2-4233-B7DB-BACD0B4D078D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← Quay lại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vòng</a:t>
            </a: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đời</a:t>
            </a:r>
            <a:endParaRPr sz="1200" b="1" dirty="0">
              <a:solidFill>
                <a:srgbClr val="6246B5"/>
              </a:solidFill>
              <a:hlinkClick r:id="rId3" action="ppaction://hlinksldjump"/>
            </a:endParaRP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D5AEC59A-438A-4732-B6F0-6A6A52514F47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88690C-849F-407A-93B3-C40F2292BD2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USER / TASK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97D1E4-BEAC-445D-917A-198E2A2E40F1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 dirty="0">
                <a:solidFill>
                  <a:srgbClr val="64748B"/>
                </a:solidFill>
              </a:rPr>
              <a:t>1</a:t>
            </a:r>
            <a:r>
              <a:rPr lang="en-US" sz="900" b="0" dirty="0">
                <a:solidFill>
                  <a:srgbClr val="64748B"/>
                </a:solidFill>
              </a:rPr>
              <a:t>2</a:t>
            </a:r>
            <a:r>
              <a:rPr sz="900" b="0" dirty="0">
                <a:solidFill>
                  <a:srgbClr val="64748B"/>
                </a:solidFill>
              </a:rPr>
              <a:t> / 2</a:t>
            </a:r>
            <a:r>
              <a:rPr lang="en-US" sz="900" b="0" dirty="0">
                <a:solidFill>
                  <a:srgbClr val="64748B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8545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1C3ED84-ABB7-458D-A157-741F65328BA3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432406-C0B1-46C7-9307-4AC7707BD4A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Những gì client đưa vào context đều trở thành input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17CFC16-BE9B-4970-9516-EC0937A17719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744BA3-FE07-4CC3-B0B7-3E5F8EDDAEA3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1</a:t>
            </a:r>
            <a:r>
              <a:rPr lang="en-US" sz="1050" b="1" dirty="0">
                <a:solidFill>
                  <a:srgbClr val="64748B"/>
                </a:solidFill>
              </a:rPr>
              <a:t>3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A99502A-EC4C-4B27-BB87-5781560AD549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5F7F8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FED95B-2DA4-4F9B-86EC-5FDCB4F923E2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200" b="1">
                <a:solidFill>
                  <a:srgbClr val="0E9AA7"/>
                </a:solidFill>
              </a:rPr>
              <a:t>BUILD CONTEXT / CLIENT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4B74DA-AF51-40C2-AF24-C36C0D1743CE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677B625-3AD3-47AE-BA11-AB18A9C3FC05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27486A-778C-4239-AC9F-2292A38E32C1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Instruction fields (CLAUDE.md) </a:t>
            </a:r>
            <a:r>
              <a:rPr lang="en-US" sz="1350" b="0" dirty="0" err="1">
                <a:solidFill>
                  <a:srgbClr val="334155"/>
                </a:solidFill>
              </a:rPr>
              <a:t>dài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hoặc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trùng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lặp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06ED72D-CF8C-449A-BB28-1ECB48895C3E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C3FB6F-07C3-4C79-BAAB-AC715CBC5572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Bật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nhiều</a:t>
            </a:r>
            <a:r>
              <a:rPr lang="en-US" sz="1350" b="0" dirty="0">
                <a:solidFill>
                  <a:srgbClr val="334155"/>
                </a:solidFill>
              </a:rPr>
              <a:t> took, skill, rules </a:t>
            </a:r>
            <a:r>
              <a:rPr lang="en-US" sz="1350" b="0" dirty="0" err="1">
                <a:solidFill>
                  <a:srgbClr val="334155"/>
                </a:solidFill>
              </a:rPr>
              <a:t>hoặc</a:t>
            </a:r>
            <a:r>
              <a:rPr lang="en-US" sz="1350" b="0" dirty="0">
                <a:solidFill>
                  <a:srgbClr val="334155"/>
                </a:solidFill>
              </a:rPr>
              <a:t> MCP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dùng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2A1C8F5A-882A-413A-8F10-8B52389F72A4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A4A5B9-0702-468E-A3E0-6D5BEAA02F4B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44E48B-587F-4BEF-BA8E-36CCAAFD3307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0E9AA7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D8CD66-9013-4D19-908D-61A86ECC46DA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E274BD-BA95-48B7-B56F-24DCAF2C8AC0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Giữ</a:t>
            </a:r>
            <a:r>
              <a:rPr lang="en-US" sz="1275" b="0" dirty="0">
                <a:solidFill>
                  <a:srgbClr val="101827"/>
                </a:solidFill>
              </a:rPr>
              <a:t> instruction files </a:t>
            </a:r>
            <a:r>
              <a:rPr lang="en-US" sz="1275" b="0" dirty="0" err="1">
                <a:solidFill>
                  <a:srgbClr val="101827"/>
                </a:solidFill>
              </a:rPr>
              <a:t>ngắn</a:t>
            </a:r>
            <a:r>
              <a:rPr lang="en-US" sz="1275" b="0" dirty="0">
                <a:solidFill>
                  <a:srgbClr val="101827"/>
                </a:solidFill>
              </a:rPr>
              <a:t>, </a:t>
            </a:r>
            <a:r>
              <a:rPr lang="en-US" sz="1275" b="0" dirty="0" err="1">
                <a:solidFill>
                  <a:srgbClr val="101827"/>
                </a:solidFill>
              </a:rPr>
              <a:t>bỏ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phần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trùng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102FC4D-79B6-4A63-9FF7-0BF1E3DA85DE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0E9AA7"/>
          </a:solidFill>
          <a:ln w="952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4BB17-C5F9-428E-AAA4-7E140C4CC0DF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00C1DE-21CC-497D-ADA1-A775E431DAF6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defRPr sz="1350" b="0">
                <a:solidFill>
                  <a:srgbClr val="101827"/>
                </a:solidFill>
              </a:defRPr>
            </a:pPr>
            <a:r>
              <a:rPr lang="en-US" sz="1275" dirty="0" err="1">
                <a:solidFill>
                  <a:srgbClr val="101827"/>
                </a:solidFill>
              </a:rPr>
              <a:t>Tắt</a:t>
            </a:r>
            <a:r>
              <a:rPr lang="en-US" sz="1275" dirty="0">
                <a:solidFill>
                  <a:srgbClr val="101827"/>
                </a:solidFill>
              </a:rPr>
              <a:t> tool, skill, rules và MCP </a:t>
            </a:r>
            <a:r>
              <a:rPr lang="en-US" sz="1275" dirty="0" err="1">
                <a:solidFill>
                  <a:srgbClr val="101827"/>
                </a:solidFill>
              </a:rPr>
              <a:t>không</a:t>
            </a:r>
            <a:r>
              <a:rPr lang="en-US" sz="1275" dirty="0">
                <a:solidFill>
                  <a:srgbClr val="101827"/>
                </a:solidFill>
              </a:rPr>
              <a:t> dùng </a:t>
            </a:r>
            <a:r>
              <a:rPr lang="en-US" sz="1275" dirty="0" err="1">
                <a:solidFill>
                  <a:srgbClr val="101827"/>
                </a:solidFill>
              </a:rPr>
              <a:t>trong</a:t>
            </a:r>
            <a:r>
              <a:rPr lang="en-US" sz="1275" dirty="0">
                <a:solidFill>
                  <a:srgbClr val="101827"/>
                </a:solidFill>
              </a:rPr>
              <a:t> task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65670CB-4468-4DDD-93B0-F71C1646B868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1EAB6C-CB77-466B-A959-9844B7D75C54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EBCEDFF-B03F-44DF-B6DC-714DD07CF8E8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11201400" cy="685800"/>
          </a:xfrm>
          <a:prstGeom prst="roundRect">
            <a:avLst>
              <a:gd name="adj" fmla="val 11111"/>
            </a:avLst>
          </a:prstGeom>
          <a:solidFill>
            <a:srgbClr val="E5F7F8"/>
          </a:solidFill>
          <a:ln w="14288">
            <a:solidFill>
              <a:srgbClr val="B8E2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A83D65-51E1-41BB-878D-BFC360B28539}"/>
              </a:ext>
            </a:extLst>
          </p:cNvPr>
          <p:cNvSpPr>
            <a:spLocks noGrp="1"/>
          </p:cNvSpPr>
          <p:nvPr/>
        </p:nvSpPr>
        <p:spPr>
          <a:xfrm>
            <a:off x="723900" y="5172075"/>
            <a:ext cx="10744200" cy="3619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0E9AA7"/>
                </a:solidFill>
              </a:defRPr>
            </a:pPr>
            <a:r>
              <a:rPr lang="en-US" sz="1275" b="1" dirty="0">
                <a:solidFill>
                  <a:srgbClr val="0E9AA7"/>
                </a:solidFill>
              </a:rPr>
              <a:t>R</a:t>
            </a:r>
            <a:r>
              <a:rPr sz="1275" b="1" dirty="0">
                <a:solidFill>
                  <a:srgbClr val="0E9AA7"/>
                </a:solidFill>
              </a:rPr>
              <a:t>ules </a:t>
            </a:r>
            <a:r>
              <a:rPr sz="1275" b="1" dirty="0" err="1">
                <a:solidFill>
                  <a:srgbClr val="0E9AA7"/>
                </a:solidFill>
              </a:rPr>
              <a:t>dài</a:t>
            </a:r>
            <a:r>
              <a:rPr sz="1275" b="1" dirty="0">
                <a:solidFill>
                  <a:srgbClr val="0E9AA7"/>
                </a:solidFill>
              </a:rPr>
              <a:t> + </a:t>
            </a:r>
            <a:r>
              <a:rPr lang="en-US" sz="1275" b="1" dirty="0">
                <a:solidFill>
                  <a:srgbClr val="0E9AA7"/>
                </a:solidFill>
              </a:rPr>
              <a:t>T</a:t>
            </a:r>
            <a:r>
              <a:rPr sz="1275" b="1" dirty="0">
                <a:solidFill>
                  <a:srgbClr val="0E9AA7"/>
                </a:solidFill>
              </a:rPr>
              <a:t>ool </a:t>
            </a:r>
            <a:r>
              <a:rPr sz="1275" b="1" dirty="0" err="1">
                <a:solidFill>
                  <a:srgbClr val="0E9AA7"/>
                </a:solidFill>
              </a:rPr>
              <a:t>không</a:t>
            </a:r>
            <a:r>
              <a:rPr sz="1275" b="1" dirty="0">
                <a:solidFill>
                  <a:srgbClr val="0E9AA7"/>
                </a:solidFill>
              </a:rPr>
              <a:t> dùng  →  </a:t>
            </a:r>
            <a:r>
              <a:rPr sz="1275" b="1" dirty="0" err="1">
                <a:solidFill>
                  <a:srgbClr val="0E9AA7"/>
                </a:solidFill>
              </a:rPr>
              <a:t>được</a:t>
            </a:r>
            <a:r>
              <a:rPr sz="1275" b="1" dirty="0">
                <a:solidFill>
                  <a:srgbClr val="0E9AA7"/>
                </a:solidFill>
              </a:rPr>
              <a:t> </a:t>
            </a:r>
            <a:r>
              <a:rPr sz="1275" b="1" dirty="0" err="1">
                <a:solidFill>
                  <a:srgbClr val="0E9AA7"/>
                </a:solidFill>
              </a:rPr>
              <a:t>gửi</a:t>
            </a:r>
            <a:r>
              <a:rPr sz="1275" b="1" dirty="0">
                <a:solidFill>
                  <a:srgbClr val="0E9AA7"/>
                </a:solidFill>
              </a:rPr>
              <a:t> lại </a:t>
            </a:r>
            <a:r>
              <a:rPr lang="en-US" sz="1275" b="1" dirty="0">
                <a:solidFill>
                  <a:srgbClr val="0E9AA7"/>
                </a:solidFill>
              </a:rPr>
              <a:t>TẤT CẢ </a:t>
            </a:r>
            <a:r>
              <a:rPr lang="en-US" sz="1275" b="1" dirty="0" err="1">
                <a:solidFill>
                  <a:srgbClr val="0E9AA7"/>
                </a:solidFill>
              </a:rPr>
              <a:t>lần</a:t>
            </a:r>
            <a:r>
              <a:rPr lang="en-US" sz="1275" b="1" dirty="0">
                <a:solidFill>
                  <a:srgbClr val="0E9AA7"/>
                </a:solidFill>
              </a:rPr>
              <a:t> </a:t>
            </a:r>
            <a:r>
              <a:rPr sz="1275" b="1" dirty="0" err="1">
                <a:solidFill>
                  <a:srgbClr val="0E9AA7"/>
                </a:solidFill>
              </a:rPr>
              <a:t>gọi</a:t>
            </a:r>
            <a:r>
              <a:rPr sz="1275" b="1" dirty="0">
                <a:solidFill>
                  <a:srgbClr val="0E9AA7"/>
                </a:solidFill>
              </a:rPr>
              <a:t> model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89DC34F-F253-47CD-A728-133DE8F54F58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08D01F-0BC3-4A38-8808-1E5C85C50379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← Quay lại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vòng</a:t>
            </a: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đời</a:t>
            </a:r>
            <a:endParaRPr sz="1200" b="1" dirty="0">
              <a:solidFill>
                <a:srgbClr val="6246B5"/>
              </a:solidFill>
              <a:hlinkClick r:id="rId3" action="ppaction://hlinksldjump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61795BB-CF41-45C5-A645-1967B5F259A5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397FCAC-A52D-4926-B1D6-AAECEAED4576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BUILD CONTEXT / CLIENT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E6148DE-6C73-4A81-AAB7-2E41FF4DCAEE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 dirty="0">
                <a:solidFill>
                  <a:srgbClr val="64748B"/>
                </a:solidFill>
              </a:rPr>
              <a:t>1</a:t>
            </a:r>
            <a:r>
              <a:rPr lang="en-US" sz="900" b="0" dirty="0">
                <a:solidFill>
                  <a:srgbClr val="64748B"/>
                </a:solidFill>
              </a:rPr>
              <a:t>3</a:t>
            </a:r>
            <a:r>
              <a:rPr sz="900" b="0" dirty="0">
                <a:solidFill>
                  <a:srgbClr val="64748B"/>
                </a:solidFill>
              </a:rPr>
              <a:t> / </a:t>
            </a:r>
            <a:r>
              <a:rPr lang="en-US" sz="900" b="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48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D92D5E37-4124-430A-8205-F8BB6EB0A2F2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A42E43-E54B-403E-B690-2C0D4E85E7A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100" b="1" dirty="0">
                <a:solidFill>
                  <a:srgbClr val="101827"/>
                </a:solidFill>
              </a:rPr>
              <a:t>Ở </a:t>
            </a:r>
            <a:r>
              <a:rPr sz="2100" b="1" dirty="0" err="1">
                <a:solidFill>
                  <a:srgbClr val="101827"/>
                </a:solidFill>
              </a:rPr>
              <a:t>lần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gọi</a:t>
            </a:r>
            <a:r>
              <a:rPr sz="2100" b="1" dirty="0">
                <a:solidFill>
                  <a:srgbClr val="101827"/>
                </a:solidFill>
              </a:rPr>
              <a:t> model, </a:t>
            </a:r>
            <a:r>
              <a:rPr sz="2100" b="1" dirty="0" err="1">
                <a:solidFill>
                  <a:srgbClr val="101827"/>
                </a:solidFill>
              </a:rPr>
              <a:t>lãng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phí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đến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từ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cả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phạm</a:t>
            </a:r>
            <a:r>
              <a:rPr sz="2100" b="1" dirty="0">
                <a:solidFill>
                  <a:srgbClr val="101827"/>
                </a:solidFill>
              </a:rPr>
              <a:t> vi </a:t>
            </a:r>
            <a:r>
              <a:rPr sz="2100" b="1" dirty="0" err="1">
                <a:solidFill>
                  <a:srgbClr val="101827"/>
                </a:solidFill>
              </a:rPr>
              <a:t>xây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dựng</a:t>
            </a:r>
            <a:r>
              <a:rPr sz="2100" b="1" dirty="0">
                <a:solidFill>
                  <a:srgbClr val="101827"/>
                </a:solidFill>
              </a:rPr>
              <a:t> và </a:t>
            </a:r>
            <a:r>
              <a:rPr sz="2100" b="1" dirty="0" err="1">
                <a:solidFill>
                  <a:srgbClr val="101827"/>
                </a:solidFill>
              </a:rPr>
              <a:t>độ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dài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câu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trả</a:t>
            </a:r>
            <a:r>
              <a:rPr sz="2100" b="1" dirty="0">
                <a:solidFill>
                  <a:srgbClr val="101827"/>
                </a:solidFill>
              </a:rPr>
              <a:t> </a:t>
            </a:r>
            <a:r>
              <a:rPr sz="2100" b="1" dirty="0" err="1">
                <a:solidFill>
                  <a:srgbClr val="101827"/>
                </a:solidFill>
              </a:rPr>
              <a:t>lời</a:t>
            </a:r>
            <a:endParaRPr sz="2100" b="1" dirty="0">
              <a:solidFill>
                <a:srgbClr val="101827"/>
              </a:solidFill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1F04D57-40DB-4D03-AFC5-8ECB7EDB33D8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E8D4CF-7499-4010-8D73-D2B772D72534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1</a:t>
            </a:r>
            <a:r>
              <a:rPr lang="en-US" sz="1050" b="1" dirty="0">
                <a:solidFill>
                  <a:srgbClr val="64748B"/>
                </a:solidFill>
              </a:rPr>
              <a:t>4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91A728-F9FC-4803-8853-ACB19E941076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64AE55-8355-430A-95E0-0BECF0373D6B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lang="en-US" sz="1200" b="1" dirty="0">
                <a:solidFill>
                  <a:srgbClr val="6246B5"/>
                </a:solidFill>
              </a:rPr>
              <a:t>Model </a:t>
            </a:r>
            <a:r>
              <a:rPr lang="en-US" sz="1200" b="1" dirty="0" err="1">
                <a:solidFill>
                  <a:srgbClr val="6246B5"/>
                </a:solidFill>
              </a:rPr>
              <a:t>xử</a:t>
            </a:r>
            <a:r>
              <a:rPr lang="en-US" sz="1200" b="1" dirty="0">
                <a:solidFill>
                  <a:srgbClr val="6246B5"/>
                </a:solidFill>
              </a:rPr>
              <a:t> lý</a:t>
            </a:r>
            <a:endParaRPr sz="1200" b="1" dirty="0">
              <a:solidFill>
                <a:srgbClr val="6246B5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0EA756-94D0-4F13-97E5-6FE7E2A0329D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90CCD2-A0EB-4C3B-90D1-83D27437057B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0B4D62-E8E0-416F-817A-29CF486DE9CE}"/>
              </a:ext>
            </a:extLst>
          </p:cNvPr>
          <p:cNvSpPr>
            <a:spLocks noGrp="1"/>
          </p:cNvSpPr>
          <p:nvPr/>
        </p:nvSpPr>
        <p:spPr>
          <a:xfrm>
            <a:off x="723900" y="20193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Sử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dụng</a:t>
            </a:r>
            <a:r>
              <a:rPr lang="en-US" sz="1350" dirty="0">
                <a:solidFill>
                  <a:srgbClr val="334155"/>
                </a:solidFill>
              </a:rPr>
              <a:t> model, effort </a:t>
            </a:r>
            <a:r>
              <a:rPr lang="en-US" sz="1350" dirty="0" err="1">
                <a:solidFill>
                  <a:srgbClr val="334155"/>
                </a:solidFill>
              </a:rPr>
              <a:t>không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hợp</a:t>
            </a:r>
            <a:r>
              <a:rPr lang="en-US" sz="1350" dirty="0">
                <a:solidFill>
                  <a:srgbClr val="334155"/>
                </a:solidFill>
              </a:rPr>
              <a:t> lý </a:t>
            </a:r>
            <a:r>
              <a:rPr lang="en-US" sz="1350" dirty="0" err="1">
                <a:solidFill>
                  <a:srgbClr val="334155"/>
                </a:solidFill>
              </a:rPr>
              <a:t>cho</a:t>
            </a:r>
            <a:r>
              <a:rPr lang="en-US" sz="1350" dirty="0">
                <a:solidFill>
                  <a:srgbClr val="334155"/>
                </a:solidFill>
              </a:rPr>
              <a:t> task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83F7762-EA3D-4237-B5A3-0402437308BA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5A3D79-1858-446A-A3A2-214D5C3CFCB3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Model </a:t>
            </a:r>
            <a:r>
              <a:rPr lang="en-US" sz="1350" b="0" dirty="0" err="1">
                <a:solidFill>
                  <a:srgbClr val="334155"/>
                </a:solidFill>
              </a:rPr>
              <a:t>trả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lời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dài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dòng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cần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thiết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52624B0-85BF-4DE9-9282-38C6B8B73647}"/>
              </a:ext>
            </a:extLst>
          </p:cNvPr>
          <p:cNvSpPr>
            <a:spLocks noGrp="1"/>
          </p:cNvSpPr>
          <p:nvPr/>
        </p:nvSpPr>
        <p:spPr>
          <a:xfrm>
            <a:off x="533400" y="337185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2741C-06E9-4F71-B9DF-3057BA2DFB1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Model </a:t>
            </a:r>
            <a:r>
              <a:rPr lang="en-US" sz="1350" b="0" dirty="0" err="1">
                <a:solidFill>
                  <a:srgbClr val="334155"/>
                </a:solidFill>
              </a:rPr>
              <a:t>xây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mới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thay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vì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sử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dụng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giải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pháp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hiện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có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AC0F88C5-9755-4004-ADA0-065CC7513667}"/>
              </a:ext>
            </a:extLst>
          </p:cNvPr>
          <p:cNvSpPr>
            <a:spLocks noGrp="1"/>
          </p:cNvSpPr>
          <p:nvPr/>
        </p:nvSpPr>
        <p:spPr>
          <a:xfrm>
            <a:off x="5905500" y="1733551"/>
            <a:ext cx="12700" cy="1790700"/>
          </a:xfrm>
          <a:prstGeom prst="line">
            <a:avLst/>
          </a:prstGeom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1BA482-DD12-451E-BFB3-01FD9E8B48A0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GIẢI PHÁP ƯU TIÊN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B79B0DB-BAE4-4EAF-8C08-8DA4EAEA33D5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D2501C-9ADD-414D-8DC3-EA48154F95B2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4CDC4A-39E4-4376-8CA4-594201175864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Lựa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chọn</a:t>
            </a:r>
            <a:r>
              <a:rPr lang="en-US" sz="1275" dirty="0">
                <a:solidFill>
                  <a:srgbClr val="101827"/>
                </a:solidFill>
              </a:rPr>
              <a:t> model, effort </a:t>
            </a:r>
            <a:r>
              <a:rPr lang="en-US" sz="1275" dirty="0" err="1">
                <a:solidFill>
                  <a:srgbClr val="101827"/>
                </a:solidFill>
              </a:rPr>
              <a:t>hợp</a:t>
            </a:r>
            <a:r>
              <a:rPr lang="en-US" sz="1275" dirty="0">
                <a:solidFill>
                  <a:srgbClr val="101827"/>
                </a:solidFill>
              </a:rPr>
              <a:t> lý </a:t>
            </a:r>
            <a:r>
              <a:rPr lang="en-US" sz="1275" dirty="0" err="1">
                <a:solidFill>
                  <a:srgbClr val="101827"/>
                </a:solidFill>
              </a:rPr>
              <a:t>cho</a:t>
            </a:r>
            <a:r>
              <a:rPr lang="en-US" sz="1275" dirty="0">
                <a:solidFill>
                  <a:srgbClr val="101827"/>
                </a:solidFill>
              </a:rPr>
              <a:t> task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96D9F4A-3E0A-4DAC-AE7F-6C309DD822BC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3AABA1-C99A-4043-8C11-A9DF2A217958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E5B1AB-BFDF-48ED-98F4-FA7167ADB772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275" b="0" dirty="0" err="1">
                <a:solidFill>
                  <a:srgbClr val="101827"/>
                </a:solidFill>
              </a:rPr>
              <a:t>Yêu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cầu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phần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diễn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giải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ngắn</a:t>
            </a:r>
            <a:r>
              <a:rPr sz="1275" b="0" dirty="0">
                <a:solidFill>
                  <a:srgbClr val="101827"/>
                </a:solidFill>
              </a:rPr>
              <a:t>, </a:t>
            </a:r>
            <a:r>
              <a:rPr sz="1275" b="0" dirty="0" err="1">
                <a:solidFill>
                  <a:srgbClr val="101827"/>
                </a:solidFill>
              </a:rPr>
              <a:t>đi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thẳng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vào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kết</a:t>
            </a:r>
            <a:r>
              <a:rPr sz="1275" b="0" dirty="0">
                <a:solidFill>
                  <a:srgbClr val="101827"/>
                </a:solidFill>
              </a:rPr>
              <a:t> </a:t>
            </a:r>
            <a:r>
              <a:rPr sz="1275" b="0" dirty="0" err="1">
                <a:solidFill>
                  <a:srgbClr val="101827"/>
                </a:solidFill>
              </a:rPr>
              <a:t>quả</a:t>
            </a:r>
            <a:r>
              <a:rPr lang="en-US" sz="1275" b="0" dirty="0">
                <a:solidFill>
                  <a:srgbClr val="101827"/>
                </a:solidFill>
              </a:rPr>
              <a:t> qua prompt, config</a:t>
            </a: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2D6D6B8-7731-4F49-96B0-3775CDFB73FF}"/>
              </a:ext>
            </a:extLst>
          </p:cNvPr>
          <p:cNvSpPr>
            <a:spLocks noGrp="1"/>
          </p:cNvSpPr>
          <p:nvPr/>
        </p:nvSpPr>
        <p:spPr>
          <a:xfrm>
            <a:off x="6324600" y="290512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1E0ADB-6633-4929-A96F-4E389F6CADC8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746FEF-7AD9-46DA-B17E-A6F49AA14749}"/>
              </a:ext>
            </a:extLst>
          </p:cNvPr>
          <p:cNvSpPr>
            <a:spLocks noGrp="1"/>
          </p:cNvSpPr>
          <p:nvPr/>
        </p:nvSpPr>
        <p:spPr>
          <a:xfrm>
            <a:off x="6686550" y="28765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Sử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dụng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công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cụ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1" dirty="0">
                <a:solidFill>
                  <a:srgbClr val="101827"/>
                </a:solidFill>
              </a:rPr>
              <a:t>Caveman </a:t>
            </a:r>
            <a:r>
              <a:rPr lang="en-US" sz="1275" dirty="0">
                <a:solidFill>
                  <a:srgbClr val="101827"/>
                </a:solidFill>
              </a:rPr>
              <a:t>=&gt; </a:t>
            </a:r>
            <a:r>
              <a:rPr lang="en-US" sz="1275" dirty="0" err="1">
                <a:solidFill>
                  <a:srgbClr val="101827"/>
                </a:solidFill>
              </a:rPr>
              <a:t>ép</a:t>
            </a:r>
            <a:r>
              <a:rPr lang="en-US" sz="1275" dirty="0">
                <a:solidFill>
                  <a:srgbClr val="101827"/>
                </a:solidFill>
              </a:rPr>
              <a:t> model </a:t>
            </a:r>
            <a:r>
              <a:rPr lang="en-US" sz="1275" dirty="0" err="1">
                <a:solidFill>
                  <a:srgbClr val="101827"/>
                </a:solidFill>
              </a:rPr>
              <a:t>trả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lời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như</a:t>
            </a:r>
            <a:r>
              <a:rPr lang="en-US" sz="1275" dirty="0">
                <a:solidFill>
                  <a:srgbClr val="101827"/>
                </a:solidFill>
              </a:rPr>
              <a:t> người </a:t>
            </a:r>
            <a:r>
              <a:rPr lang="en-US" sz="1275" dirty="0" err="1">
                <a:solidFill>
                  <a:srgbClr val="101827"/>
                </a:solidFill>
              </a:rPr>
              <a:t>rừng</a:t>
            </a:r>
            <a:endParaRPr sz="1275" b="1" dirty="0">
              <a:solidFill>
                <a:srgbClr val="101827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8AED8F1-8DCB-44C1-A8F6-DEBEDFA6C77C}"/>
              </a:ext>
            </a:extLst>
          </p:cNvPr>
          <p:cNvSpPr>
            <a:spLocks noGrp="1"/>
          </p:cNvSpPr>
          <p:nvPr/>
        </p:nvSpPr>
        <p:spPr>
          <a:xfrm>
            <a:off x="6324600" y="330517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09AB608-BA85-4F55-9652-FBD0598EEE48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7F2F45-3104-41BB-B8E9-AA68A2D1EE4E}"/>
              </a:ext>
            </a:extLst>
          </p:cNvPr>
          <p:cNvSpPr>
            <a:spLocks noGrp="1"/>
          </p:cNvSpPr>
          <p:nvPr/>
        </p:nvSpPr>
        <p:spPr>
          <a:xfrm>
            <a:off x="6677025" y="3219450"/>
            <a:ext cx="4781550" cy="6096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75" b="0" dirty="0" err="1">
                <a:solidFill>
                  <a:srgbClr val="101827"/>
                </a:solidFill>
              </a:rPr>
              <a:t>Sử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dụng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công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0" dirty="0" err="1">
                <a:solidFill>
                  <a:srgbClr val="101827"/>
                </a:solidFill>
              </a:rPr>
              <a:t>cụ</a:t>
            </a:r>
            <a:r>
              <a:rPr lang="en-US" sz="1275" b="0" dirty="0">
                <a:solidFill>
                  <a:srgbClr val="101827"/>
                </a:solidFill>
              </a:rPr>
              <a:t> </a:t>
            </a:r>
            <a:r>
              <a:rPr lang="en-US" sz="1275" b="1" dirty="0">
                <a:solidFill>
                  <a:srgbClr val="101827"/>
                </a:solidFill>
              </a:rPr>
              <a:t>Ponytail </a:t>
            </a:r>
            <a:r>
              <a:rPr lang="en-US" sz="1275" dirty="0">
                <a:solidFill>
                  <a:srgbClr val="101827"/>
                </a:solidFill>
              </a:rPr>
              <a:t>=&gt; </a:t>
            </a:r>
            <a:r>
              <a:rPr lang="en-US" sz="1275" dirty="0" err="1">
                <a:solidFill>
                  <a:srgbClr val="101827"/>
                </a:solidFill>
              </a:rPr>
              <a:t>yêu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cầu</a:t>
            </a:r>
            <a:r>
              <a:rPr lang="en-US" sz="1275" dirty="0">
                <a:solidFill>
                  <a:srgbClr val="101827"/>
                </a:solidFill>
              </a:rPr>
              <a:t> model </a:t>
            </a:r>
            <a:r>
              <a:rPr lang="en-US" sz="1275" dirty="0" err="1">
                <a:solidFill>
                  <a:srgbClr val="101827"/>
                </a:solidFill>
              </a:rPr>
              <a:t>kiểm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tra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khả</a:t>
            </a:r>
            <a:r>
              <a:rPr lang="en-US" sz="1275" dirty="0">
                <a:solidFill>
                  <a:srgbClr val="101827"/>
                </a:solidFill>
              </a:rPr>
              <a:t> năng </a:t>
            </a:r>
            <a:r>
              <a:rPr lang="en-US" sz="1275" dirty="0" err="1">
                <a:solidFill>
                  <a:srgbClr val="101827"/>
                </a:solidFill>
              </a:rPr>
              <a:t>tái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sử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dụng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trước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khi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xây</a:t>
            </a:r>
            <a:r>
              <a:rPr lang="en-US" sz="1275" dirty="0">
                <a:solidFill>
                  <a:srgbClr val="101827"/>
                </a:solidFill>
              </a:rPr>
              <a:t> </a:t>
            </a:r>
            <a:r>
              <a:rPr lang="en-US" sz="1275" dirty="0" err="1">
                <a:solidFill>
                  <a:srgbClr val="101827"/>
                </a:solidFill>
              </a:rPr>
              <a:t>mới</a:t>
            </a:r>
            <a:endParaRPr lang="en-US" sz="1275" b="1" dirty="0">
              <a:solidFill>
                <a:srgbClr val="10182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74FAAE3-05ED-45B1-BBCF-59C77EF292F8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2F8AC1-6B02-42C1-97AD-000AD5808F27}"/>
              </a:ext>
            </a:extLst>
          </p:cNvPr>
          <p:cNvSpPr>
            <a:spLocks noGrp="1"/>
          </p:cNvSpPr>
          <p:nvPr/>
        </p:nvSpPr>
        <p:spPr>
          <a:xfrm>
            <a:off x="6686550" y="36766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endParaRPr sz="1275" b="0" dirty="0">
              <a:solidFill>
                <a:srgbClr val="101827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7A2A118-E79C-46E2-BE2B-B072F5935A05}"/>
              </a:ext>
            </a:extLst>
          </p:cNvPr>
          <p:cNvSpPr>
            <a:spLocks noGrp="1"/>
          </p:cNvSpPr>
          <p:nvPr/>
        </p:nvSpPr>
        <p:spPr>
          <a:xfrm>
            <a:off x="495300" y="3981449"/>
            <a:ext cx="5143500" cy="1789748"/>
          </a:xfrm>
          <a:prstGeom prst="roundRect">
            <a:avLst>
              <a:gd name="adj" fmla="val 11429"/>
            </a:avLst>
          </a:prstGeom>
          <a:noFill/>
          <a:ln w="11430">
            <a:solidFill>
              <a:srgbClr val="F3B6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8E7F91-4AE8-493D-8EFA-0FC342A6D413}"/>
              </a:ext>
            </a:extLst>
          </p:cNvPr>
          <p:cNvSpPr>
            <a:spLocks noGrp="1"/>
          </p:cNvSpPr>
          <p:nvPr/>
        </p:nvSpPr>
        <p:spPr>
          <a:xfrm>
            <a:off x="704850" y="4077652"/>
            <a:ext cx="4724400" cy="274319"/>
          </a:xfrm>
          <a:prstGeom prst="rect">
            <a:avLst/>
          </a:prstGeom>
        </p:spPr>
        <p:txBody>
          <a:bodyPr anchor="ctr">
            <a:normAutofit fontScale="94412" lnSpcReduction="10000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lang="en-US" sz="1275" b="1" dirty="0">
                <a:solidFill>
                  <a:srgbClr val="D97706"/>
                </a:solidFill>
              </a:rPr>
              <a:t>CAVEMAN (SKILL)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394EBC1-29DF-4E70-9E11-79A72538F2C1}"/>
              </a:ext>
            </a:extLst>
          </p:cNvPr>
          <p:cNvSpPr>
            <a:spLocks noGrp="1"/>
          </p:cNvSpPr>
          <p:nvPr/>
        </p:nvSpPr>
        <p:spPr>
          <a:xfrm>
            <a:off x="6553200" y="3952875"/>
            <a:ext cx="5143500" cy="1818322"/>
          </a:xfrm>
          <a:prstGeom prst="roundRect">
            <a:avLst>
              <a:gd name="adj" fmla="val 11429"/>
            </a:avLst>
          </a:prstGeom>
          <a:noFill/>
          <a:ln w="11430">
            <a:solidFill>
              <a:srgbClr val="F0C47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D1AA9C-9636-49FB-BF33-19EAD9F52A9A}"/>
              </a:ext>
            </a:extLst>
          </p:cNvPr>
          <p:cNvSpPr>
            <a:spLocks noGrp="1"/>
          </p:cNvSpPr>
          <p:nvPr/>
        </p:nvSpPr>
        <p:spPr>
          <a:xfrm>
            <a:off x="6762750" y="4058603"/>
            <a:ext cx="4724400" cy="265747"/>
          </a:xfrm>
          <a:prstGeom prst="rect">
            <a:avLst/>
          </a:prstGeom>
        </p:spPr>
        <p:txBody>
          <a:bodyPr anchor="ctr">
            <a:normAutofit fontScale="94412" lnSpcReduction="10000"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D97706"/>
                </a:solidFill>
              </a:defRPr>
            </a:pPr>
            <a:r>
              <a:rPr lang="en-US" sz="1275" b="1" dirty="0">
                <a:solidFill>
                  <a:srgbClr val="D97706"/>
                </a:solidFill>
              </a:rPr>
              <a:t>PONYTAIL</a:t>
            </a:r>
            <a:endParaRPr sz="1275" b="1" dirty="0">
              <a:solidFill>
                <a:srgbClr val="D97706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5A5C53-D0D9-46ED-AD41-D4195314156B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885051-9CCC-4112-98B7-2A8DBC8883E2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B413A359-0A59-4CAB-BA4B-E56489BDE875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683021E-30EC-401E-9F5F-DA688224048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LẦN GỌI MODEL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A7C1D-41D7-4188-B732-13193FE78296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 dirty="0">
                <a:solidFill>
                  <a:srgbClr val="64748B"/>
                </a:solidFill>
              </a:rPr>
              <a:t>1</a:t>
            </a:r>
            <a:r>
              <a:rPr lang="en-US" sz="900" b="0" dirty="0">
                <a:solidFill>
                  <a:srgbClr val="64748B"/>
                </a:solidFill>
              </a:rPr>
              <a:t>4</a:t>
            </a:r>
            <a:r>
              <a:rPr sz="900" b="0" dirty="0">
                <a:solidFill>
                  <a:srgbClr val="64748B"/>
                </a:solidFill>
              </a:rPr>
              <a:t> / </a:t>
            </a:r>
            <a:r>
              <a:rPr lang="en-US" sz="900" b="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57DBE0-FC4D-EE77-55C7-578B5E81B52D}"/>
              </a:ext>
            </a:extLst>
          </p:cNvPr>
          <p:cNvSpPr/>
          <p:nvPr/>
        </p:nvSpPr>
        <p:spPr>
          <a:xfrm>
            <a:off x="609600" y="4351971"/>
            <a:ext cx="2266950" cy="127635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 err="1">
                <a:solidFill>
                  <a:srgbClr val="C43C4E"/>
                </a:solidFill>
              </a:rPr>
              <a:t>Tôi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đã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bắt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đầu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bằng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việc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phân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tích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luồng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xác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thực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hiện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tại</a:t>
            </a:r>
            <a:r>
              <a:rPr lang="en-US" sz="1100" b="1" dirty="0">
                <a:solidFill>
                  <a:srgbClr val="C43C4E"/>
                </a:solidFill>
              </a:rPr>
              <a:t>. </a:t>
            </a:r>
            <a:r>
              <a:rPr lang="en-US" sz="1100" b="1" dirty="0" err="1">
                <a:solidFill>
                  <a:srgbClr val="C43C4E"/>
                </a:solidFill>
              </a:rPr>
              <a:t>Tiếp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theo</a:t>
            </a:r>
            <a:r>
              <a:rPr lang="en-US" sz="1100" b="1" dirty="0">
                <a:solidFill>
                  <a:srgbClr val="C43C4E"/>
                </a:solidFill>
              </a:rPr>
              <a:t>, </a:t>
            </a:r>
            <a:r>
              <a:rPr lang="en-US" sz="1100" b="1" dirty="0" err="1">
                <a:solidFill>
                  <a:srgbClr val="C43C4E"/>
                </a:solidFill>
              </a:rPr>
              <a:t>tôi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kiểm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tra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toàn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bộ</a:t>
            </a:r>
            <a:r>
              <a:rPr lang="en-US" sz="1100" b="1" dirty="0">
                <a:solidFill>
                  <a:srgbClr val="C43C4E"/>
                </a:solidFill>
              </a:rPr>
              <a:t> module và </a:t>
            </a:r>
            <a:r>
              <a:rPr lang="en-US" sz="1100" b="1" dirty="0" err="1">
                <a:solidFill>
                  <a:srgbClr val="C43C4E"/>
                </a:solidFill>
              </a:rPr>
              <a:t>xác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định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nguyên</a:t>
            </a:r>
            <a:r>
              <a:rPr lang="en-US" sz="1100" b="1" dirty="0">
                <a:solidFill>
                  <a:srgbClr val="C43C4E"/>
                </a:solidFill>
              </a:rPr>
              <a:t> nhân </a:t>
            </a:r>
            <a:r>
              <a:rPr lang="en-US" sz="1100" b="1" dirty="0" err="1">
                <a:solidFill>
                  <a:srgbClr val="C43C4E"/>
                </a:solidFill>
              </a:rPr>
              <a:t>nằm</a:t>
            </a:r>
            <a:r>
              <a:rPr lang="en-US" sz="1100" b="1" dirty="0">
                <a:solidFill>
                  <a:srgbClr val="C43C4E"/>
                </a:solidFill>
              </a:rPr>
              <a:t> ở logic refresh token. Sau </a:t>
            </a:r>
            <a:r>
              <a:rPr lang="en-US" sz="1100" b="1" dirty="0" err="1">
                <a:solidFill>
                  <a:srgbClr val="C43C4E"/>
                </a:solidFill>
              </a:rPr>
              <a:t>một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số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bước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điều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tra</a:t>
            </a:r>
            <a:r>
              <a:rPr lang="en-US" sz="1100" b="1" dirty="0">
                <a:solidFill>
                  <a:srgbClr val="C43C4E"/>
                </a:solidFill>
              </a:rPr>
              <a:t> và </a:t>
            </a:r>
            <a:r>
              <a:rPr lang="en-US" sz="1100" b="1" dirty="0" err="1">
                <a:solidFill>
                  <a:srgbClr val="C43C4E"/>
                </a:solidFill>
              </a:rPr>
              <a:t>chỉnh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sửa</a:t>
            </a:r>
            <a:r>
              <a:rPr lang="en-US" sz="1100" b="1" dirty="0">
                <a:solidFill>
                  <a:srgbClr val="C43C4E"/>
                </a:solidFill>
              </a:rPr>
              <a:t>, </a:t>
            </a:r>
            <a:r>
              <a:rPr lang="en-US" sz="1100" b="1" dirty="0" err="1">
                <a:solidFill>
                  <a:srgbClr val="C43C4E"/>
                </a:solidFill>
              </a:rPr>
              <a:t>lỗi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đã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được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khắc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phục</a:t>
            </a:r>
            <a:r>
              <a:rPr lang="en-US" sz="1100" b="1" dirty="0">
                <a:solidFill>
                  <a:srgbClr val="C43C4E"/>
                </a:solidFill>
              </a:rPr>
              <a:t>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B880BF7-1629-A633-942E-C467F9C644E5}"/>
              </a:ext>
            </a:extLst>
          </p:cNvPr>
          <p:cNvSpPr/>
          <p:nvPr/>
        </p:nvSpPr>
        <p:spPr>
          <a:xfrm>
            <a:off x="3252788" y="4351971"/>
            <a:ext cx="2266950" cy="12763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100" b="1" dirty="0" err="1">
                <a:solidFill>
                  <a:srgbClr val="16845B"/>
                </a:solidFill>
              </a:rPr>
              <a:t>Đã</a:t>
            </a:r>
            <a:r>
              <a:rPr lang="en-US" sz="1100" b="1" dirty="0">
                <a:solidFill>
                  <a:srgbClr val="16845B"/>
                </a:solidFill>
              </a:rPr>
              <a:t> </a:t>
            </a:r>
            <a:r>
              <a:rPr lang="en-US" sz="1100" b="1" dirty="0" err="1">
                <a:solidFill>
                  <a:srgbClr val="16845B"/>
                </a:solidFill>
              </a:rPr>
              <a:t>sửa</a:t>
            </a:r>
            <a:r>
              <a:rPr lang="en-US" sz="1100" b="1" dirty="0">
                <a:solidFill>
                  <a:srgbClr val="16845B"/>
                </a:solidFill>
              </a:rPr>
              <a:t> </a:t>
            </a:r>
            <a:r>
              <a:rPr lang="en-US" sz="1100" b="1" dirty="0" err="1">
                <a:solidFill>
                  <a:srgbClr val="16845B"/>
                </a:solidFill>
              </a:rPr>
              <a:t>lỗi</a:t>
            </a:r>
            <a:r>
              <a:rPr lang="en-US" sz="1100" b="1" dirty="0">
                <a:solidFill>
                  <a:srgbClr val="16845B"/>
                </a:solidFill>
              </a:rPr>
              <a:t> refresh token.</a:t>
            </a:r>
            <a:br>
              <a:rPr lang="en-US" sz="1100" b="1" dirty="0">
                <a:solidFill>
                  <a:srgbClr val="16845B"/>
                </a:solidFill>
              </a:rPr>
            </a:br>
            <a:r>
              <a:rPr lang="en-US" sz="1100" b="1" dirty="0" err="1">
                <a:solidFill>
                  <a:srgbClr val="16845B"/>
                </a:solidFill>
              </a:rPr>
              <a:t>Kiểm</a:t>
            </a:r>
            <a:r>
              <a:rPr lang="en-US" sz="1100" b="1" dirty="0">
                <a:solidFill>
                  <a:srgbClr val="16845B"/>
                </a:solidFill>
              </a:rPr>
              <a:t> </a:t>
            </a:r>
            <a:r>
              <a:rPr lang="en-US" sz="1100" b="1" dirty="0" err="1">
                <a:solidFill>
                  <a:srgbClr val="16845B"/>
                </a:solidFill>
              </a:rPr>
              <a:t>tra</a:t>
            </a:r>
            <a:r>
              <a:rPr lang="en-US" sz="1100" b="1" dirty="0">
                <a:solidFill>
                  <a:srgbClr val="16845B"/>
                </a:solidFill>
              </a:rPr>
              <a:t>: </a:t>
            </a:r>
            <a:r>
              <a:rPr lang="en-US" sz="1100" b="1" dirty="0" err="1">
                <a:solidFill>
                  <a:srgbClr val="16845B"/>
                </a:solidFill>
              </a:rPr>
              <a:t>npm</a:t>
            </a:r>
            <a:r>
              <a:rPr lang="en-US" sz="1100" b="1" dirty="0">
                <a:solidFill>
                  <a:srgbClr val="16845B"/>
                </a:solidFill>
              </a:rPr>
              <a:t> test -- auth PASS.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52BE721-6CB3-7C0C-ECD8-4C7899240C3D}"/>
              </a:ext>
            </a:extLst>
          </p:cNvPr>
          <p:cNvSpPr/>
          <p:nvPr/>
        </p:nvSpPr>
        <p:spPr>
          <a:xfrm>
            <a:off x="6677025" y="4339749"/>
            <a:ext cx="2266950" cy="127635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100" b="1" dirty="0">
                <a:solidFill>
                  <a:srgbClr val="C43C4E"/>
                </a:solidFill>
              </a:rPr>
              <a:t>Cài package query-string</a:t>
            </a:r>
            <a:br>
              <a:rPr lang="en-US" sz="1100" b="1" dirty="0">
                <a:solidFill>
                  <a:srgbClr val="C43C4E"/>
                </a:solidFill>
              </a:rPr>
            </a:br>
            <a:r>
              <a:rPr lang="en-US" sz="1100" b="1" dirty="0" err="1">
                <a:solidFill>
                  <a:srgbClr val="C43C4E"/>
                </a:solidFill>
              </a:rPr>
              <a:t>Tạo</a:t>
            </a:r>
            <a:r>
              <a:rPr lang="en-US" sz="1100" b="1" dirty="0">
                <a:solidFill>
                  <a:srgbClr val="C43C4E"/>
                </a:solidFill>
              </a:rPr>
              <a:t> </a:t>
            </a:r>
            <a:r>
              <a:rPr lang="en-US" sz="1100" b="1" dirty="0" err="1">
                <a:solidFill>
                  <a:srgbClr val="C43C4E"/>
                </a:solidFill>
              </a:rPr>
              <a:t>thêm</a:t>
            </a:r>
            <a:r>
              <a:rPr lang="en-US" sz="1100" b="1" dirty="0">
                <a:solidFill>
                  <a:srgbClr val="C43C4E"/>
                </a:solidFill>
              </a:rPr>
              <a:t> wrapper </a:t>
            </a:r>
            <a:r>
              <a:rPr lang="en-US" sz="1100" b="1" dirty="0" err="1">
                <a:solidFill>
                  <a:srgbClr val="C43C4E"/>
                </a:solidFill>
              </a:rPr>
              <a:t>riêng</a:t>
            </a:r>
            <a:br>
              <a:rPr lang="en-US" sz="1100" b="1" dirty="0">
                <a:solidFill>
                  <a:srgbClr val="C43C4E"/>
                </a:solidFill>
              </a:rPr>
            </a:br>
            <a:r>
              <a:rPr lang="en-US" sz="1100" b="1" dirty="0">
                <a:solidFill>
                  <a:srgbClr val="C43C4E"/>
                </a:solidFill>
              </a:rPr>
              <a:t>4 files changed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E5FAD508-4D83-63F4-812F-94ABD3956F04}"/>
              </a:ext>
            </a:extLst>
          </p:cNvPr>
          <p:cNvSpPr/>
          <p:nvPr/>
        </p:nvSpPr>
        <p:spPr>
          <a:xfrm>
            <a:off x="9324975" y="4339749"/>
            <a:ext cx="2266950" cy="12763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00" b="1" dirty="0">
                <a:solidFill>
                  <a:srgbClr val="16845B"/>
                </a:solidFill>
              </a:rPr>
              <a:t>const query = new </a:t>
            </a:r>
            <a:r>
              <a:rPr lang="en-US" sz="1000" b="1" dirty="0" err="1">
                <a:solidFill>
                  <a:srgbClr val="16845B"/>
                </a:solidFill>
              </a:rPr>
              <a:t>URLSearchParams</a:t>
            </a:r>
            <a:r>
              <a:rPr lang="en-US" sz="1000" b="1" dirty="0">
                <a:solidFill>
                  <a:srgbClr val="16845B"/>
                </a:solidFill>
              </a:rPr>
              <a:t>(params).</a:t>
            </a:r>
            <a:r>
              <a:rPr lang="en-US" sz="1000" b="1" dirty="0" err="1">
                <a:solidFill>
                  <a:srgbClr val="16845B"/>
                </a:solidFill>
              </a:rPr>
              <a:t>toString</a:t>
            </a:r>
            <a:r>
              <a:rPr lang="en-US" sz="1000" b="1" dirty="0">
                <a:solidFill>
                  <a:srgbClr val="16845B"/>
                </a:solidFill>
              </a:rPr>
              <a:t>()</a:t>
            </a:r>
          </a:p>
          <a:p>
            <a:r>
              <a:rPr lang="en-US" sz="1100" b="1" dirty="0">
                <a:solidFill>
                  <a:srgbClr val="16845B"/>
                </a:solidFill>
              </a:rPr>
              <a:t>1 file changed</a:t>
            </a:r>
          </a:p>
          <a:p>
            <a:pPr algn="ctr"/>
            <a:endParaRPr lang="en-US" dirty="0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236878B1-4112-A68D-0906-3DD3C4AF8108}"/>
              </a:ext>
            </a:extLst>
          </p:cNvPr>
          <p:cNvSpPr/>
          <p:nvPr/>
        </p:nvSpPr>
        <p:spPr>
          <a:xfrm>
            <a:off x="2946400" y="4902295"/>
            <a:ext cx="241300" cy="1512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F0CEFF43-F049-C349-67C7-AEA2A0895895}"/>
              </a:ext>
            </a:extLst>
          </p:cNvPr>
          <p:cNvSpPr/>
          <p:nvPr/>
        </p:nvSpPr>
        <p:spPr>
          <a:xfrm>
            <a:off x="9004300" y="4848796"/>
            <a:ext cx="241300" cy="1512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35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D5B5471C-BC7C-4F26-A7DC-AC917A36E652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3C1E3-751A-4994-A468-0D103A72FD0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Chọn sai cách tìm code làm tăng số vòng tool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23364B7-223D-46E6-A6CB-F611C3C8DA23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992350-57EE-402D-8A5B-8BE2527579FE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1050" b="1" dirty="0">
                <a:solidFill>
                  <a:srgbClr val="64748B"/>
                </a:solidFill>
              </a:rPr>
              <a:t>15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566968-EEF2-4446-BDC6-68288389DBA3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34D914-9B8E-4DB1-B46D-1ED3434FD207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CẦN GỌI TOOL? → 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419E0D-83A0-48B1-9CE1-E3536BCDA2F8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AD82C84-99E0-4F03-93A3-EAE423420644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DC74A9-D406-4B35-BA5E-7D22D12A7B0A}"/>
              </a:ext>
            </a:extLst>
          </p:cNvPr>
          <p:cNvSpPr>
            <a:spLocks noGrp="1"/>
          </p:cNvSpPr>
          <p:nvPr/>
        </p:nvSpPr>
        <p:spPr>
          <a:xfrm>
            <a:off x="723900" y="20320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Sử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dụng</a:t>
            </a:r>
            <a:r>
              <a:rPr lang="en-US" sz="1350" b="0" dirty="0">
                <a:solidFill>
                  <a:srgbClr val="334155"/>
                </a:solidFill>
              </a:rPr>
              <a:t> tool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hiệu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quả</a:t>
            </a:r>
            <a:r>
              <a:rPr lang="en-US" sz="1350" b="0" dirty="0">
                <a:solidFill>
                  <a:srgbClr val="334155"/>
                </a:solidFill>
              </a:rPr>
              <a:t> làm </a:t>
            </a:r>
            <a:r>
              <a:rPr lang="en-US" sz="1350" b="0" dirty="0" err="1">
                <a:solidFill>
                  <a:srgbClr val="334155"/>
                </a:solidFill>
              </a:rPr>
              <a:t>tăng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số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vòng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gọi</a:t>
            </a:r>
            <a:r>
              <a:rPr lang="en-US" sz="1350" b="0" dirty="0">
                <a:solidFill>
                  <a:srgbClr val="334155"/>
                </a:solidFill>
              </a:rPr>
              <a:t> tool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1C787D7-36AD-4AB4-B3DC-F40F474B901B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75B07D-950D-4E9B-88EE-61D17C0C8BC9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3061FCF-2BB2-4BB6-9377-3E885ECC23E9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93B5BF-980B-4C53-A235-898F244D88AB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7FCBCC-CDB7-4B2E-9179-C7DDB30E30C3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dirty="0">
                <a:solidFill>
                  <a:srgbClr val="101827"/>
                </a:solidFill>
              </a:rPr>
              <a:t>Dùng index </a:t>
            </a:r>
            <a:r>
              <a:rPr lang="en-US" sz="1200" dirty="0" err="1">
                <a:solidFill>
                  <a:srgbClr val="101827"/>
                </a:solidFill>
              </a:rPr>
              <a:t>hoặc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công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cụ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b="1" dirty="0" err="1">
                <a:solidFill>
                  <a:srgbClr val="101827"/>
                </a:solidFill>
              </a:rPr>
              <a:t>Codegraph</a:t>
            </a:r>
            <a:r>
              <a:rPr lang="en-US" sz="1200" b="1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cho</a:t>
            </a:r>
            <a:r>
              <a:rPr lang="en-US" sz="1200" dirty="0">
                <a:solidFill>
                  <a:srgbClr val="101827"/>
                </a:solidFill>
              </a:rPr>
              <a:t> các </a:t>
            </a:r>
            <a:r>
              <a:rPr lang="en-US" sz="1200" dirty="0" err="1">
                <a:solidFill>
                  <a:srgbClr val="101827"/>
                </a:solidFill>
              </a:rPr>
              <a:t>câu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hỏi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tìm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kiếm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quan</a:t>
            </a:r>
            <a:r>
              <a:rPr lang="en-US" sz="1200" dirty="0">
                <a:solidFill>
                  <a:srgbClr val="101827"/>
                </a:solidFill>
              </a:rPr>
              <a:t> hệ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A83151-ECCF-457D-8DB9-C0C3A556DE40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886D23D-C4E4-4FF6-9F0D-9A38E9DCCCD8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38285A2-8C2E-4C92-8782-17A2FB17D1A7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4514850" cy="685800"/>
          </a:xfrm>
          <a:prstGeom prst="roundRect">
            <a:avLst>
              <a:gd name="adj" fmla="val 11111"/>
            </a:avLst>
          </a:prstGeom>
          <a:solidFill>
            <a:srgbClr val="FDEBED"/>
          </a:solidFill>
          <a:ln w="11430">
            <a:solidFill>
              <a:srgbClr val="F3B6B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789DA5C-575F-457B-8252-B276C2C5353B}"/>
              </a:ext>
            </a:extLst>
          </p:cNvPr>
          <p:cNvSpPr>
            <a:spLocks noGrp="1"/>
          </p:cNvSpPr>
          <p:nvPr/>
        </p:nvSpPr>
        <p:spPr>
          <a:xfrm>
            <a:off x="685800" y="5086350"/>
            <a:ext cx="4133850" cy="400050"/>
          </a:xfrm>
          <a:prstGeom prst="rect">
            <a:avLst/>
          </a:prstGeom>
        </p:spPr>
        <p:txBody>
          <a:bodyPr anchor="ctr">
            <a:normAutofit fontScale="86912" lnSpcReduction="10000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C43C4E"/>
                </a:solidFill>
              </a:defRPr>
            </a:pPr>
            <a:r>
              <a:rPr sz="1275" b="1" dirty="0">
                <a:solidFill>
                  <a:srgbClr val="C43C4E"/>
                </a:solidFill>
              </a:rPr>
              <a:t>SEARCH / READ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C43C4E"/>
                </a:solidFill>
              </a:defRPr>
            </a:pPr>
            <a:r>
              <a:rPr sz="1275" b="1" dirty="0" err="1">
                <a:solidFill>
                  <a:srgbClr val="C43C4E"/>
                </a:solidFill>
              </a:rPr>
              <a:t>lặp</a:t>
            </a:r>
            <a:r>
              <a:rPr sz="1275" b="1" dirty="0">
                <a:solidFill>
                  <a:srgbClr val="C43C4E"/>
                </a:solidFill>
              </a:rPr>
              <a:t> lại </a:t>
            </a:r>
            <a:r>
              <a:rPr sz="1275" b="1" dirty="0" err="1">
                <a:solidFill>
                  <a:srgbClr val="C43C4E"/>
                </a:solidFill>
              </a:rPr>
              <a:t>nhiều</a:t>
            </a:r>
            <a:r>
              <a:rPr sz="1275" b="1" dirty="0">
                <a:solidFill>
                  <a:srgbClr val="C43C4E"/>
                </a:solidFill>
              </a:rPr>
              <a:t> </a:t>
            </a:r>
            <a:r>
              <a:rPr sz="1275" b="1" dirty="0" err="1">
                <a:solidFill>
                  <a:srgbClr val="C43C4E"/>
                </a:solidFill>
              </a:rPr>
              <a:t>vòng</a:t>
            </a:r>
            <a:endParaRPr sz="1275" b="1" dirty="0">
              <a:solidFill>
                <a:srgbClr val="C43C4E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A5700D1-EF9B-4A41-A152-B08D4432BF5E}"/>
              </a:ext>
            </a:extLst>
          </p:cNvPr>
          <p:cNvSpPr>
            <a:spLocks noGrp="1"/>
          </p:cNvSpPr>
          <p:nvPr/>
        </p:nvSpPr>
        <p:spPr>
          <a:xfrm>
            <a:off x="6667500" y="4953000"/>
            <a:ext cx="5029200" cy="685800"/>
          </a:xfrm>
          <a:prstGeom prst="roundRect">
            <a:avLst>
              <a:gd name="adj" fmla="val 11111"/>
            </a:avLst>
          </a:prstGeom>
          <a:solidFill>
            <a:srgbClr val="E8F7F0"/>
          </a:solidFill>
          <a:ln w="11430">
            <a:solidFill>
              <a:srgbClr val="A7DEC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14ACB5F-C84E-4811-83DC-31C63A0327E1}"/>
              </a:ext>
            </a:extLst>
          </p:cNvPr>
          <p:cNvSpPr>
            <a:spLocks noGrp="1"/>
          </p:cNvSpPr>
          <p:nvPr/>
        </p:nvSpPr>
        <p:spPr>
          <a:xfrm>
            <a:off x="6858000" y="5086350"/>
            <a:ext cx="4648200" cy="400050"/>
          </a:xfrm>
          <a:prstGeom prst="rect">
            <a:avLst/>
          </a:prstGeom>
        </p:spPr>
        <p:txBody>
          <a:bodyPr anchor="ctr">
            <a:normAutofit fontScale="91875" lnSpcReduction="10000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6845B"/>
                </a:solidFill>
              </a:defRPr>
            </a:pPr>
            <a:r>
              <a:rPr sz="1200" b="1" dirty="0">
                <a:solidFill>
                  <a:srgbClr val="16845B"/>
                </a:solidFill>
              </a:rPr>
              <a:t>CODEGRAPH</a:t>
            </a:r>
          </a:p>
          <a:p>
            <a:pPr algn="ctr">
              <a:lnSpc>
                <a:spcPct val="100000"/>
              </a:lnSpc>
              <a:buNone/>
              <a:defRPr sz="1425" b="1">
                <a:solidFill>
                  <a:srgbClr val="16845B"/>
                </a:solidFill>
              </a:defRPr>
            </a:pPr>
            <a:r>
              <a:rPr sz="1200" b="1" dirty="0" err="1">
                <a:solidFill>
                  <a:srgbClr val="16845B"/>
                </a:solidFill>
              </a:rPr>
              <a:t>Lập</a:t>
            </a:r>
            <a:r>
              <a:rPr sz="1200" b="1" dirty="0">
                <a:solidFill>
                  <a:srgbClr val="16845B"/>
                </a:solidFill>
              </a:rPr>
              <a:t> graph code local</a:t>
            </a:r>
            <a:r>
              <a:rPr lang="en-US" sz="1200" b="1" dirty="0">
                <a:solidFill>
                  <a:srgbClr val="16845B"/>
                </a:solidFill>
              </a:rPr>
              <a:t>, model query </a:t>
            </a:r>
            <a:r>
              <a:rPr lang="en-US" sz="1200" b="1" dirty="0" err="1">
                <a:solidFill>
                  <a:srgbClr val="16845B"/>
                </a:solidFill>
              </a:rPr>
              <a:t>trong</a:t>
            </a:r>
            <a:r>
              <a:rPr lang="en-US" sz="1200" b="1" dirty="0">
                <a:solidFill>
                  <a:srgbClr val="16845B"/>
                </a:solidFill>
              </a:rPr>
              <a:t> </a:t>
            </a:r>
            <a:r>
              <a:rPr lang="en-US" sz="1200" b="1" dirty="0" err="1">
                <a:solidFill>
                  <a:srgbClr val="16845B"/>
                </a:solidFill>
              </a:rPr>
              <a:t>một</a:t>
            </a:r>
            <a:r>
              <a:rPr lang="en-US" sz="1200" b="1" dirty="0">
                <a:solidFill>
                  <a:srgbClr val="16845B"/>
                </a:solidFill>
              </a:rPr>
              <a:t> </a:t>
            </a:r>
            <a:r>
              <a:rPr lang="en-US" sz="1200" b="1" dirty="0" err="1">
                <a:solidFill>
                  <a:srgbClr val="16845B"/>
                </a:solidFill>
              </a:rPr>
              <a:t>vòng</a:t>
            </a:r>
            <a:endParaRPr sz="1200" b="1" dirty="0">
              <a:solidFill>
                <a:srgbClr val="16845B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2C51EE6-6936-4C51-8887-D3D7D98AD013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31038E-828B-4691-B0B4-E2A288F2E5BA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← Quay lại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vòng</a:t>
            </a:r>
            <a:r>
              <a:rPr sz="1200" b="1" dirty="0">
                <a:solidFill>
                  <a:srgbClr val="6246B5"/>
                </a:solidFill>
                <a:hlinkClick r:id="rId3" action="ppaction://hlinksldjump"/>
              </a:rPr>
              <a:t> </a:t>
            </a:r>
            <a:r>
              <a:rPr sz="1200" b="1" dirty="0" err="1">
                <a:solidFill>
                  <a:srgbClr val="6246B5"/>
                </a:solidFill>
                <a:hlinkClick r:id="rId3" action="ppaction://hlinksldjump"/>
              </a:rPr>
              <a:t>đời</a:t>
            </a:r>
            <a:endParaRPr sz="1200" b="1" dirty="0">
              <a:solidFill>
                <a:srgbClr val="6246B5"/>
              </a:solidFill>
              <a:hlinkClick r:id="rId3" action="ppaction://hlinksldjump"/>
            </a:endParaRP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DBFB259A-FC30-4D7A-849C-F69EC968C36D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13BA50-E239-49FB-A5E7-E80AAA98354E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CHỌN TOOL · CODEGRAPH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2E2C70-0EDE-473C-B3F9-2DA7E1A8B47A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 dirty="0">
                <a:solidFill>
                  <a:srgbClr val="64748B"/>
                </a:solidFill>
              </a:rPr>
              <a:t>1</a:t>
            </a:r>
            <a:r>
              <a:rPr lang="en-US" sz="900" b="0" dirty="0">
                <a:solidFill>
                  <a:srgbClr val="64748B"/>
                </a:solidFill>
              </a:rPr>
              <a:t>5 </a:t>
            </a:r>
            <a:r>
              <a:rPr sz="900" b="0" dirty="0">
                <a:solidFill>
                  <a:srgbClr val="64748B"/>
                </a:solidFill>
              </a:rPr>
              <a:t>/ </a:t>
            </a:r>
            <a:r>
              <a:rPr lang="en-US" sz="900" b="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4B5807E0-5B99-82CA-8C73-0B9BBF0BA9F7}"/>
              </a:ext>
            </a:extLst>
          </p:cNvPr>
          <p:cNvSpPr/>
          <p:nvPr/>
        </p:nvSpPr>
        <p:spPr>
          <a:xfrm>
            <a:off x="5518150" y="5232400"/>
            <a:ext cx="805497" cy="19589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66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EC8E5D74-BC24-4F12-8A32-AA6F3FAFB71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12C0B-9D5C-4DC7-A444-53ECF0F71E95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Tool output dài trở thành input ở lần gọi model tiếp theo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5F089D7-74FA-4D43-8B8D-12EEBDD29CA2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2299E7-E652-47F1-BB13-BFDC18973C12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1</a:t>
            </a:r>
            <a:r>
              <a:rPr lang="en-US" sz="1050" b="1" dirty="0">
                <a:solidFill>
                  <a:srgbClr val="64748B"/>
                </a:solidFill>
              </a:rPr>
              <a:t>6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6F242EF-A0C6-4420-B041-CE93165FFE10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9FCF25-D83A-456E-8A87-4AD584DD51B2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TOOL → APPEND 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437155-7076-42CB-A09D-1705DE71D2D4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A35F2A0-5409-4654-BF36-33F9F1A9BED7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E901E4-6D3F-4E3E-BD0A-588423B0F676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4572000" cy="381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275" b="0" dirty="0">
                <a:solidFill>
                  <a:srgbClr val="334155"/>
                </a:solidFill>
              </a:rPr>
              <a:t>Tool </a:t>
            </a:r>
            <a:r>
              <a:rPr lang="en-US" sz="1275" b="0" dirty="0" err="1">
                <a:solidFill>
                  <a:srgbClr val="334155"/>
                </a:solidFill>
              </a:rPr>
              <a:t>trả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kết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quả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dài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dòng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không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cần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thiết</a:t>
            </a:r>
            <a:r>
              <a:rPr lang="en-US" sz="1275" b="0" dirty="0">
                <a:solidFill>
                  <a:srgbClr val="334155"/>
                </a:solidFill>
              </a:rPr>
              <a:t> </a:t>
            </a:r>
            <a:r>
              <a:rPr lang="en-US" sz="1275" b="0" dirty="0" err="1">
                <a:solidFill>
                  <a:srgbClr val="334155"/>
                </a:solidFill>
              </a:rPr>
              <a:t>cho</a:t>
            </a:r>
            <a:r>
              <a:rPr lang="en-US" sz="1275" b="0" dirty="0">
                <a:solidFill>
                  <a:srgbClr val="334155"/>
                </a:solidFill>
              </a:rPr>
              <a:t> Agent</a:t>
            </a:r>
            <a:endParaRPr sz="1275" b="0" dirty="0">
              <a:solidFill>
                <a:srgbClr val="334155"/>
              </a:solidFill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102AB8BF-6B8C-413E-A448-9643D9722200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452D3A-5FEB-423B-94E4-2A45E608F220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GIẢI PHÁP ƯU TIÊN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856C2B-596C-4E30-B170-DEB49116087F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7183B1-DE07-4BDB-AF6A-3AA14CBD5967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E8E076-DA59-4D28-8931-709D46C47BFC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b="0" dirty="0" err="1">
                <a:solidFill>
                  <a:srgbClr val="101827"/>
                </a:solidFill>
              </a:rPr>
              <a:t>Giới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hạn</a:t>
            </a:r>
            <a:r>
              <a:rPr lang="en-US" sz="1200" b="0" dirty="0">
                <a:solidFill>
                  <a:srgbClr val="101827"/>
                </a:solidFill>
              </a:rPr>
              <a:t> log, test output và MCP result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57175CB-DA56-477A-A9E5-D27EED8535DA}"/>
              </a:ext>
            </a:extLst>
          </p:cNvPr>
          <p:cNvSpPr>
            <a:spLocks noGrp="1"/>
          </p:cNvSpPr>
          <p:nvPr/>
        </p:nvSpPr>
        <p:spPr>
          <a:xfrm>
            <a:off x="6324600" y="2505075"/>
            <a:ext cx="247650" cy="247650"/>
          </a:xfrm>
          <a:prstGeom prst="ellipse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D4E0A5-25F2-45D2-970B-F0CD5BCD7151}"/>
              </a:ext>
            </a:extLst>
          </p:cNvPr>
          <p:cNvSpPr>
            <a:spLocks noGrp="1"/>
          </p:cNvSpPr>
          <p:nvPr/>
        </p:nvSpPr>
        <p:spPr>
          <a:xfrm>
            <a:off x="6324600" y="24955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59EC17-D081-4FC5-B3C4-53C21B2A8A40}"/>
              </a:ext>
            </a:extLst>
          </p:cNvPr>
          <p:cNvSpPr>
            <a:spLocks noGrp="1"/>
          </p:cNvSpPr>
          <p:nvPr/>
        </p:nvSpPr>
        <p:spPr>
          <a:xfrm>
            <a:off x="6686550" y="24765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b="0" dirty="0" err="1">
                <a:solidFill>
                  <a:srgbClr val="101827"/>
                </a:solidFill>
              </a:rPr>
              <a:t>Sử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dụng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công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cụ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1" dirty="0">
                <a:solidFill>
                  <a:srgbClr val="101827"/>
                </a:solidFill>
              </a:rPr>
              <a:t>RTK</a:t>
            </a:r>
            <a:r>
              <a:rPr lang="en-US" sz="1200" b="0" dirty="0">
                <a:solidFill>
                  <a:srgbClr val="101827"/>
                </a:solidFill>
              </a:rPr>
              <a:t> -&gt; </a:t>
            </a:r>
            <a:r>
              <a:rPr lang="en-US" sz="1200" b="0" dirty="0" err="1">
                <a:solidFill>
                  <a:srgbClr val="101827"/>
                </a:solidFill>
              </a:rPr>
              <a:t>nén</a:t>
            </a:r>
            <a:r>
              <a:rPr lang="en-US" sz="1200" b="0" dirty="0">
                <a:solidFill>
                  <a:srgbClr val="101827"/>
                </a:solidFill>
              </a:rPr>
              <a:t> output </a:t>
            </a:r>
            <a:r>
              <a:rPr lang="en-US" sz="1200" b="0" dirty="0" err="1">
                <a:solidFill>
                  <a:srgbClr val="101827"/>
                </a:solidFill>
              </a:rPr>
              <a:t>trước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khi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đưa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vào</a:t>
            </a:r>
            <a:r>
              <a:rPr lang="en-US" sz="1200" b="0" dirty="0">
                <a:solidFill>
                  <a:srgbClr val="101827"/>
                </a:solidFill>
              </a:rPr>
              <a:t> context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DF14F4C-25ED-4085-8F4D-068DEA1ED0A2}"/>
              </a:ext>
            </a:extLst>
          </p:cNvPr>
          <p:cNvSpPr>
            <a:spLocks noGrp="1"/>
          </p:cNvSpPr>
          <p:nvPr/>
        </p:nvSpPr>
        <p:spPr>
          <a:xfrm>
            <a:off x="6324600" y="28956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212CF08-803C-4C4E-8CF1-3FE55B6228DD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BB319E4-8D56-47D6-8378-1745DB34B1B7}"/>
              </a:ext>
            </a:extLst>
          </p:cNvPr>
          <p:cNvSpPr>
            <a:spLocks noGrp="1"/>
          </p:cNvSpPr>
          <p:nvPr/>
        </p:nvSpPr>
        <p:spPr>
          <a:xfrm>
            <a:off x="2457450" y="4943475"/>
            <a:ext cx="1981200" cy="628650"/>
          </a:xfrm>
          <a:prstGeom prst="roundRect">
            <a:avLst>
              <a:gd name="adj" fmla="val 12121"/>
            </a:avLst>
          </a:prstGeom>
          <a:solidFill>
            <a:srgbClr val="FFF2D8"/>
          </a:solidFill>
          <a:ln w="1143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B5E2DA-049F-40A9-A163-31CAB22BCD8E}"/>
              </a:ext>
            </a:extLst>
          </p:cNvPr>
          <p:cNvSpPr>
            <a:spLocks noGrp="1"/>
          </p:cNvSpPr>
          <p:nvPr/>
        </p:nvSpPr>
        <p:spPr>
          <a:xfrm>
            <a:off x="2571750" y="5057775"/>
            <a:ext cx="1752600" cy="381000"/>
          </a:xfrm>
          <a:prstGeom prst="rect">
            <a:avLst/>
          </a:prstGeom>
        </p:spPr>
        <p:txBody>
          <a:bodyPr anchor="ctr">
            <a:normAutofit fontScale="86667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TEST LOG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8.000 dòng</a:t>
            </a:r>
          </a:p>
        </p:txBody>
      </p:sp>
      <p:sp>
        <p:nvSpPr>
          <p:cNvPr id="37" name="Straight Connector 36">
            <a:extLst>
              <a:ext uri="{FF2B5EF4-FFF2-40B4-BE49-F238E27FC236}">
                <a16:creationId xmlns:a16="http://schemas.microsoft.com/office/drawing/2014/main" id="{1A1F8894-53A0-43B0-B070-D37D5EA05692}"/>
              </a:ext>
            </a:extLst>
          </p:cNvPr>
          <p:cNvSpPr>
            <a:spLocks noGrp="1"/>
          </p:cNvSpPr>
          <p:nvPr/>
        </p:nvSpPr>
        <p:spPr>
          <a:xfrm>
            <a:off x="4457700" y="5257801"/>
            <a:ext cx="552450" cy="0"/>
          </a:xfrm>
          <a:prstGeom prst="line">
            <a:avLst/>
          </a:prstGeom>
          <a:ln w="1905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787B654-10F3-47DB-B10B-3393131DEB67}"/>
              </a:ext>
            </a:extLst>
          </p:cNvPr>
          <p:cNvSpPr>
            <a:spLocks noGrp="1"/>
          </p:cNvSpPr>
          <p:nvPr/>
        </p:nvSpPr>
        <p:spPr>
          <a:xfrm>
            <a:off x="5010150" y="4943475"/>
            <a:ext cx="1981200" cy="628650"/>
          </a:xfrm>
          <a:prstGeom prst="roundRect">
            <a:avLst>
              <a:gd name="adj" fmla="val 12121"/>
            </a:avLst>
          </a:prstGeom>
          <a:solidFill>
            <a:srgbClr val="F5F1E9"/>
          </a:solidFill>
          <a:ln w="11430">
            <a:solidFill>
              <a:srgbClr val="CBD5E1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41B7E49-A282-4BC3-91B9-8C8247813864}"/>
              </a:ext>
            </a:extLst>
          </p:cNvPr>
          <p:cNvSpPr>
            <a:spLocks noGrp="1"/>
          </p:cNvSpPr>
          <p:nvPr/>
        </p:nvSpPr>
        <p:spPr>
          <a:xfrm>
            <a:off x="5124450" y="5057775"/>
            <a:ext cx="1752600" cy="381000"/>
          </a:xfrm>
          <a:prstGeom prst="rect">
            <a:avLst/>
          </a:prstGeom>
        </p:spPr>
        <p:txBody>
          <a:bodyPr anchor="ctr">
            <a:normAutofit fontScale="86667" lnSpcReduction="10000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sz="1200" b="1" dirty="0">
                <a:solidFill>
                  <a:srgbClr val="64748B"/>
                </a:solidFill>
              </a:rPr>
              <a:t>RTK</a:t>
            </a:r>
          </a:p>
          <a:p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lang="en-US" sz="1200" b="1" dirty="0" err="1">
                <a:solidFill>
                  <a:srgbClr val="64748B"/>
                </a:solidFill>
              </a:rPr>
              <a:t>Lọc</a:t>
            </a:r>
            <a:r>
              <a:rPr lang="en-US" sz="1200" b="1" dirty="0">
                <a:solidFill>
                  <a:srgbClr val="64748B"/>
                </a:solidFill>
              </a:rPr>
              <a:t> output </a:t>
            </a:r>
            <a:r>
              <a:rPr lang="en-US" sz="1200" b="1" dirty="0" err="1">
                <a:solidFill>
                  <a:srgbClr val="64748B"/>
                </a:solidFill>
              </a:rPr>
              <a:t>thừa</a:t>
            </a:r>
            <a:r>
              <a:rPr lang="en-US" sz="1200" b="1" dirty="0">
                <a:solidFill>
                  <a:srgbClr val="64748B"/>
                </a:solidFill>
              </a:rPr>
              <a:t> </a:t>
            </a:r>
            <a:r>
              <a:rPr lang="en-US" sz="1200" b="1" dirty="0" err="1">
                <a:solidFill>
                  <a:srgbClr val="64748B"/>
                </a:solidFill>
              </a:rPr>
              <a:t>thãi</a:t>
            </a:r>
            <a:endParaRPr sz="1200" b="1" dirty="0">
              <a:solidFill>
                <a:srgbClr val="64748B"/>
              </a:solidFill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A167764D-BB57-406C-982B-0A3E9E326DED}"/>
              </a:ext>
            </a:extLst>
          </p:cNvPr>
          <p:cNvSpPr>
            <a:spLocks noGrp="1"/>
          </p:cNvSpPr>
          <p:nvPr/>
        </p:nvSpPr>
        <p:spPr>
          <a:xfrm>
            <a:off x="7010400" y="5257801"/>
            <a:ext cx="533400" cy="0"/>
          </a:xfrm>
          <a:prstGeom prst="line">
            <a:avLst/>
          </a:prstGeom>
          <a:ln w="19050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E83CE65-5811-4EE9-8055-4E145F7B80BD}"/>
              </a:ext>
            </a:extLst>
          </p:cNvPr>
          <p:cNvSpPr>
            <a:spLocks noGrp="1"/>
          </p:cNvSpPr>
          <p:nvPr/>
        </p:nvSpPr>
        <p:spPr>
          <a:xfrm>
            <a:off x="7562850" y="4943475"/>
            <a:ext cx="1981200" cy="628650"/>
          </a:xfrm>
          <a:prstGeom prst="roundRect">
            <a:avLst>
              <a:gd name="adj" fmla="val 12121"/>
            </a:avLst>
          </a:prstGeom>
          <a:solidFill>
            <a:srgbClr val="F5F1E9"/>
          </a:solidFill>
          <a:ln w="11430">
            <a:solidFill>
              <a:srgbClr val="CBD5E1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7B55706-4525-4B8A-820D-5F2079788C17}"/>
              </a:ext>
            </a:extLst>
          </p:cNvPr>
          <p:cNvSpPr>
            <a:spLocks noGrp="1"/>
          </p:cNvSpPr>
          <p:nvPr/>
        </p:nvSpPr>
        <p:spPr>
          <a:xfrm>
            <a:off x="7677150" y="5057775"/>
            <a:ext cx="1752600" cy="381000"/>
          </a:xfrm>
          <a:prstGeom prst="rect">
            <a:avLst/>
          </a:prstGeom>
        </p:spPr>
        <p:txBody>
          <a:bodyPr anchor="ctr">
            <a:normAutofit fontScale="94167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4748B"/>
                </a:solidFill>
              </a:defRPr>
            </a:pPr>
            <a:r>
              <a:rPr lang="en-US" sz="1200" b="1" dirty="0">
                <a:solidFill>
                  <a:srgbClr val="64748B"/>
                </a:solidFill>
              </a:rPr>
              <a:t>Harness</a:t>
            </a:r>
            <a:endParaRPr sz="1200" b="1" dirty="0">
              <a:solidFill>
                <a:srgbClr val="64748B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59E23-023A-4C33-BF92-64D2061BCEEF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59EC91-5BEE-469F-85F1-FE184F73FF93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49" name="Straight Connector 48">
            <a:extLst>
              <a:ext uri="{FF2B5EF4-FFF2-40B4-BE49-F238E27FC236}">
                <a16:creationId xmlns:a16="http://schemas.microsoft.com/office/drawing/2014/main" id="{17E8C4ED-833B-4DDE-97E1-29516EB8311C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F03651F-7561-4B37-802E-689E843EE62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TOOL OUTPUT · RTK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B226F3-6DC7-4D0D-B3A8-A7FD555176D7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 dirty="0">
                <a:solidFill>
                  <a:srgbClr val="64748B"/>
                </a:solidFill>
              </a:rPr>
              <a:t>1</a:t>
            </a:r>
            <a:r>
              <a:rPr lang="en-US" sz="900" b="0" dirty="0">
                <a:solidFill>
                  <a:srgbClr val="64748B"/>
                </a:solidFill>
              </a:rPr>
              <a:t>6</a:t>
            </a:r>
            <a:r>
              <a:rPr sz="900" b="0" dirty="0">
                <a:solidFill>
                  <a:srgbClr val="64748B"/>
                </a:solidFill>
              </a:rPr>
              <a:t> / </a:t>
            </a:r>
            <a:r>
              <a:rPr lang="en-US" sz="900" b="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0009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DC341FFE-8DD3-4107-8095-9C566E9E9AA6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NGUYÊN NHÂN → GIẢI PHÁP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EAFC93-FDDC-4C55-A18B-F99135FAB8C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Mỗi vòng lặp mang context cũ quay lại lần gọi model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63CCD9BF-FBD8-4AA8-A3C0-D620A0606860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462043-718B-45AF-B57F-D689FDB714E9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sz="1050" b="1" dirty="0">
                <a:solidFill>
                  <a:srgbClr val="64748B"/>
                </a:solidFill>
              </a:rPr>
              <a:t>1</a:t>
            </a:r>
            <a:r>
              <a:rPr lang="en-US" sz="1050" b="1" dirty="0">
                <a:solidFill>
                  <a:srgbClr val="64748B"/>
                </a:solidFill>
              </a:rPr>
              <a:t>7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7694AF5-E163-4216-BBA3-BE3EBA8502DF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724EAE-F55C-4C88-86C9-1FA57C3BCF2D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6246B5"/>
                </a:solidFill>
              </a:defRPr>
            </a:pPr>
            <a:r>
              <a:rPr sz="900" b="1">
                <a:solidFill>
                  <a:srgbClr val="6246B5"/>
                </a:solidFill>
              </a:rPr>
              <a:t>VÒNG LẶP · RETRY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FA5FE1-BEA9-4FA1-B365-FB12069B1DF4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4762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C43C4E"/>
                </a:solidFill>
              </a:defRPr>
            </a:pPr>
            <a:r>
              <a:rPr sz="1275" b="1">
                <a:solidFill>
                  <a:srgbClr val="C43C4E"/>
                </a:solidFill>
              </a:rPr>
              <a:t>NGUYÊN NHÂN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6A03BEB-F302-4552-8F2F-8F9B0D537E85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F1EE82-138D-4353-85CD-986F88B5A0E8}"/>
              </a:ext>
            </a:extLst>
          </p:cNvPr>
          <p:cNvSpPr>
            <a:spLocks noGrp="1"/>
          </p:cNvSpPr>
          <p:nvPr/>
        </p:nvSpPr>
        <p:spPr>
          <a:xfrm>
            <a:off x="685800" y="1974850"/>
            <a:ext cx="4572000" cy="686753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>
                <a:solidFill>
                  <a:srgbClr val="334155"/>
                </a:solidFill>
              </a:rPr>
              <a:t>Task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hoàn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thành</a:t>
            </a:r>
            <a:r>
              <a:rPr lang="en-US" sz="1350" dirty="0">
                <a:solidFill>
                  <a:srgbClr val="334155"/>
                </a:solidFill>
              </a:rPr>
              <a:t>, retry </a:t>
            </a:r>
            <a:r>
              <a:rPr lang="en-US" sz="1350" dirty="0" err="1">
                <a:solidFill>
                  <a:srgbClr val="334155"/>
                </a:solidFill>
              </a:rPr>
              <a:t>nhưng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không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có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giả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thuyết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r>
              <a:rPr lang="en-US" sz="1350" dirty="0" err="1">
                <a:solidFill>
                  <a:srgbClr val="334155"/>
                </a:solidFill>
              </a:rPr>
              <a:t>mới</a:t>
            </a:r>
            <a:r>
              <a:rPr lang="en-US" sz="1350" dirty="0">
                <a:solidFill>
                  <a:srgbClr val="334155"/>
                </a:solidFill>
              </a:rPr>
              <a:t> =&gt; </a:t>
            </a:r>
            <a:r>
              <a:rPr lang="en-US" sz="1350" b="1" dirty="0">
                <a:solidFill>
                  <a:srgbClr val="334155"/>
                </a:solidFill>
              </a:rPr>
              <a:t>Context </a:t>
            </a:r>
            <a:r>
              <a:rPr lang="en-US" sz="1350" b="1" dirty="0" err="1">
                <a:solidFill>
                  <a:srgbClr val="334155"/>
                </a:solidFill>
              </a:rPr>
              <a:t>có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chứa</a:t>
            </a:r>
            <a:r>
              <a:rPr lang="en-US" sz="1350" b="1" dirty="0">
                <a:solidFill>
                  <a:srgbClr val="334155"/>
                </a:solidFill>
              </a:rPr>
              <a:t> các </a:t>
            </a:r>
            <a:r>
              <a:rPr lang="en-US" sz="1350" b="1" dirty="0" err="1">
                <a:solidFill>
                  <a:srgbClr val="334155"/>
                </a:solidFill>
              </a:rPr>
              <a:t>suy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luận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sai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CC40DCC-ECF7-499B-8A50-AED4BD34287D}"/>
              </a:ext>
            </a:extLst>
          </p:cNvPr>
          <p:cNvSpPr>
            <a:spLocks noGrp="1"/>
          </p:cNvSpPr>
          <p:nvPr/>
        </p:nvSpPr>
        <p:spPr>
          <a:xfrm>
            <a:off x="533400" y="2655569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83447-09AE-4A9C-98D7-F59C95DB69A1}"/>
              </a:ext>
            </a:extLst>
          </p:cNvPr>
          <p:cNvSpPr>
            <a:spLocks noGrp="1"/>
          </p:cNvSpPr>
          <p:nvPr/>
        </p:nvSpPr>
        <p:spPr>
          <a:xfrm>
            <a:off x="685800" y="2514599"/>
            <a:ext cx="4572000" cy="571501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Tiếp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tục</a:t>
            </a:r>
            <a:r>
              <a:rPr lang="en-US" sz="1350" b="0" dirty="0">
                <a:solidFill>
                  <a:srgbClr val="334155"/>
                </a:solidFill>
              </a:rPr>
              <a:t> làm sang </a:t>
            </a:r>
            <a:r>
              <a:rPr lang="en-US" sz="1350" b="0" dirty="0" err="1">
                <a:solidFill>
                  <a:srgbClr val="334155"/>
                </a:solidFill>
              </a:rPr>
              <a:t>một</a:t>
            </a:r>
            <a:r>
              <a:rPr lang="en-US" sz="1350" b="0" dirty="0">
                <a:solidFill>
                  <a:srgbClr val="334155"/>
                </a:solidFill>
              </a:rPr>
              <a:t> task </a:t>
            </a:r>
            <a:r>
              <a:rPr lang="en-US" sz="1350" b="0" dirty="0" err="1">
                <a:solidFill>
                  <a:srgbClr val="334155"/>
                </a:solidFill>
              </a:rPr>
              <a:t>ít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liên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quan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khác</a:t>
            </a:r>
            <a:r>
              <a:rPr lang="en-US" sz="1350" b="0" dirty="0">
                <a:solidFill>
                  <a:srgbClr val="334155"/>
                </a:solidFill>
              </a:rPr>
              <a:t> =&gt; </a:t>
            </a:r>
            <a:r>
              <a:rPr lang="en-US" sz="1350" b="1" dirty="0">
                <a:solidFill>
                  <a:srgbClr val="334155"/>
                </a:solidFill>
              </a:rPr>
              <a:t>Context </a:t>
            </a:r>
            <a:r>
              <a:rPr lang="en-US" sz="1350" b="1" dirty="0" err="1">
                <a:solidFill>
                  <a:srgbClr val="334155"/>
                </a:solidFill>
              </a:rPr>
              <a:t>chứa</a:t>
            </a:r>
            <a:r>
              <a:rPr lang="en-US" sz="1350" b="1" dirty="0">
                <a:solidFill>
                  <a:srgbClr val="334155"/>
                </a:solidFill>
              </a:rPr>
              <a:t> thông tin </a:t>
            </a:r>
            <a:r>
              <a:rPr lang="en-US" sz="1350" b="1" dirty="0" err="1">
                <a:solidFill>
                  <a:srgbClr val="334155"/>
                </a:solidFill>
              </a:rPr>
              <a:t>dư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thừa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9FB417-C4D8-4F78-9478-14B212BBD2CB}"/>
              </a:ext>
            </a:extLst>
          </p:cNvPr>
          <p:cNvSpPr>
            <a:spLocks noGrp="1"/>
          </p:cNvSpPr>
          <p:nvPr/>
        </p:nvSpPr>
        <p:spPr>
          <a:xfrm>
            <a:off x="533400" y="3175633"/>
            <a:ext cx="76200" cy="76200"/>
          </a:xfrm>
          <a:prstGeom prst="ellipse">
            <a:avLst/>
          </a:prstGeom>
          <a:solidFill>
            <a:srgbClr val="C43C4E"/>
          </a:solidFill>
          <a:ln w="9525">
            <a:solidFill>
              <a:srgbClr val="C43C4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371CD7-B66D-4D58-B94A-BF626E0061E7}"/>
              </a:ext>
            </a:extLst>
          </p:cNvPr>
          <p:cNvSpPr>
            <a:spLocks noGrp="1"/>
          </p:cNvSpPr>
          <p:nvPr/>
        </p:nvSpPr>
        <p:spPr>
          <a:xfrm>
            <a:off x="685800" y="3008946"/>
            <a:ext cx="4572000" cy="58102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334155"/>
                </a:solidFill>
              </a:defRPr>
            </a:pPr>
            <a:r>
              <a:rPr lang="en-US" sz="1350" b="0" dirty="0" err="1">
                <a:solidFill>
                  <a:srgbClr val="334155"/>
                </a:solidFill>
              </a:rPr>
              <a:t>Tiếp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tục</a:t>
            </a:r>
            <a:r>
              <a:rPr lang="en-US" sz="1350" b="0" dirty="0">
                <a:solidFill>
                  <a:srgbClr val="334155"/>
                </a:solidFill>
              </a:rPr>
              <a:t> làm </a:t>
            </a:r>
            <a:r>
              <a:rPr lang="en-US" sz="1350" b="0" dirty="0" err="1">
                <a:solidFill>
                  <a:srgbClr val="334155"/>
                </a:solidFill>
              </a:rPr>
              <a:t>nhưng</a:t>
            </a:r>
            <a:r>
              <a:rPr lang="en-US" sz="1350" b="0" dirty="0">
                <a:solidFill>
                  <a:srgbClr val="334155"/>
                </a:solidFill>
              </a:rPr>
              <a:t> </a:t>
            </a:r>
            <a:r>
              <a:rPr lang="en-US" sz="1350" b="0" dirty="0" err="1">
                <a:solidFill>
                  <a:srgbClr val="334155"/>
                </a:solidFill>
              </a:rPr>
              <a:t>không</a:t>
            </a:r>
            <a:r>
              <a:rPr lang="en-US" sz="1350" b="0" dirty="0">
                <a:solidFill>
                  <a:srgbClr val="334155"/>
                </a:solidFill>
              </a:rPr>
              <a:t> compress context =&gt; </a:t>
            </a:r>
            <a:r>
              <a:rPr lang="en-US" sz="1350" b="1" dirty="0" err="1">
                <a:solidFill>
                  <a:srgbClr val="334155"/>
                </a:solidFill>
              </a:rPr>
              <a:t>Rủi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ro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chạm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trần</a:t>
            </a:r>
            <a:r>
              <a:rPr lang="en-US" sz="1350" b="1" dirty="0">
                <a:solidFill>
                  <a:srgbClr val="334155"/>
                </a:solidFill>
              </a:rPr>
              <a:t> context </a:t>
            </a:r>
            <a:r>
              <a:rPr lang="en-US" sz="1350" b="1" dirty="0" err="1">
                <a:solidFill>
                  <a:srgbClr val="334155"/>
                </a:solidFill>
              </a:rPr>
              <a:t>giữa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vòng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lặp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tiếp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theo</a:t>
            </a:r>
            <a:endParaRPr sz="1350" b="0" dirty="0">
              <a:solidFill>
                <a:srgbClr val="334155"/>
              </a:solidFill>
            </a:endParaRP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28458EF-3405-43D5-9AC2-717D2BF8A81F}"/>
              </a:ext>
            </a:extLst>
          </p:cNvPr>
          <p:cNvSpPr>
            <a:spLocks noGrp="1"/>
          </p:cNvSpPr>
          <p:nvPr/>
        </p:nvSpPr>
        <p:spPr>
          <a:xfrm>
            <a:off x="5905500" y="1733550"/>
            <a:ext cx="953" cy="2933700"/>
          </a:xfrm>
          <a:prstGeom prst="line">
            <a:avLst/>
          </a:prstGeom>
          <a:ln w="14288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BC8B86-C32F-4D56-B956-4CFB2B3CC67F}"/>
              </a:ext>
            </a:extLst>
          </p:cNvPr>
          <p:cNvSpPr>
            <a:spLocks noGrp="1"/>
          </p:cNvSpPr>
          <p:nvPr/>
        </p:nvSpPr>
        <p:spPr>
          <a:xfrm>
            <a:off x="6324600" y="1714500"/>
            <a:ext cx="5143500" cy="266700"/>
          </a:xfrm>
          <a:prstGeom prst="rect">
            <a:avLst/>
          </a:prstGeom>
        </p:spPr>
        <p:txBody>
          <a:bodyPr anchor="ctr">
            <a:normAutofit fontScale="97696" lnSpcReduction="10000"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GIẢI PHÁP ƯU TIÊN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946CDCB-882D-4796-A83B-1295AA642EE9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DF0D58-B1DE-4A71-B67B-0C48079E5615}"/>
              </a:ext>
            </a:extLst>
          </p:cNvPr>
          <p:cNvSpPr>
            <a:spLocks noGrp="1"/>
          </p:cNvSpPr>
          <p:nvPr/>
        </p:nvSpPr>
        <p:spPr>
          <a:xfrm>
            <a:off x="6324600" y="209550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6E65A5-5883-4F84-8087-ADE423FDF114}"/>
              </a:ext>
            </a:extLst>
          </p:cNvPr>
          <p:cNvSpPr>
            <a:spLocks noGrp="1"/>
          </p:cNvSpPr>
          <p:nvPr/>
        </p:nvSpPr>
        <p:spPr>
          <a:xfrm>
            <a:off x="6686550" y="207645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b="0" dirty="0">
                <a:solidFill>
                  <a:srgbClr val="101827"/>
                </a:solidFill>
              </a:rPr>
              <a:t>Khi </a:t>
            </a:r>
            <a:r>
              <a:rPr lang="en-US" sz="1200" b="0" dirty="0" err="1">
                <a:solidFill>
                  <a:srgbClr val="101827"/>
                </a:solidFill>
              </a:rPr>
              <a:t>phát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hiện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thất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bại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liên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tiếp</a:t>
            </a:r>
            <a:r>
              <a:rPr lang="en-US" sz="1200" b="0" dirty="0">
                <a:solidFill>
                  <a:srgbClr val="101827"/>
                </a:solidFill>
              </a:rPr>
              <a:t>, </a:t>
            </a:r>
            <a:r>
              <a:rPr lang="en-US" sz="1200" b="0" dirty="0" err="1">
                <a:solidFill>
                  <a:srgbClr val="101827"/>
                </a:solidFill>
              </a:rPr>
              <a:t>dừng</a:t>
            </a:r>
            <a:r>
              <a:rPr lang="en-US" sz="1200" b="0" dirty="0">
                <a:solidFill>
                  <a:srgbClr val="101827"/>
                </a:solidFill>
              </a:rPr>
              <a:t>, </a:t>
            </a:r>
            <a:r>
              <a:rPr lang="en-US" sz="1200" b="0" dirty="0" err="1">
                <a:solidFill>
                  <a:srgbClr val="101827"/>
                </a:solidFill>
              </a:rPr>
              <a:t>tạo</a:t>
            </a:r>
            <a:r>
              <a:rPr lang="en-US" sz="1200" b="0" dirty="0">
                <a:solidFill>
                  <a:srgbClr val="101827"/>
                </a:solidFill>
              </a:rPr>
              <a:t> handoff, </a:t>
            </a:r>
            <a:r>
              <a:rPr lang="en-US" sz="1200" b="0" dirty="0" err="1">
                <a:solidFill>
                  <a:srgbClr val="101827"/>
                </a:solidFill>
              </a:rPr>
              <a:t>tạo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phiên</a:t>
            </a:r>
            <a:r>
              <a:rPr lang="en-US" sz="1200" b="0" dirty="0">
                <a:solidFill>
                  <a:srgbClr val="101827"/>
                </a:solidFill>
              </a:rPr>
              <a:t> </a:t>
            </a:r>
            <a:r>
              <a:rPr lang="en-US" sz="1200" b="0" dirty="0" err="1">
                <a:solidFill>
                  <a:srgbClr val="101827"/>
                </a:solidFill>
              </a:rPr>
              <a:t>mới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E2047A8-B52C-4D45-8AA5-5FCB33C8F917}"/>
              </a:ext>
            </a:extLst>
          </p:cNvPr>
          <p:cNvSpPr>
            <a:spLocks noGrp="1"/>
          </p:cNvSpPr>
          <p:nvPr/>
        </p:nvSpPr>
        <p:spPr>
          <a:xfrm>
            <a:off x="6324600" y="2609850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4FFB40-792D-413B-A7E7-32C13694679B}"/>
              </a:ext>
            </a:extLst>
          </p:cNvPr>
          <p:cNvSpPr>
            <a:spLocks noGrp="1"/>
          </p:cNvSpPr>
          <p:nvPr/>
        </p:nvSpPr>
        <p:spPr>
          <a:xfrm>
            <a:off x="6324600" y="2600325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0F1117-0659-4E99-B4FC-DD9BFB16BF75}"/>
              </a:ext>
            </a:extLst>
          </p:cNvPr>
          <p:cNvSpPr>
            <a:spLocks noGrp="1"/>
          </p:cNvSpPr>
          <p:nvPr/>
        </p:nvSpPr>
        <p:spPr>
          <a:xfrm>
            <a:off x="6686550" y="2581275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dirty="0" err="1">
                <a:solidFill>
                  <a:srgbClr val="101827"/>
                </a:solidFill>
              </a:rPr>
              <a:t>Tạo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phiên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mới</a:t>
            </a:r>
            <a:r>
              <a:rPr lang="en-US" sz="1200" dirty="0">
                <a:solidFill>
                  <a:srgbClr val="101827"/>
                </a:solidFill>
              </a:rPr>
              <a:t> </a:t>
            </a:r>
            <a:r>
              <a:rPr lang="en-US" sz="1200" dirty="0" err="1">
                <a:solidFill>
                  <a:srgbClr val="101827"/>
                </a:solidFill>
              </a:rPr>
              <a:t>khi</a:t>
            </a:r>
            <a:r>
              <a:rPr lang="en-US" sz="1200" dirty="0">
                <a:solidFill>
                  <a:srgbClr val="101827"/>
                </a:solidFill>
              </a:rPr>
              <a:t> làm task </a:t>
            </a:r>
            <a:r>
              <a:rPr lang="en-US" sz="1200" dirty="0" err="1">
                <a:solidFill>
                  <a:srgbClr val="101827"/>
                </a:solidFill>
              </a:rPr>
              <a:t>khác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7D62D8D-8E1A-457E-9C54-FFDF0C1BA239}"/>
              </a:ext>
            </a:extLst>
          </p:cNvPr>
          <p:cNvSpPr>
            <a:spLocks noGrp="1"/>
          </p:cNvSpPr>
          <p:nvPr/>
        </p:nvSpPr>
        <p:spPr>
          <a:xfrm>
            <a:off x="6324600" y="3086100"/>
            <a:ext cx="247650" cy="247650"/>
          </a:xfrm>
          <a:prstGeom prst="ellipse">
            <a:avLst/>
          </a:prstGeom>
          <a:solidFill>
            <a:srgbClr val="6246B5"/>
          </a:solidFill>
          <a:ln w="952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3F228C-8E5F-4CD1-A87E-5F02A7745C07}"/>
              </a:ext>
            </a:extLst>
          </p:cNvPr>
          <p:cNvSpPr>
            <a:spLocks noGrp="1"/>
          </p:cNvSpPr>
          <p:nvPr/>
        </p:nvSpPr>
        <p:spPr>
          <a:xfrm>
            <a:off x="6324600" y="3076575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A57E861-630F-406B-8C91-4DC546F6B08E}"/>
              </a:ext>
            </a:extLst>
          </p:cNvPr>
          <p:cNvSpPr>
            <a:spLocks noGrp="1"/>
          </p:cNvSpPr>
          <p:nvPr/>
        </p:nvSpPr>
        <p:spPr>
          <a:xfrm>
            <a:off x="6686550" y="3086100"/>
            <a:ext cx="4781550" cy="304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200" dirty="0" err="1">
                <a:solidFill>
                  <a:srgbClr val="101827"/>
                </a:solidFill>
              </a:rPr>
              <a:t>Tạo</a:t>
            </a:r>
            <a:r>
              <a:rPr lang="en-US" sz="1200" dirty="0">
                <a:solidFill>
                  <a:srgbClr val="101827"/>
                </a:solidFill>
              </a:rPr>
              <a:t> handoff, compress </a:t>
            </a:r>
            <a:endParaRPr sz="1200" b="0" dirty="0">
              <a:solidFill>
                <a:srgbClr val="101827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B8DDF0-EED9-4FCB-967E-F87910DAD9B7}"/>
              </a:ext>
            </a:extLst>
          </p:cNvPr>
          <p:cNvSpPr>
            <a:spLocks noGrp="1"/>
          </p:cNvSpPr>
          <p:nvPr/>
        </p:nvSpPr>
        <p:spPr>
          <a:xfrm>
            <a:off x="6324600" y="3295650"/>
            <a:ext cx="247650" cy="247650"/>
          </a:xfrm>
          <a:prstGeom prst="rect">
            <a:avLst/>
          </a:prstGeom>
        </p:spPr>
        <p:txBody>
          <a:bodyPr anchor="ctr">
            <a:normAutofit fontScale="94218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96869E8-8E11-47FD-808A-3B7F7D6BD308}"/>
              </a:ext>
            </a:extLst>
          </p:cNvPr>
          <p:cNvSpPr>
            <a:spLocks noGrp="1"/>
          </p:cNvSpPr>
          <p:nvPr/>
        </p:nvSpPr>
        <p:spPr>
          <a:xfrm>
            <a:off x="495300" y="5829300"/>
            <a:ext cx="8572500" cy="285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6246B5"/>
                </a:solidFill>
              </a:defRPr>
            </a:pPr>
            <a:r>
              <a:rPr sz="1200" b="1" dirty="0" err="1">
                <a:solidFill>
                  <a:srgbClr val="6246B5"/>
                </a:solidFill>
              </a:rPr>
              <a:t>Mục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tiêu</a:t>
            </a:r>
            <a:r>
              <a:rPr sz="1200" b="1" dirty="0">
                <a:solidFill>
                  <a:srgbClr val="6246B5"/>
                </a:solidFill>
              </a:rPr>
              <a:t> là </a:t>
            </a:r>
            <a:r>
              <a:rPr sz="1200" b="1" dirty="0" err="1">
                <a:solidFill>
                  <a:srgbClr val="6246B5"/>
                </a:solidFill>
              </a:rPr>
              <a:t>ngăn</a:t>
            </a:r>
            <a:r>
              <a:rPr sz="1200" b="1" dirty="0">
                <a:solidFill>
                  <a:srgbClr val="6246B5"/>
                </a:solidFill>
              </a:rPr>
              <a:t> context </a:t>
            </a:r>
            <a:r>
              <a:rPr lang="en-US" sz="1200" b="1" dirty="0" err="1">
                <a:solidFill>
                  <a:srgbClr val="6246B5"/>
                </a:solidFill>
              </a:rPr>
              <a:t>dư</a:t>
            </a:r>
            <a:r>
              <a:rPr lang="en-US" sz="1200" b="1" dirty="0">
                <a:solidFill>
                  <a:srgbClr val="6246B5"/>
                </a:solidFill>
              </a:rPr>
              <a:t> </a:t>
            </a:r>
            <a:r>
              <a:rPr lang="en-US" sz="1200" b="1" dirty="0" err="1">
                <a:solidFill>
                  <a:srgbClr val="6246B5"/>
                </a:solidFill>
              </a:rPr>
              <a:t>thừa</a:t>
            </a:r>
            <a:r>
              <a:rPr lang="en-US" sz="1200" b="1" dirty="0">
                <a:solidFill>
                  <a:srgbClr val="6246B5"/>
                </a:solidFill>
              </a:rPr>
              <a:t>, </a:t>
            </a:r>
            <a:r>
              <a:rPr lang="en-US" sz="1200" b="1" dirty="0" err="1">
                <a:solidFill>
                  <a:srgbClr val="6246B5"/>
                </a:solidFill>
              </a:rPr>
              <a:t>nhiễu</a:t>
            </a:r>
            <a:r>
              <a:rPr sz="1200" b="1" dirty="0">
                <a:solidFill>
                  <a:srgbClr val="6246B5"/>
                </a:solidFill>
              </a:rPr>
              <a:t> qua </a:t>
            </a:r>
            <a:r>
              <a:rPr sz="1200" b="1" dirty="0" err="1">
                <a:solidFill>
                  <a:srgbClr val="6246B5"/>
                </a:solidFill>
              </a:rPr>
              <a:t>thêm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nhiều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lần</a:t>
            </a:r>
            <a:r>
              <a:rPr sz="1200" b="1" dirty="0">
                <a:solidFill>
                  <a:srgbClr val="6246B5"/>
                </a:solidFill>
              </a:rPr>
              <a:t> </a:t>
            </a:r>
            <a:r>
              <a:rPr sz="1200" b="1" dirty="0" err="1">
                <a:solidFill>
                  <a:srgbClr val="6246B5"/>
                </a:solidFill>
              </a:rPr>
              <a:t>gọi</a:t>
            </a:r>
            <a:r>
              <a:rPr sz="1200" b="1" dirty="0">
                <a:solidFill>
                  <a:srgbClr val="6246B5"/>
                </a:solidFill>
              </a:rPr>
              <a:t> model.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B5A8AE6-0256-46A6-A0EC-06CA3C5305BA}"/>
              </a:ext>
            </a:extLst>
          </p:cNvPr>
          <p:cNvSpPr>
            <a:spLocks noGrp="1"/>
          </p:cNvSpPr>
          <p:nvPr/>
        </p:nvSpPr>
        <p:spPr>
          <a:xfrm>
            <a:off x="9544050" y="5848350"/>
            <a:ext cx="2152650" cy="400050"/>
          </a:xfrm>
          <a:prstGeom prst="roundRect">
            <a:avLst>
              <a:gd name="adj" fmla="val 19048"/>
            </a:avLst>
          </a:prstGeom>
          <a:solidFill>
            <a:srgbClr val="EEE9FF"/>
          </a:solidFill>
          <a:ln w="14288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C7C145C-7EF6-4EFF-9A98-ED9A4334DEED}"/>
              </a:ext>
            </a:extLst>
          </p:cNvPr>
          <p:cNvSpPr>
            <a:spLocks noGrp="1"/>
          </p:cNvSpPr>
          <p:nvPr/>
        </p:nvSpPr>
        <p:spPr>
          <a:xfrm>
            <a:off x="9658350" y="5915025"/>
            <a:ext cx="192405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200" b="1">
                <a:solidFill>
                  <a:srgbClr val="6246B5"/>
                </a:solidFill>
              </a:defRPr>
            </a:pPr>
            <a:r>
              <a:rPr sz="1200" b="1">
                <a:solidFill>
                  <a:srgbClr val="6246B5"/>
                </a:solidFill>
                <a:hlinkClick r:id="rId3" action="ppaction://hlinksldjump"/>
              </a:rPr>
              <a:t>← Quay lại vòng đời</a:t>
            </a: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092FE74-7336-4357-8A34-CDA19916B1C6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D687DC-F274-48A8-82BB-D164FC5910E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SESSION BOUNDARY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4BA3082-321C-42C3-8CD8-2515C8AE5EB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sz="900" b="0" dirty="0">
                <a:solidFill>
                  <a:srgbClr val="64748B"/>
                </a:solidFill>
              </a:rPr>
              <a:t>1</a:t>
            </a:r>
            <a:r>
              <a:rPr lang="en-US" sz="900" b="0" dirty="0">
                <a:solidFill>
                  <a:srgbClr val="64748B"/>
                </a:solidFill>
              </a:rPr>
              <a:t>7</a:t>
            </a:r>
            <a:r>
              <a:rPr sz="900" b="0" dirty="0">
                <a:solidFill>
                  <a:srgbClr val="64748B"/>
                </a:solidFill>
              </a:rPr>
              <a:t> / </a:t>
            </a:r>
            <a:r>
              <a:rPr lang="en-US" sz="90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7978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D25BC2C-9A6E-4046-8B9C-77355DA9F91F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15C267-4C94-4411-9A86-1CAAE114C400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 dirty="0">
                <a:solidFill>
                  <a:srgbClr val="101827"/>
                </a:solidFill>
              </a:rPr>
              <a:t>Checklist 1 — </a:t>
            </a:r>
            <a:r>
              <a:rPr lang="en-US" sz="2325" b="1" dirty="0">
                <a:solidFill>
                  <a:srgbClr val="101827"/>
                </a:solidFill>
              </a:rPr>
              <a:t>Workflow</a:t>
            </a:r>
            <a:endParaRPr sz="2325" b="1" dirty="0">
              <a:solidFill>
                <a:srgbClr val="101827"/>
              </a:solidFill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ADF1136-0121-43BE-BF20-6B5D6F8F33EA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1123C4-7C65-43E8-938B-576BCF0002FF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1050" b="1" dirty="0">
                <a:solidFill>
                  <a:srgbClr val="64748B"/>
                </a:solidFill>
              </a:rPr>
              <a:t>18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4184F1D-2A1B-4547-B526-87B8E569C43C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716D88-7160-467C-9561-56693615155E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334155"/>
                </a:solidFill>
              </a:defRPr>
            </a:pPr>
            <a:r>
              <a:rPr sz="1200" b="1">
                <a:solidFill>
                  <a:srgbClr val="334155"/>
                </a:solidFill>
              </a:rPr>
              <a:t>WORKFLOW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D32BEF-B9C0-4A78-AF37-9A90C0835999}"/>
              </a:ext>
            </a:extLst>
          </p:cNvPr>
          <p:cNvSpPr>
            <a:spLocks noGrp="1"/>
          </p:cNvSpPr>
          <p:nvPr/>
        </p:nvSpPr>
        <p:spPr>
          <a:xfrm>
            <a:off x="495300" y="1600200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E3CD7D-9EF6-4A72-93E6-5D2D3D412ECE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MỞ PHIÊN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44032A-0E08-4C2B-B782-2ABADB818133}"/>
              </a:ext>
            </a:extLst>
          </p:cNvPr>
          <p:cNvSpPr>
            <a:spLocks noGrp="1"/>
          </p:cNvSpPr>
          <p:nvPr/>
        </p:nvSpPr>
        <p:spPr>
          <a:xfrm>
            <a:off x="666750" y="2266950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lang="en-US" sz="1350" b="1" dirty="0" err="1">
                <a:solidFill>
                  <a:srgbClr val="334155"/>
                </a:solidFill>
              </a:rPr>
              <a:t>Một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phiên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chỉ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xử</a:t>
            </a:r>
            <a:r>
              <a:rPr lang="en-US" sz="1350" b="1" dirty="0">
                <a:solidFill>
                  <a:srgbClr val="334155"/>
                </a:solidFill>
              </a:rPr>
              <a:t> lý </a:t>
            </a:r>
            <a:r>
              <a:rPr lang="en-US" sz="1350" b="1" dirty="0" err="1">
                <a:solidFill>
                  <a:srgbClr val="334155"/>
                </a:solidFill>
              </a:rPr>
              <a:t>một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nhóm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việc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liên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quan</a:t>
            </a:r>
            <a:r>
              <a:rPr lang="en-US" sz="1350" b="1" dirty="0">
                <a:solidFill>
                  <a:srgbClr val="334155"/>
                </a:solidFill>
              </a:rPr>
              <a:t>.</a:t>
            </a:r>
            <a:endParaRPr sz="1125" b="1" dirty="0">
              <a:solidFill>
                <a:srgbClr val="334155"/>
              </a:solidFill>
            </a:endParaRPr>
          </a:p>
          <a:p>
            <a:pPr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lang="en-US" sz="1350" b="1" dirty="0" err="1">
                <a:solidFill>
                  <a:srgbClr val="334155"/>
                </a:solidFill>
              </a:rPr>
              <a:t>Nêu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rõ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phạm</a:t>
            </a:r>
            <a:r>
              <a:rPr lang="en-US" sz="1350" b="1" dirty="0">
                <a:solidFill>
                  <a:srgbClr val="334155"/>
                </a:solidFill>
              </a:rPr>
              <a:t> vi và </a:t>
            </a:r>
            <a:r>
              <a:rPr lang="en-US" sz="1350" b="1" dirty="0" err="1">
                <a:solidFill>
                  <a:srgbClr val="334155"/>
                </a:solidFill>
              </a:rPr>
              <a:t>điều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kiện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hoàn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thành</a:t>
            </a:r>
            <a:r>
              <a:rPr lang="en-US" sz="1350" b="1" dirty="0">
                <a:solidFill>
                  <a:srgbClr val="334155"/>
                </a:solidFill>
              </a:rPr>
              <a:t>.</a:t>
            </a:r>
            <a:endParaRPr sz="1125" b="1" dirty="0">
              <a:solidFill>
                <a:srgbClr val="334155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476139-C092-413F-8FC9-575CC7EBB138}"/>
              </a:ext>
            </a:extLst>
          </p:cNvPr>
          <p:cNvSpPr>
            <a:spLocks noGrp="1"/>
          </p:cNvSpPr>
          <p:nvPr/>
        </p:nvSpPr>
        <p:spPr>
          <a:xfrm>
            <a:off x="4819650" y="1603829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7E2782-5880-44EE-A3DF-5A09A735A044}"/>
              </a:ext>
            </a:extLst>
          </p:cNvPr>
          <p:cNvSpPr>
            <a:spLocks noGrp="1"/>
          </p:cNvSpPr>
          <p:nvPr/>
        </p:nvSpPr>
        <p:spPr>
          <a:xfrm>
            <a:off x="4991100" y="1756229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 dirty="0">
                <a:solidFill>
                  <a:srgbClr val="D97706"/>
                </a:solidFill>
              </a:rPr>
              <a:t>TRONG PHIÊN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244009-458A-4622-B7F1-484E6ED7D01B}"/>
              </a:ext>
            </a:extLst>
          </p:cNvPr>
          <p:cNvSpPr>
            <a:spLocks noGrp="1"/>
          </p:cNvSpPr>
          <p:nvPr/>
        </p:nvSpPr>
        <p:spPr>
          <a:xfrm>
            <a:off x="4991100" y="2270579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lang="en-US" sz="1350" b="1" dirty="0" err="1">
                <a:solidFill>
                  <a:srgbClr val="334155"/>
                </a:solidFill>
              </a:rPr>
              <a:t>Chỉ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đưa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vào</a:t>
            </a:r>
            <a:r>
              <a:rPr lang="en-US" sz="1350" b="1" dirty="0">
                <a:solidFill>
                  <a:srgbClr val="334155"/>
                </a:solidFill>
              </a:rPr>
              <a:t> context </a:t>
            </a:r>
            <a:r>
              <a:rPr lang="en-US" sz="1350" b="1" dirty="0" err="1">
                <a:solidFill>
                  <a:srgbClr val="334155"/>
                </a:solidFill>
              </a:rPr>
              <a:t>nội</a:t>
            </a:r>
            <a:r>
              <a:rPr lang="en-US" sz="1350" b="1" dirty="0">
                <a:solidFill>
                  <a:srgbClr val="334155"/>
                </a:solidFill>
              </a:rPr>
              <a:t> dung </a:t>
            </a:r>
            <a:r>
              <a:rPr lang="en-US" sz="1350" b="1" dirty="0" err="1">
                <a:solidFill>
                  <a:srgbClr val="334155"/>
                </a:solidFill>
              </a:rPr>
              <a:t>cần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thiết</a:t>
            </a:r>
            <a:r>
              <a:rPr lang="en-US" sz="1350" b="1" dirty="0">
                <a:solidFill>
                  <a:srgbClr val="334155"/>
                </a:solidFill>
              </a:rPr>
              <a:t>.</a:t>
            </a:r>
          </a:p>
          <a:p>
            <a:pPr>
              <a:defRPr sz="1350" b="1">
                <a:solidFill>
                  <a:srgbClr val="334155"/>
                </a:solidFill>
              </a:defRPr>
            </a:pPr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lang="en-US" sz="1350" b="1" dirty="0" err="1">
                <a:solidFill>
                  <a:srgbClr val="334155"/>
                </a:solidFill>
              </a:rPr>
              <a:t>Chủ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động</a:t>
            </a:r>
            <a:r>
              <a:rPr lang="en-US" sz="1350" b="1" dirty="0">
                <a:solidFill>
                  <a:srgbClr val="334155"/>
                </a:solidFill>
              </a:rPr>
              <a:t> compress context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CF4066-05F1-40BE-8E64-05FDFA81231D}"/>
              </a:ext>
            </a:extLst>
          </p:cNvPr>
          <p:cNvSpPr>
            <a:spLocks noGrp="1"/>
          </p:cNvSpPr>
          <p:nvPr/>
        </p:nvSpPr>
        <p:spPr>
          <a:xfrm>
            <a:off x="9144000" y="1600200"/>
            <a:ext cx="2552700" cy="4000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1F42AB-2DD4-4399-B059-61E4ED0A9838}"/>
              </a:ext>
            </a:extLst>
          </p:cNvPr>
          <p:cNvSpPr>
            <a:spLocks noGrp="1"/>
          </p:cNvSpPr>
          <p:nvPr/>
        </p:nvSpPr>
        <p:spPr>
          <a:xfrm>
            <a:off x="9315450" y="1752600"/>
            <a:ext cx="2209800" cy="4572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80" b="1" dirty="0">
                <a:solidFill>
                  <a:srgbClr val="6246B5"/>
                </a:solidFill>
              </a:rPr>
              <a:t>KHI KHÔNG TIẾN TRIỂN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846FF6-8D19-4C18-9D7D-537EAF4E99F2}"/>
              </a:ext>
            </a:extLst>
          </p:cNvPr>
          <p:cNvSpPr>
            <a:spLocks noGrp="1"/>
          </p:cNvSpPr>
          <p:nvPr/>
        </p:nvSpPr>
        <p:spPr>
          <a:xfrm>
            <a:off x="9315450" y="2266950"/>
            <a:ext cx="2209800" cy="3048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 sz="1125" b="1" dirty="0">
                <a:solidFill>
                  <a:srgbClr val="334155"/>
                </a:solidFill>
              </a:rPr>
              <a:t>☐ </a:t>
            </a:r>
            <a:r>
              <a:rPr lang="en-US" sz="1350" b="1" dirty="0" err="1">
                <a:solidFill>
                  <a:srgbClr val="334155"/>
                </a:solidFill>
              </a:rPr>
              <a:t>Dừng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khi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không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có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hướng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mới</a:t>
            </a:r>
            <a:r>
              <a:rPr lang="en-US" sz="1350" b="1" dirty="0">
                <a:solidFill>
                  <a:srgbClr val="334155"/>
                </a:solidFill>
              </a:rPr>
              <a:t>, </a:t>
            </a:r>
            <a:r>
              <a:rPr lang="en-US" sz="1350" b="1" dirty="0" err="1">
                <a:solidFill>
                  <a:srgbClr val="334155"/>
                </a:solidFill>
              </a:rPr>
              <a:t>lưu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kết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quả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quan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trọng</a:t>
            </a:r>
            <a:r>
              <a:rPr lang="en-US" sz="1350" b="1" dirty="0">
                <a:solidFill>
                  <a:srgbClr val="334155"/>
                </a:solidFill>
              </a:rPr>
              <a:t> và </a:t>
            </a:r>
            <a:r>
              <a:rPr lang="en-US" sz="1350" b="1" dirty="0" err="1">
                <a:solidFill>
                  <a:srgbClr val="334155"/>
                </a:solidFill>
              </a:rPr>
              <a:t>lập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phiên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  <a:r>
              <a:rPr lang="en-US" sz="1350" b="1" dirty="0" err="1">
                <a:solidFill>
                  <a:srgbClr val="334155"/>
                </a:solidFill>
              </a:rPr>
              <a:t>mới</a:t>
            </a:r>
            <a:r>
              <a:rPr lang="en-US" sz="1350" b="1" dirty="0">
                <a:solidFill>
                  <a:srgbClr val="334155"/>
                </a:solidFill>
              </a:rPr>
              <a:t> 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DE6F63A6-B4AA-4D11-B8D3-E99A8BEF0133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5B27DB-14ED-4DF2-99E1-2AAB8C5392F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WORKFLOW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1C19A2-0AF8-48EC-AC78-EF3DAB469552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b="0" dirty="0">
                <a:solidFill>
                  <a:srgbClr val="64748B"/>
                </a:solidFill>
              </a:rPr>
              <a:t>18</a:t>
            </a:r>
            <a:r>
              <a:rPr sz="900" b="0" dirty="0">
                <a:solidFill>
                  <a:srgbClr val="64748B"/>
                </a:solidFill>
              </a:rPr>
              <a:t> / </a:t>
            </a:r>
            <a:r>
              <a:rPr lang="en-US" sz="900" b="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421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B8BB1490-FB87-4E88-B5D1-A471C2B28BC0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FC1BC0-F3EE-4F54-8109-2F6429CE8EA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325" b="1">
                <a:solidFill>
                  <a:srgbClr val="101827"/>
                </a:solidFill>
              </a:rPr>
              <a:t>Checklist 2 — Kiểm tra cấu hình Harness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27523544-3CBF-4DC5-89E6-F799EF104526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FF5FA-CE8A-4C90-8D3C-DFAEA9FD6AFE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6111" lnSpcReduction="1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900" b="1" dirty="0">
                <a:solidFill>
                  <a:srgbClr val="64748B"/>
                </a:solidFill>
              </a:rPr>
              <a:t>19</a:t>
            </a:r>
            <a:endParaRPr sz="900" b="1" dirty="0">
              <a:solidFill>
                <a:srgbClr val="64748B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4AA7BA-7E72-46FE-9263-EDC31F3133F3}"/>
              </a:ext>
            </a:extLst>
          </p:cNvPr>
          <p:cNvSpPr>
            <a:spLocks noGrp="1"/>
          </p:cNvSpPr>
          <p:nvPr/>
        </p:nvSpPr>
        <p:spPr>
          <a:xfrm>
            <a:off x="495300" y="1409700"/>
            <a:ext cx="97155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75E4A-CBB3-4FC6-8FCD-B2A9FF59DD78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lang="en-US" sz="1200" b="1" dirty="0">
                <a:solidFill>
                  <a:srgbClr val="FFFFFF"/>
                </a:solidFill>
              </a:rPr>
              <a:t>STT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651D58-51FD-4778-91CD-22C991969923}"/>
              </a:ext>
            </a:extLst>
          </p:cNvPr>
          <p:cNvSpPr>
            <a:spLocks noGrp="1"/>
          </p:cNvSpPr>
          <p:nvPr/>
        </p:nvSpPr>
        <p:spPr>
          <a:xfrm>
            <a:off x="1466850" y="1409700"/>
            <a:ext cx="285750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E920DA-7FA7-47A1-84CA-5A8E0B2353E4}"/>
              </a:ext>
            </a:extLst>
          </p:cNvPr>
          <p:cNvSpPr>
            <a:spLocks noGrp="1"/>
          </p:cNvSpPr>
          <p:nvPr/>
        </p:nvSpPr>
        <p:spPr>
          <a:xfrm>
            <a:off x="1466850" y="145732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Cấu hình cần kiểm tra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541BE1-20DC-45C2-B1EF-DEA8B87D2D30}"/>
              </a:ext>
            </a:extLst>
          </p:cNvPr>
          <p:cNvSpPr>
            <a:spLocks noGrp="1"/>
          </p:cNvSpPr>
          <p:nvPr/>
        </p:nvSpPr>
        <p:spPr>
          <a:xfrm>
            <a:off x="4324350" y="1409700"/>
            <a:ext cx="7372350" cy="466725"/>
          </a:xfrm>
          <a:prstGeom prst="rect">
            <a:avLst/>
          </a:prstGeom>
          <a:solidFill>
            <a:srgbClr val="0B1220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3CC7DC-7B9C-4951-8DAD-C7A477A70DDB}"/>
              </a:ext>
            </a:extLst>
          </p:cNvPr>
          <p:cNvSpPr>
            <a:spLocks noGrp="1"/>
          </p:cNvSpPr>
          <p:nvPr/>
        </p:nvSpPr>
        <p:spPr>
          <a:xfrm>
            <a:off x="4324350" y="145732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Cách thiết lập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2D9ED9-B1EA-442E-A532-0F322CA5EA7F}"/>
              </a:ext>
            </a:extLst>
          </p:cNvPr>
          <p:cNvSpPr>
            <a:spLocks noGrp="1"/>
          </p:cNvSpPr>
          <p:nvPr/>
        </p:nvSpPr>
        <p:spPr>
          <a:xfrm>
            <a:off x="495300" y="1876425"/>
            <a:ext cx="9715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A153A7-5903-45E5-B351-34F916D3D12B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1C9A1F-96CB-4650-A41F-75F047345C10}"/>
              </a:ext>
            </a:extLst>
          </p:cNvPr>
          <p:cNvSpPr>
            <a:spLocks noGrp="1"/>
          </p:cNvSpPr>
          <p:nvPr/>
        </p:nvSpPr>
        <p:spPr>
          <a:xfrm>
            <a:off x="1466850" y="1876425"/>
            <a:ext cx="2857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DD28D7-6302-4A47-B674-6CB70E2750E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Trần output tool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72467A-8927-44BB-B90B-0C212EBF5C34}"/>
              </a:ext>
            </a:extLst>
          </p:cNvPr>
          <p:cNvSpPr>
            <a:spLocks noGrp="1"/>
          </p:cNvSpPr>
          <p:nvPr/>
        </p:nvSpPr>
        <p:spPr>
          <a:xfrm>
            <a:off x="4324350" y="1876425"/>
            <a:ext cx="73723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752925-94C8-4AE6-9233-C9CBEA95AE0F}"/>
              </a:ext>
            </a:extLst>
          </p:cNvPr>
          <p:cNvSpPr>
            <a:spLocks noGrp="1"/>
          </p:cNvSpPr>
          <p:nvPr/>
        </p:nvSpPr>
        <p:spPr>
          <a:xfrm>
            <a:off x="4324350" y="1924050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Giới hạn log, test output và MCP result; không đặt thấp đến mức agent phải chạy lại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F3BDCC-7BFF-4274-A0F1-F120D4EC9028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9715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7B99CD-F950-463D-8312-A1138C2EF44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D951C4-0820-40AC-954B-31A0DB08AC3A}"/>
              </a:ext>
            </a:extLst>
          </p:cNvPr>
          <p:cNvSpPr>
            <a:spLocks noGrp="1"/>
          </p:cNvSpPr>
          <p:nvPr/>
        </p:nvSpPr>
        <p:spPr>
          <a:xfrm>
            <a:off x="1466850" y="2343150"/>
            <a:ext cx="2857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0FEB360-77FD-443A-9B8F-98DB1BF72B05}"/>
              </a:ext>
            </a:extLst>
          </p:cNvPr>
          <p:cNvSpPr>
            <a:spLocks noGrp="1"/>
          </p:cNvSpPr>
          <p:nvPr/>
        </p:nvSpPr>
        <p:spPr>
          <a:xfrm>
            <a:off x="1466850" y="239077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Điểm kích hoạt compact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4D20C31-B99B-4822-B97B-D04D3A8808A3}"/>
              </a:ext>
            </a:extLst>
          </p:cNvPr>
          <p:cNvSpPr>
            <a:spLocks noGrp="1"/>
          </p:cNvSpPr>
          <p:nvPr/>
        </p:nvSpPr>
        <p:spPr>
          <a:xfrm>
            <a:off x="4324350" y="2343150"/>
            <a:ext cx="73723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B15E5E-A5E7-4F33-A6D5-79757E5A6CA8}"/>
              </a:ext>
            </a:extLst>
          </p:cNvPr>
          <p:cNvSpPr>
            <a:spLocks noGrp="1"/>
          </p:cNvSpPr>
          <p:nvPr/>
        </p:nvSpPr>
        <p:spPr>
          <a:xfrm>
            <a:off x="4324350" y="239077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Không compact quá sớm; không để context chạm trần; giữ đủ thông tin cho task hiện tại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5C801F-EA8D-403A-8F24-6489A8C5119E}"/>
              </a:ext>
            </a:extLst>
          </p:cNvPr>
          <p:cNvSpPr>
            <a:spLocks noGrp="1"/>
          </p:cNvSpPr>
          <p:nvPr/>
        </p:nvSpPr>
        <p:spPr>
          <a:xfrm>
            <a:off x="495300" y="2809875"/>
            <a:ext cx="9715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C9BEE68-2BF3-4648-8630-3BA6DAFCE748}"/>
              </a:ext>
            </a:extLst>
          </p:cNvPr>
          <p:cNvSpPr>
            <a:spLocks noGrp="1"/>
          </p:cNvSpPr>
          <p:nvPr/>
        </p:nvSpPr>
        <p:spPr>
          <a:xfrm>
            <a:off x="609600" y="2857500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706D991-C3FC-425E-9DBE-3E7560DC39E3}"/>
              </a:ext>
            </a:extLst>
          </p:cNvPr>
          <p:cNvSpPr>
            <a:spLocks noGrp="1"/>
          </p:cNvSpPr>
          <p:nvPr/>
        </p:nvSpPr>
        <p:spPr>
          <a:xfrm>
            <a:off x="1466850" y="2809875"/>
            <a:ext cx="2857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C6BC7E-A270-450D-BA6C-51881CC1BDAA}"/>
              </a:ext>
            </a:extLst>
          </p:cNvPr>
          <p:cNvSpPr>
            <a:spLocks noGrp="1"/>
          </p:cNvSpPr>
          <p:nvPr/>
        </p:nvSpPr>
        <p:spPr>
          <a:xfrm>
            <a:off x="1466850" y="2857500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>
                <a:solidFill>
                  <a:srgbClr val="101827"/>
                </a:solidFill>
              </a:rPr>
              <a:t>Reasoning effort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8355200-40DC-48D9-A6C6-169F3253C4A7}"/>
              </a:ext>
            </a:extLst>
          </p:cNvPr>
          <p:cNvSpPr>
            <a:spLocks noGrp="1"/>
          </p:cNvSpPr>
          <p:nvPr/>
        </p:nvSpPr>
        <p:spPr>
          <a:xfrm>
            <a:off x="4324350" y="2809875"/>
            <a:ext cx="73723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F02163-C53C-446D-9161-3E5348671715}"/>
              </a:ext>
            </a:extLst>
          </p:cNvPr>
          <p:cNvSpPr>
            <a:spLocks noGrp="1"/>
          </p:cNvSpPr>
          <p:nvPr/>
        </p:nvSpPr>
        <p:spPr>
          <a:xfrm>
            <a:off x="4324350" y="2857500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 dirty="0">
                <a:solidFill>
                  <a:srgbClr val="101827"/>
                </a:solidFill>
              </a:rPr>
              <a:t>Dùng </a:t>
            </a:r>
            <a:r>
              <a:rPr sz="1050" b="0" dirty="0" err="1">
                <a:solidFill>
                  <a:srgbClr val="101827"/>
                </a:solidFill>
              </a:rPr>
              <a:t>mức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vừa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phải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cho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việc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thường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ngày</a:t>
            </a:r>
            <a:r>
              <a:rPr sz="1050" b="0" dirty="0">
                <a:solidFill>
                  <a:srgbClr val="101827"/>
                </a:solidFill>
              </a:rPr>
              <a:t>; </a:t>
            </a:r>
            <a:r>
              <a:rPr sz="1050" b="0" dirty="0" err="1">
                <a:solidFill>
                  <a:srgbClr val="101827"/>
                </a:solidFill>
              </a:rPr>
              <a:t>chỉ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nâng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khi</a:t>
            </a:r>
            <a:r>
              <a:rPr sz="1050" b="0" dirty="0">
                <a:solidFill>
                  <a:srgbClr val="101827"/>
                </a:solidFill>
              </a:rPr>
              <a:t> task </a:t>
            </a:r>
            <a:r>
              <a:rPr sz="1050" b="0" dirty="0" err="1">
                <a:solidFill>
                  <a:srgbClr val="101827"/>
                </a:solidFill>
              </a:rPr>
              <a:t>thực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sự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cần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suy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luận</a:t>
            </a:r>
            <a:r>
              <a:rPr sz="1050" b="0" dirty="0">
                <a:solidFill>
                  <a:srgbClr val="101827"/>
                </a:solidFill>
              </a:rPr>
              <a:t> </a:t>
            </a:r>
            <a:r>
              <a:rPr sz="1050" b="0" dirty="0" err="1">
                <a:solidFill>
                  <a:srgbClr val="101827"/>
                </a:solidFill>
              </a:rPr>
              <a:t>sâu</a:t>
            </a:r>
            <a:endParaRPr sz="1050" b="0" dirty="0">
              <a:solidFill>
                <a:srgbClr val="101827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B0C0F6-509E-439C-8EE6-A174F04C7B9B}"/>
              </a:ext>
            </a:extLst>
          </p:cNvPr>
          <p:cNvSpPr>
            <a:spLocks noGrp="1"/>
          </p:cNvSpPr>
          <p:nvPr/>
        </p:nvSpPr>
        <p:spPr>
          <a:xfrm>
            <a:off x="495300" y="3276600"/>
            <a:ext cx="9715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E6AAC8-8C1F-455C-84A2-FF443E2312A1}"/>
              </a:ext>
            </a:extLst>
          </p:cNvPr>
          <p:cNvSpPr>
            <a:spLocks noGrp="1"/>
          </p:cNvSpPr>
          <p:nvPr/>
        </p:nvSpPr>
        <p:spPr>
          <a:xfrm>
            <a:off x="609600" y="332422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4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3356BB-301B-4091-8C9D-E5FCC4E228F1}"/>
              </a:ext>
            </a:extLst>
          </p:cNvPr>
          <p:cNvSpPr>
            <a:spLocks noGrp="1"/>
          </p:cNvSpPr>
          <p:nvPr/>
        </p:nvSpPr>
        <p:spPr>
          <a:xfrm>
            <a:off x="1466850" y="3276600"/>
            <a:ext cx="2857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0B31A6F-3960-4384-A9CF-AF2A876C11A6}"/>
              </a:ext>
            </a:extLst>
          </p:cNvPr>
          <p:cNvSpPr>
            <a:spLocks noGrp="1"/>
          </p:cNvSpPr>
          <p:nvPr/>
        </p:nvSpPr>
        <p:spPr>
          <a:xfrm>
            <a:off x="1466850" y="332422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lang="en-US" sz="1125" dirty="0">
                <a:solidFill>
                  <a:srgbClr val="101827"/>
                </a:solidFill>
              </a:rPr>
              <a:t>Model routing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51ECAF-C1AF-4C38-B8AD-AC82753878E2}"/>
              </a:ext>
            </a:extLst>
          </p:cNvPr>
          <p:cNvSpPr>
            <a:spLocks noGrp="1"/>
          </p:cNvSpPr>
          <p:nvPr/>
        </p:nvSpPr>
        <p:spPr>
          <a:xfrm>
            <a:off x="4324350" y="3276600"/>
            <a:ext cx="73723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50D42F-41D2-44ED-A1DC-CBBBEBFD7775}"/>
              </a:ext>
            </a:extLst>
          </p:cNvPr>
          <p:cNvSpPr>
            <a:spLocks noGrp="1"/>
          </p:cNvSpPr>
          <p:nvPr/>
        </p:nvSpPr>
        <p:spPr>
          <a:xfrm>
            <a:off x="4324350" y="332422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algn="ctr" rtl="0" eaLnBrk="1" latinLnBrk="0" hangingPunct="1">
              <a:buNone/>
            </a:pP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Chọn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model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phù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hợp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ngay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đầu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phiên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tránh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đổi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model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giữa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task</a:t>
            </a:r>
            <a:endParaRPr lang="en-US" sz="1200" dirty="0">
              <a:effectLst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8AC34C8-6170-42DC-B537-8369D116C261}"/>
              </a:ext>
            </a:extLst>
          </p:cNvPr>
          <p:cNvSpPr>
            <a:spLocks noGrp="1"/>
          </p:cNvSpPr>
          <p:nvPr/>
        </p:nvSpPr>
        <p:spPr>
          <a:xfrm>
            <a:off x="495300" y="3743325"/>
            <a:ext cx="9715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0AE8954-DA5A-4754-AF29-CAD378898E66}"/>
              </a:ext>
            </a:extLst>
          </p:cNvPr>
          <p:cNvSpPr>
            <a:spLocks noGrp="1"/>
          </p:cNvSpPr>
          <p:nvPr/>
        </p:nvSpPr>
        <p:spPr>
          <a:xfrm>
            <a:off x="609600" y="3790950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5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271CBEA-30E6-4F16-984B-902BA3961B60}"/>
              </a:ext>
            </a:extLst>
          </p:cNvPr>
          <p:cNvSpPr>
            <a:spLocks noGrp="1"/>
          </p:cNvSpPr>
          <p:nvPr/>
        </p:nvSpPr>
        <p:spPr>
          <a:xfrm>
            <a:off x="1466850" y="3743325"/>
            <a:ext cx="285750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E4A90E3-37AF-4917-B931-18D21EED913F}"/>
              </a:ext>
            </a:extLst>
          </p:cNvPr>
          <p:cNvSpPr>
            <a:spLocks noGrp="1"/>
          </p:cNvSpPr>
          <p:nvPr/>
        </p:nvSpPr>
        <p:spPr>
          <a:xfrm>
            <a:off x="1466850" y="3790950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125" b="0" dirty="0">
                <a:solidFill>
                  <a:srgbClr val="101827"/>
                </a:solidFill>
              </a:rPr>
              <a:t>Tool và MCP </a:t>
            </a:r>
            <a:r>
              <a:rPr sz="1125" b="0" dirty="0" err="1">
                <a:solidFill>
                  <a:srgbClr val="101827"/>
                </a:solidFill>
              </a:rPr>
              <a:t>đang</a:t>
            </a:r>
            <a:r>
              <a:rPr sz="1125" b="0" dirty="0">
                <a:solidFill>
                  <a:srgbClr val="101827"/>
                </a:solidFill>
              </a:rPr>
              <a:t> </a:t>
            </a:r>
            <a:r>
              <a:rPr sz="1125" b="0" dirty="0" err="1">
                <a:solidFill>
                  <a:srgbClr val="101827"/>
                </a:solidFill>
              </a:rPr>
              <a:t>bật</a:t>
            </a:r>
            <a:endParaRPr sz="1125" b="0" dirty="0">
              <a:solidFill>
                <a:srgbClr val="101827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5486636-CD85-461C-BF05-A9A140D706D6}"/>
              </a:ext>
            </a:extLst>
          </p:cNvPr>
          <p:cNvSpPr>
            <a:spLocks noGrp="1"/>
          </p:cNvSpPr>
          <p:nvPr/>
        </p:nvSpPr>
        <p:spPr>
          <a:xfrm>
            <a:off x="4324350" y="3743325"/>
            <a:ext cx="7372350" cy="4667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4D96D70-2268-4EA0-8A64-69D8594DA3FC}"/>
              </a:ext>
            </a:extLst>
          </p:cNvPr>
          <p:cNvSpPr>
            <a:spLocks noGrp="1"/>
          </p:cNvSpPr>
          <p:nvPr/>
        </p:nvSpPr>
        <p:spPr>
          <a:xfrm>
            <a:off x="4324350" y="3790950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>
                <a:solidFill>
                  <a:srgbClr val="101827"/>
                </a:solidFill>
              </a:defRPr>
            </a:pPr>
            <a:r>
              <a:rPr sz="1050" b="0">
                <a:solidFill>
                  <a:srgbClr val="101827"/>
                </a:solidFill>
              </a:rPr>
              <a:t>Tắt server không dùng; ưu tiên lazy-load hoặc tool search nếu có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B98E95F-BDC2-48FD-8A8F-F29F7B98D1F1}"/>
              </a:ext>
            </a:extLst>
          </p:cNvPr>
          <p:cNvSpPr>
            <a:spLocks noGrp="1"/>
          </p:cNvSpPr>
          <p:nvPr/>
        </p:nvSpPr>
        <p:spPr>
          <a:xfrm>
            <a:off x="495300" y="4210050"/>
            <a:ext cx="9715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187F415-1A18-42E6-82D4-F2DBE3C9685C}"/>
              </a:ext>
            </a:extLst>
          </p:cNvPr>
          <p:cNvSpPr>
            <a:spLocks noGrp="1"/>
          </p:cNvSpPr>
          <p:nvPr/>
        </p:nvSpPr>
        <p:spPr>
          <a:xfrm>
            <a:off x="609600" y="4257675"/>
            <a:ext cx="8572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01827"/>
                </a:solidFill>
              </a:defRPr>
            </a:pPr>
            <a:r>
              <a:rPr sz="1125" b="1">
                <a:solidFill>
                  <a:srgbClr val="101827"/>
                </a:solidFill>
              </a:rPr>
              <a:t>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49B48D6-B820-493B-9527-F0E7F2E0F61D}"/>
              </a:ext>
            </a:extLst>
          </p:cNvPr>
          <p:cNvSpPr>
            <a:spLocks noGrp="1"/>
          </p:cNvSpPr>
          <p:nvPr/>
        </p:nvSpPr>
        <p:spPr>
          <a:xfrm>
            <a:off x="1466850" y="4210050"/>
            <a:ext cx="285750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850E2C4-4852-4FA8-96C3-7EBCACBA43AB}"/>
              </a:ext>
            </a:extLst>
          </p:cNvPr>
          <p:cNvSpPr>
            <a:spLocks noGrp="1"/>
          </p:cNvSpPr>
          <p:nvPr/>
        </p:nvSpPr>
        <p:spPr>
          <a:xfrm>
            <a:off x="1466850" y="4257675"/>
            <a:ext cx="285750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algn="ctr" rtl="0" eaLnBrk="1" latinLnBrk="0" hangingPunct="1">
              <a:buNone/>
            </a:pPr>
            <a:r>
              <a:rPr lang="en-US" sz="110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 verbosity</a:t>
            </a:r>
            <a:endParaRPr lang="en-US" sz="1600" dirty="0">
              <a:effectLst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A35CA96-8216-4C65-907C-934BE8C6C1DB}"/>
              </a:ext>
            </a:extLst>
          </p:cNvPr>
          <p:cNvSpPr>
            <a:spLocks noGrp="1"/>
          </p:cNvSpPr>
          <p:nvPr/>
        </p:nvSpPr>
        <p:spPr>
          <a:xfrm>
            <a:off x="4324350" y="4210050"/>
            <a:ext cx="7372350" cy="466725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D04B5FE-50BF-4682-A49E-D0F527D5DED2}"/>
              </a:ext>
            </a:extLst>
          </p:cNvPr>
          <p:cNvSpPr>
            <a:spLocks noGrp="1"/>
          </p:cNvSpPr>
          <p:nvPr/>
        </p:nvSpPr>
        <p:spPr>
          <a:xfrm>
            <a:off x="4324350" y="4257675"/>
            <a:ext cx="7258050" cy="371475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algn="ctr" rtl="0" eaLnBrk="1" latinLnBrk="0" hangingPunct="1">
              <a:buNone/>
            </a:pP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Chọn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output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ngắn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hoặc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concise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nếu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harness/model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hỗ</a:t>
            </a:r>
            <a:r>
              <a:rPr lang="en-US" sz="1050" b="0" kern="1200" dirty="0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50" b="0" kern="1200" dirty="0" err="1">
                <a:solidFill>
                  <a:srgbClr val="10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trợ</a:t>
            </a:r>
            <a:endParaRPr lang="en-US" sz="1200" dirty="0">
              <a:effectLst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AB6311E-DDC6-4655-B764-BC1B55A6E67E}"/>
              </a:ext>
            </a:extLst>
          </p:cNvPr>
          <p:cNvSpPr>
            <a:spLocks noGrp="1"/>
          </p:cNvSpPr>
          <p:nvPr/>
        </p:nvSpPr>
        <p:spPr>
          <a:xfrm>
            <a:off x="476250" y="5143500"/>
            <a:ext cx="11201400" cy="800100"/>
          </a:xfrm>
          <a:prstGeom prst="roundRect">
            <a:avLst>
              <a:gd name="adj" fmla="val 14286"/>
            </a:avLst>
          </a:prstGeom>
          <a:solidFill>
            <a:srgbClr val="E5F7F8"/>
          </a:solidFill>
          <a:ln w="14288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CD524D8-9E78-4DCF-A18A-E4445F944431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10972800" cy="6096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0E9AA7"/>
                </a:solidFill>
              </a:defRPr>
            </a:pPr>
            <a:r>
              <a:rPr sz="1200" b="1" dirty="0">
                <a:solidFill>
                  <a:srgbClr val="0E9AA7"/>
                </a:solidFill>
              </a:rPr>
              <a:t>Instruction files: </a:t>
            </a:r>
            <a:r>
              <a:rPr sz="1200" b="1" dirty="0" err="1">
                <a:solidFill>
                  <a:srgbClr val="0E9AA7"/>
                </a:solidFill>
              </a:rPr>
              <a:t>Giữ</a:t>
            </a:r>
            <a:r>
              <a:rPr sz="1200" b="1" dirty="0">
                <a:solidFill>
                  <a:srgbClr val="0E9AA7"/>
                </a:solidFill>
              </a:rPr>
              <a:t> CLAUDE.md, AGENTS.md và rules file </a:t>
            </a:r>
            <a:r>
              <a:rPr sz="1200" b="1" dirty="0" err="1">
                <a:solidFill>
                  <a:srgbClr val="0E9AA7"/>
                </a:solidFill>
              </a:rPr>
              <a:t>ngắn</a:t>
            </a:r>
            <a:r>
              <a:rPr sz="1200" b="1" dirty="0">
                <a:solidFill>
                  <a:srgbClr val="0E9AA7"/>
                </a:solidFill>
              </a:rPr>
              <a:t>; </a:t>
            </a:r>
            <a:r>
              <a:rPr sz="1200" b="1" dirty="0" err="1">
                <a:solidFill>
                  <a:srgbClr val="0E9AA7"/>
                </a:solidFill>
              </a:rPr>
              <a:t>loại</a:t>
            </a:r>
            <a:r>
              <a:rPr sz="1200" b="1" dirty="0">
                <a:solidFill>
                  <a:srgbClr val="0E9AA7"/>
                </a:solidFill>
              </a:rPr>
              <a:t> </a:t>
            </a:r>
            <a:r>
              <a:rPr sz="1200" b="1" dirty="0" err="1">
                <a:solidFill>
                  <a:srgbClr val="0E9AA7"/>
                </a:solidFill>
              </a:rPr>
              <a:t>bỏ</a:t>
            </a:r>
            <a:r>
              <a:rPr sz="1200" b="1" dirty="0">
                <a:solidFill>
                  <a:srgbClr val="0E9AA7"/>
                </a:solidFill>
              </a:rPr>
              <a:t> </a:t>
            </a:r>
            <a:r>
              <a:rPr sz="1200" b="1" dirty="0" err="1">
                <a:solidFill>
                  <a:srgbClr val="0E9AA7"/>
                </a:solidFill>
              </a:rPr>
              <a:t>nội</a:t>
            </a:r>
            <a:r>
              <a:rPr sz="1200" b="1" dirty="0">
                <a:solidFill>
                  <a:srgbClr val="0E9AA7"/>
                </a:solidFill>
              </a:rPr>
              <a:t> dung </a:t>
            </a:r>
            <a:r>
              <a:rPr sz="1200" b="1" dirty="0" err="1">
                <a:solidFill>
                  <a:srgbClr val="0E9AA7"/>
                </a:solidFill>
              </a:rPr>
              <a:t>trùng</a:t>
            </a:r>
            <a:r>
              <a:rPr sz="1200" b="1" dirty="0">
                <a:solidFill>
                  <a:srgbClr val="0E9AA7"/>
                </a:solidFill>
              </a:rPr>
              <a:t> </a:t>
            </a:r>
            <a:r>
              <a:rPr sz="1200" b="1" dirty="0" err="1">
                <a:solidFill>
                  <a:srgbClr val="0E9AA7"/>
                </a:solidFill>
              </a:rPr>
              <a:t>lặp</a:t>
            </a:r>
            <a:r>
              <a:rPr lang="en-US" sz="1200" b="1" dirty="0">
                <a:solidFill>
                  <a:srgbClr val="0E9AA7"/>
                </a:solidFill>
              </a:rPr>
              <a:t>; </a:t>
            </a:r>
            <a:r>
              <a:rPr lang="en-US" sz="1200" b="1" dirty="0" err="1">
                <a:solidFill>
                  <a:srgbClr val="0E9AA7"/>
                </a:solidFill>
              </a:rPr>
              <a:t>sử</a:t>
            </a:r>
            <a:r>
              <a:rPr lang="en-US" sz="1200" b="1" dirty="0">
                <a:solidFill>
                  <a:srgbClr val="0E9AA7"/>
                </a:solidFill>
              </a:rPr>
              <a:t> </a:t>
            </a:r>
            <a:r>
              <a:rPr lang="en-US" sz="1200" b="1" dirty="0" err="1">
                <a:solidFill>
                  <a:srgbClr val="0E9AA7"/>
                </a:solidFill>
              </a:rPr>
              <a:t>dụng</a:t>
            </a:r>
            <a:r>
              <a:rPr lang="en-US" sz="1200" b="1" dirty="0">
                <a:solidFill>
                  <a:srgbClr val="0E9AA7"/>
                </a:solidFill>
              </a:rPr>
              <a:t> </a:t>
            </a:r>
            <a:r>
              <a:rPr lang="en-US" sz="1200" b="1" dirty="0" err="1">
                <a:solidFill>
                  <a:srgbClr val="0E9AA7"/>
                </a:solidFill>
              </a:rPr>
              <a:t>đường</a:t>
            </a:r>
            <a:r>
              <a:rPr lang="en-US" sz="1200" b="1" dirty="0">
                <a:solidFill>
                  <a:srgbClr val="0E9AA7"/>
                </a:solidFill>
              </a:rPr>
              <a:t> </a:t>
            </a:r>
            <a:r>
              <a:rPr lang="en-US" sz="1200" b="1" dirty="0" err="1">
                <a:solidFill>
                  <a:srgbClr val="0E9AA7"/>
                </a:solidFill>
              </a:rPr>
              <a:t>dẫn</a:t>
            </a:r>
            <a:r>
              <a:rPr lang="en-US" sz="1200" b="1" dirty="0">
                <a:solidFill>
                  <a:srgbClr val="0E9AA7"/>
                </a:solidFill>
              </a:rPr>
              <a:t> </a:t>
            </a:r>
            <a:r>
              <a:rPr lang="en-US" sz="1200" b="1" dirty="0" err="1">
                <a:solidFill>
                  <a:srgbClr val="0E9AA7"/>
                </a:solidFill>
              </a:rPr>
              <a:t>tới</a:t>
            </a:r>
            <a:r>
              <a:rPr lang="en-US" sz="1200" b="1" dirty="0">
                <a:solidFill>
                  <a:srgbClr val="0E9AA7"/>
                </a:solidFill>
              </a:rPr>
              <a:t> tài </a:t>
            </a:r>
            <a:r>
              <a:rPr lang="en-US" sz="1200" b="1" dirty="0" err="1">
                <a:solidFill>
                  <a:srgbClr val="0E9AA7"/>
                </a:solidFill>
              </a:rPr>
              <a:t>liệu</a:t>
            </a:r>
            <a:r>
              <a:rPr lang="en-US" sz="1200" b="1" dirty="0">
                <a:solidFill>
                  <a:srgbClr val="0E9AA7"/>
                </a:solidFill>
              </a:rPr>
              <a:t> chi </a:t>
            </a:r>
            <a:r>
              <a:rPr lang="en-US" sz="1200" b="1" dirty="0" err="1">
                <a:solidFill>
                  <a:srgbClr val="0E9AA7"/>
                </a:solidFill>
              </a:rPr>
              <a:t>tiết</a:t>
            </a:r>
            <a:r>
              <a:rPr sz="1200" b="1" dirty="0">
                <a:solidFill>
                  <a:srgbClr val="0E9AA7"/>
                </a:solidFill>
              </a:rPr>
              <a:t>.</a:t>
            </a:r>
          </a:p>
        </p:txBody>
      </p:sp>
      <p:sp>
        <p:nvSpPr>
          <p:cNvPr id="75" name="Straight Connector 74">
            <a:extLst>
              <a:ext uri="{FF2B5EF4-FFF2-40B4-BE49-F238E27FC236}">
                <a16:creationId xmlns:a16="http://schemas.microsoft.com/office/drawing/2014/main" id="{A81EF618-3784-4E32-A61B-0E6FA6211F88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6D0E7A-20A8-496C-9EEA-0426DCD291D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HARNESS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DACB848-ED79-4468-BBE3-D09FD3D8D3D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b="0" dirty="0">
                <a:solidFill>
                  <a:srgbClr val="64748B"/>
                </a:solidFill>
              </a:rPr>
              <a:t>19</a:t>
            </a:r>
            <a:r>
              <a:rPr sz="900" b="0" dirty="0">
                <a:solidFill>
                  <a:srgbClr val="64748B"/>
                </a:solidFill>
              </a:rPr>
              <a:t> / </a:t>
            </a:r>
            <a:r>
              <a:rPr lang="en-US" sz="900" b="0" dirty="0">
                <a:solidFill>
                  <a:srgbClr val="64748B"/>
                </a:solidFill>
              </a:rPr>
              <a:t>21</a:t>
            </a:r>
            <a:endParaRPr sz="900" b="0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4219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D25BC2C-9A6E-4046-8B9C-77355DA9F91F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0E9AA7"/>
                </a:solidFill>
              </a:defRPr>
            </a:pPr>
            <a:r>
              <a:rPr sz="1050" b="1">
                <a:solidFill>
                  <a:srgbClr val="0E9AA7"/>
                </a:solidFill>
              </a:rPr>
              <a:t>CHECKLIST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15C267-4C94-4411-9A86-1CAAE114C400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1">
                <a:solidFill>
                  <a:srgbClr val="101827"/>
                </a:solidFill>
              </a:defRPr>
            </a:pPr>
            <a:r>
              <a:rPr sz="2250" b="1">
                <a:solidFill>
                  <a:srgbClr val="101827"/>
                </a:solidFill>
              </a:rPr>
              <a:t>Checklist 3 — Chọn tool theo vấn đề cần giải quyết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ADF1136-0121-43BE-BF20-6B5D6F8F33EA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1123C4-7C65-43E8-938B-576BCF0002FF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6111" lnSpcReduction="1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900" b="1" dirty="0">
                <a:solidFill>
                  <a:srgbClr val="64748B"/>
                </a:solidFill>
              </a:rPr>
              <a:t>20</a:t>
            </a:r>
            <a:endParaRPr sz="900" b="1" dirty="0">
              <a:solidFill>
                <a:srgbClr val="64748B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4184F1D-2A1B-4547-B526-87B8E569C43C}"/>
              </a:ext>
            </a:extLst>
          </p:cNvPr>
          <p:cNvSpPr>
            <a:spLocks noGrp="1"/>
          </p:cNvSpPr>
          <p:nvPr/>
        </p:nvSpPr>
        <p:spPr>
          <a:xfrm>
            <a:off x="495300" y="1190625"/>
            <a:ext cx="2476500" cy="304800"/>
          </a:xfrm>
          <a:prstGeom prst="roundRect">
            <a:avLst>
              <a:gd name="adj" fmla="val 25000"/>
            </a:avLst>
          </a:prstGeom>
          <a:solidFill>
            <a:srgbClr val="EEE9FF"/>
          </a:solidFill>
          <a:ln w="9525">
            <a:solidFill>
              <a:srgbClr val="3341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716D88-7160-467C-9561-56693615155E}"/>
              </a:ext>
            </a:extLst>
          </p:cNvPr>
          <p:cNvSpPr>
            <a:spLocks noGrp="1"/>
          </p:cNvSpPr>
          <p:nvPr/>
        </p:nvSpPr>
        <p:spPr>
          <a:xfrm>
            <a:off x="590550" y="1209675"/>
            <a:ext cx="2286000" cy="266700"/>
          </a:xfrm>
          <a:prstGeom prst="rect">
            <a:avLst/>
          </a:prstGeom>
        </p:spPr>
        <p:txBody>
          <a:bodyPr anchor="ctr">
            <a:normAutofit fontScale="95833"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334155"/>
                </a:solidFill>
              </a:defRPr>
            </a:pPr>
            <a:r>
              <a:rPr sz="1200" b="1">
                <a:solidFill>
                  <a:srgbClr val="334155"/>
                </a:solidFill>
              </a:rPr>
              <a:t>TOOLS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D32BEF-B9C0-4A78-AF37-9A90C0835999}"/>
              </a:ext>
            </a:extLst>
          </p:cNvPr>
          <p:cNvSpPr>
            <a:spLocks noGrp="1"/>
          </p:cNvSpPr>
          <p:nvPr/>
        </p:nvSpPr>
        <p:spPr>
          <a:xfrm>
            <a:off x="495300" y="1580196"/>
            <a:ext cx="2552700" cy="2077403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E3CD7D-9EF6-4A72-93E6-5D2D3D412ECE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PONYTAIL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44032A-0E08-4C2B-B782-2ABADB818133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Vấn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đề</a:t>
            </a:r>
            <a:r>
              <a:rPr sz="1013" b="1" dirty="0">
                <a:solidFill>
                  <a:srgbClr val="334155"/>
                </a:solidFill>
              </a:rPr>
              <a:t>: agent </a:t>
            </a:r>
            <a:r>
              <a:rPr sz="1013" b="1" dirty="0" err="1">
                <a:solidFill>
                  <a:srgbClr val="334155"/>
                </a:solidFill>
              </a:rPr>
              <a:t>tạo</a:t>
            </a:r>
            <a:r>
              <a:rPr sz="1013" b="1" dirty="0">
                <a:solidFill>
                  <a:srgbClr val="334155"/>
                </a:solidFill>
              </a:rPr>
              <a:t> code, abstraction </a:t>
            </a:r>
            <a:r>
              <a:rPr sz="1013" b="1" dirty="0" err="1">
                <a:solidFill>
                  <a:srgbClr val="334155"/>
                </a:solidFill>
              </a:rPr>
              <a:t>hoặc</a:t>
            </a:r>
            <a:r>
              <a:rPr sz="1013" b="1" dirty="0">
                <a:solidFill>
                  <a:srgbClr val="334155"/>
                </a:solidFill>
              </a:rPr>
              <a:t> scaffolding </a:t>
            </a:r>
            <a:r>
              <a:rPr sz="1013" b="1" dirty="0" err="1">
                <a:solidFill>
                  <a:srgbClr val="334155"/>
                </a:solidFill>
              </a:rPr>
              <a:t>ngoài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phạm</a:t>
            </a:r>
            <a:r>
              <a:rPr sz="1013" b="1" dirty="0">
                <a:solidFill>
                  <a:srgbClr val="334155"/>
                </a:solidFill>
              </a:rPr>
              <a:t> vi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Nên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cân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nhắc</a:t>
            </a:r>
            <a:r>
              <a:rPr sz="1013" b="1" dirty="0">
                <a:solidFill>
                  <a:srgbClr val="334155"/>
                </a:solidFill>
              </a:rPr>
              <a:t>: task feature, agent </a:t>
            </a:r>
            <a:r>
              <a:rPr sz="1013" b="1" dirty="0" err="1">
                <a:solidFill>
                  <a:srgbClr val="334155"/>
                </a:solidFill>
              </a:rPr>
              <a:t>tự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chọn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pháp</a:t>
            </a:r>
            <a:endParaRPr sz="1013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Không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phù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hợp</a:t>
            </a:r>
            <a:r>
              <a:rPr sz="1013" b="1" dirty="0">
                <a:solidFill>
                  <a:srgbClr val="334155"/>
                </a:solidFill>
              </a:rPr>
              <a:t>: bugfix </a:t>
            </a:r>
            <a:r>
              <a:rPr sz="1013" b="1" dirty="0" err="1">
                <a:solidFill>
                  <a:srgbClr val="334155"/>
                </a:solidFill>
              </a:rPr>
              <a:t>hẹp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hoặc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pháp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đã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tối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giản</a:t>
            </a:r>
            <a:endParaRPr sz="1013" b="1" dirty="0">
              <a:solidFill>
                <a:srgbClr val="334155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476139-C092-413F-8FC9-575CC7EBB138}"/>
              </a:ext>
            </a:extLst>
          </p:cNvPr>
          <p:cNvSpPr>
            <a:spLocks noGrp="1"/>
          </p:cNvSpPr>
          <p:nvPr/>
        </p:nvSpPr>
        <p:spPr>
          <a:xfrm>
            <a:off x="3295650" y="1580196"/>
            <a:ext cx="2552700" cy="2077404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7E2782-5880-44EE-A3DF-5A09A735A044}"/>
              </a:ext>
            </a:extLst>
          </p:cNvPr>
          <p:cNvSpPr>
            <a:spLocks noGrp="1"/>
          </p:cNvSpPr>
          <p:nvPr/>
        </p:nvSpPr>
        <p:spPr>
          <a:xfrm>
            <a:off x="346710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D97706"/>
                </a:solidFill>
              </a:defRPr>
            </a:pPr>
            <a:r>
              <a:rPr sz="1275" b="1">
                <a:solidFill>
                  <a:srgbClr val="D97706"/>
                </a:solidFill>
              </a:rPr>
              <a:t>CAVEMAN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244009-458A-4622-B7F1-484E6ED7D01B}"/>
              </a:ext>
            </a:extLst>
          </p:cNvPr>
          <p:cNvSpPr>
            <a:spLocks noGrp="1"/>
          </p:cNvSpPr>
          <p:nvPr/>
        </p:nvSpPr>
        <p:spPr>
          <a:xfrm>
            <a:off x="346710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Vấn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đề</a:t>
            </a:r>
            <a:r>
              <a:rPr sz="1013" b="1" dirty="0">
                <a:solidFill>
                  <a:srgbClr val="334155"/>
                </a:solidFill>
              </a:rPr>
              <a:t>: </a:t>
            </a:r>
            <a:r>
              <a:rPr sz="1013" b="1" dirty="0" err="1">
                <a:solidFill>
                  <a:srgbClr val="334155"/>
                </a:solidFill>
              </a:rPr>
              <a:t>câu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trả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lời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dài</a:t>
            </a:r>
            <a:r>
              <a:rPr sz="1013" b="1" dirty="0">
                <a:solidFill>
                  <a:srgbClr val="334155"/>
                </a:solidFill>
              </a:rPr>
              <a:t>, </a:t>
            </a:r>
            <a:r>
              <a:rPr sz="1013" b="1" dirty="0" err="1">
                <a:solidFill>
                  <a:srgbClr val="334155"/>
                </a:solidFill>
              </a:rPr>
              <a:t>nhiều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mở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bài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hoặc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tóm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tắt</a:t>
            </a:r>
            <a:endParaRPr sz="1013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Nên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cân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nhắc</a:t>
            </a:r>
            <a:r>
              <a:rPr sz="1013" b="1" dirty="0">
                <a:solidFill>
                  <a:srgbClr val="334155"/>
                </a:solidFill>
              </a:rPr>
              <a:t>: harness </a:t>
            </a:r>
            <a:r>
              <a:rPr sz="1013" b="1" dirty="0" err="1">
                <a:solidFill>
                  <a:srgbClr val="334155"/>
                </a:solidFill>
              </a:rPr>
              <a:t>thiếu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kiểm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soát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độ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dài</a:t>
            </a:r>
            <a:endParaRPr sz="1013" b="1" dirty="0">
              <a:solidFill>
                <a:srgbClr val="334155"/>
              </a:solidFill>
            </a:endParaRP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 dirty="0" err="1">
                <a:solidFill>
                  <a:srgbClr val="334155"/>
                </a:solidFill>
              </a:rPr>
              <a:t>Không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phù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hợp</a:t>
            </a:r>
            <a:r>
              <a:rPr sz="1013" b="1" dirty="0">
                <a:solidFill>
                  <a:srgbClr val="334155"/>
                </a:solidFill>
              </a:rPr>
              <a:t>: tài </a:t>
            </a:r>
            <a:r>
              <a:rPr sz="1013" b="1" dirty="0" err="1">
                <a:solidFill>
                  <a:srgbClr val="334155"/>
                </a:solidFill>
              </a:rPr>
              <a:t>liệu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hoặc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giải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thích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dành</a:t>
            </a:r>
            <a:r>
              <a:rPr sz="1013" b="1" dirty="0">
                <a:solidFill>
                  <a:srgbClr val="334155"/>
                </a:solidFill>
              </a:rPr>
              <a:t> </a:t>
            </a:r>
            <a:r>
              <a:rPr sz="1013" b="1" dirty="0" err="1">
                <a:solidFill>
                  <a:srgbClr val="334155"/>
                </a:solidFill>
              </a:rPr>
              <a:t>cho</a:t>
            </a:r>
            <a:r>
              <a:rPr sz="1013" b="1" dirty="0">
                <a:solidFill>
                  <a:srgbClr val="334155"/>
                </a:solidFill>
              </a:rPr>
              <a:t> con người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6CF4066-05F1-40BE-8E64-05FDFA81231D}"/>
              </a:ext>
            </a:extLst>
          </p:cNvPr>
          <p:cNvSpPr>
            <a:spLocks noGrp="1"/>
          </p:cNvSpPr>
          <p:nvPr/>
        </p:nvSpPr>
        <p:spPr>
          <a:xfrm>
            <a:off x="6096000" y="1580194"/>
            <a:ext cx="2552700" cy="2077405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6246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1F42AB-2DD4-4399-B059-61E4ED0A9838}"/>
              </a:ext>
            </a:extLst>
          </p:cNvPr>
          <p:cNvSpPr>
            <a:spLocks noGrp="1"/>
          </p:cNvSpPr>
          <p:nvPr/>
        </p:nvSpPr>
        <p:spPr>
          <a:xfrm>
            <a:off x="626745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6246B5"/>
                </a:solidFill>
              </a:defRPr>
            </a:pPr>
            <a:r>
              <a:rPr sz="1275" b="1">
                <a:solidFill>
                  <a:srgbClr val="6246B5"/>
                </a:solidFill>
              </a:rPr>
              <a:t>CODEGRAPH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846FF6-8D19-4C18-9D7D-537EAF4E99F2}"/>
              </a:ext>
            </a:extLst>
          </p:cNvPr>
          <p:cNvSpPr>
            <a:spLocks noGrp="1"/>
          </p:cNvSpPr>
          <p:nvPr/>
        </p:nvSpPr>
        <p:spPr>
          <a:xfrm>
            <a:off x="626745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agent liên tục search và đọc file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repo lớn, cần caller, flow hoặc impact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repo nhỏ hoặc code động/reflection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5A999F-3E05-4065-A808-FF1CAC70F78D}"/>
              </a:ext>
            </a:extLst>
          </p:cNvPr>
          <p:cNvSpPr>
            <a:spLocks noGrp="1"/>
          </p:cNvSpPr>
          <p:nvPr/>
        </p:nvSpPr>
        <p:spPr>
          <a:xfrm>
            <a:off x="8896350" y="1580194"/>
            <a:ext cx="2552700" cy="2077406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7145">
            <a:solidFill>
              <a:srgbClr val="0E9AA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6D391F-5DC7-4266-B71D-9EB8D668FF9B}"/>
              </a:ext>
            </a:extLst>
          </p:cNvPr>
          <p:cNvSpPr>
            <a:spLocks noGrp="1"/>
          </p:cNvSpPr>
          <p:nvPr/>
        </p:nvSpPr>
        <p:spPr>
          <a:xfrm>
            <a:off x="9067800" y="1619250"/>
            <a:ext cx="2209800" cy="323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0E9AA7"/>
                </a:solidFill>
              </a:defRPr>
            </a:pPr>
            <a:r>
              <a:rPr sz="1275" b="1">
                <a:solidFill>
                  <a:srgbClr val="0E9AA7"/>
                </a:solidFill>
              </a:rPr>
              <a:t>RTK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6D934B-B8B2-4E28-BF51-D930DED9D240}"/>
              </a:ext>
            </a:extLst>
          </p:cNvPr>
          <p:cNvSpPr>
            <a:spLocks noGrp="1"/>
          </p:cNvSpPr>
          <p:nvPr/>
        </p:nvSpPr>
        <p:spPr>
          <a:xfrm>
            <a:off x="9067800" y="2000250"/>
            <a:ext cx="2209800" cy="14668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Vấn đề: build, test hoặc linter log quá lớn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Nên cân nhắc: harness đưa raw shell output vào context</a:t>
            </a:r>
          </a:p>
          <a:p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</a:defRPr>
            </a:pPr>
            <a:r>
              <a:rPr sz="1013" b="1">
                <a:solidFill>
                  <a:srgbClr val="334155"/>
                </a:solidFill>
              </a:rPr>
              <a:t>Không phù hợp: harness đã có trần output phù hợp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8FDFE9B-870A-47A2-9840-08306AEBAB64}"/>
              </a:ext>
            </a:extLst>
          </p:cNvPr>
          <p:cNvSpPr>
            <a:spLocks noGrp="1"/>
          </p:cNvSpPr>
          <p:nvPr/>
        </p:nvSpPr>
        <p:spPr>
          <a:xfrm>
            <a:off x="495300" y="3857625"/>
            <a:ext cx="11201400" cy="1809750"/>
          </a:xfrm>
          <a:prstGeom prst="roundRect">
            <a:avLst>
              <a:gd name="adj" fmla="val 6250"/>
            </a:avLst>
          </a:prstGeom>
          <a:solidFill>
            <a:srgbClr val="FFF2D8"/>
          </a:solidFill>
          <a:ln w="14288">
            <a:solidFill>
              <a:srgbClr val="F0C47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95F6D8-4012-4F4F-9546-300277F4127D}"/>
              </a:ext>
            </a:extLst>
          </p:cNvPr>
          <p:cNvSpPr>
            <a:spLocks noGrp="1"/>
          </p:cNvSpPr>
          <p:nvPr/>
        </p:nvSpPr>
        <p:spPr>
          <a:xfrm>
            <a:off x="66675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D97706"/>
                </a:solidFill>
              </a:rPr>
              <a:t>CLAUDE CODE</a:t>
            </a:r>
          </a:p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sz="1013" b="1" dirty="0">
                <a:solidFill>
                  <a:schemeClr val="accent6"/>
                </a:solidFill>
              </a:rPr>
              <a:t>✓</a:t>
            </a:r>
          </a:p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sz="1013" b="1" dirty="0">
                <a:solidFill>
                  <a:schemeClr val="accent6"/>
                </a:solidFill>
              </a:rPr>
              <a:t>repo </a:t>
            </a:r>
            <a:r>
              <a:rPr sz="1013" b="1" dirty="0" err="1">
                <a:solidFill>
                  <a:schemeClr val="accent6"/>
                </a:solidFill>
              </a:rPr>
              <a:t>lớn</a:t>
            </a:r>
            <a:endParaRPr sz="1013" b="1" dirty="0">
              <a:solidFill>
                <a:schemeClr val="accent6"/>
              </a:solidFill>
            </a:endParaRPr>
          </a:p>
          <a:p>
            <a:pPr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lang="en-US" sz="1013" b="1" dirty="0">
                <a:solidFill>
                  <a:schemeClr val="accent6"/>
                </a:solidFill>
              </a:rPr>
              <a:t>✓</a:t>
            </a:r>
            <a:endParaRPr sz="1013" b="1" dirty="0">
              <a:solidFill>
                <a:srgbClr val="101827"/>
              </a:solidFill>
            </a:endParaRPr>
          </a:p>
          <a:p>
            <a:pPr algn="l">
              <a:lnSpc>
                <a:spcPct val="100000"/>
              </a:lnSpc>
              <a:buNone/>
              <a:defRPr sz="1575" b="1">
                <a:solidFill>
                  <a:srgbClr val="D97706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sz="1013" b="1" dirty="0" err="1">
                <a:solidFill>
                  <a:srgbClr val="C00000"/>
                </a:solidFill>
              </a:rPr>
              <a:t>không</a:t>
            </a:r>
            <a:r>
              <a:rPr sz="1013" b="1" dirty="0">
                <a:solidFill>
                  <a:srgbClr val="C00000"/>
                </a:solidFill>
              </a:rPr>
              <a:t> </a:t>
            </a:r>
            <a:r>
              <a:rPr sz="1013" b="1" dirty="0" err="1">
                <a:solidFill>
                  <a:srgbClr val="C00000"/>
                </a:solidFill>
              </a:rPr>
              <a:t>khuyến</a:t>
            </a:r>
            <a:r>
              <a:rPr sz="1013" b="1" dirty="0">
                <a:solidFill>
                  <a:srgbClr val="C00000"/>
                </a:solidFill>
              </a:rPr>
              <a:t> </a:t>
            </a:r>
            <a:r>
              <a:rPr sz="1013" b="1" dirty="0" err="1">
                <a:solidFill>
                  <a:srgbClr val="C00000"/>
                </a:solidFill>
              </a:rPr>
              <a:t>nghị</a:t>
            </a:r>
            <a:endParaRPr sz="1013" b="1" dirty="0">
              <a:solidFill>
                <a:srgbClr val="C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3A4528-5CB0-4328-94D9-3621B8DF6F77}"/>
              </a:ext>
            </a:extLst>
          </p:cNvPr>
          <p:cNvSpPr>
            <a:spLocks noGrp="1"/>
          </p:cNvSpPr>
          <p:nvPr/>
        </p:nvSpPr>
        <p:spPr>
          <a:xfrm>
            <a:off x="342900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CODEX CLI</a:t>
            </a:r>
          </a:p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sz="1013" b="1" dirty="0" err="1">
                <a:solidFill>
                  <a:schemeClr val="accent2"/>
                </a:solidFill>
              </a:rPr>
              <a:t>cân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defRPr sz="1575" b="1">
                <a:solidFill>
                  <a:srgbClr val="D97706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lang="en-US" sz="1013" b="1" dirty="0">
                <a:solidFill>
                  <a:schemeClr val="accent6"/>
                </a:solidFill>
              </a:rPr>
              <a:t>repo </a:t>
            </a:r>
            <a:r>
              <a:rPr lang="en-US" sz="1013" b="1" dirty="0" err="1">
                <a:solidFill>
                  <a:schemeClr val="accent6"/>
                </a:solidFill>
              </a:rPr>
              <a:t>lớn</a:t>
            </a:r>
            <a:endParaRPr lang="en-US" sz="1013" b="1" dirty="0">
              <a:solidFill>
                <a:schemeClr val="accent6"/>
              </a:solidFill>
            </a:endParaRPr>
          </a:p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sz="1013" b="1" dirty="0">
                <a:solidFill>
                  <a:schemeClr val="accent2"/>
                </a:solidFill>
              </a:rPr>
              <a:t>dùng </a:t>
            </a:r>
            <a:r>
              <a:rPr sz="1013" b="1" dirty="0" err="1">
                <a:solidFill>
                  <a:schemeClr val="accent2"/>
                </a:solidFill>
              </a:rPr>
              <a:t>model_verbosity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500" b="1">
                <a:solidFill>
                  <a:srgbClr val="101827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C0FE30-7DA5-4056-B3AD-57C86B7E5575}"/>
              </a:ext>
            </a:extLst>
          </p:cNvPr>
          <p:cNvSpPr>
            <a:spLocks noGrp="1"/>
          </p:cNvSpPr>
          <p:nvPr/>
        </p:nvSpPr>
        <p:spPr>
          <a:xfrm>
            <a:off x="619125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C43C4E"/>
                </a:solidFill>
              </a:rPr>
              <a:t>GEMINI CLI</a:t>
            </a:r>
          </a:p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defRPr sz="1350" b="1">
                <a:solidFill>
                  <a:srgbClr val="C43C4E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lang="en-US" sz="1013" b="1" dirty="0">
                <a:solidFill>
                  <a:schemeClr val="accent6"/>
                </a:solidFill>
              </a:rPr>
              <a:t>repo </a:t>
            </a:r>
            <a:r>
              <a:rPr lang="en-US" sz="1013" b="1" dirty="0" err="1">
                <a:solidFill>
                  <a:schemeClr val="accent6"/>
                </a:solidFill>
              </a:rPr>
              <a:t>lớn</a:t>
            </a:r>
            <a:endParaRPr sz="1013" b="1" dirty="0">
              <a:solidFill>
                <a:srgbClr val="101827"/>
              </a:solidFill>
            </a:endParaRPr>
          </a:p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350" b="1">
                <a:solidFill>
                  <a:srgbClr val="C43C4E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2AA1697-5BB5-4AF9-A3FD-8919EC2896D4}"/>
              </a:ext>
            </a:extLst>
          </p:cNvPr>
          <p:cNvSpPr>
            <a:spLocks noGrp="1"/>
          </p:cNvSpPr>
          <p:nvPr/>
        </p:nvSpPr>
        <p:spPr>
          <a:xfrm>
            <a:off x="8953500" y="4095750"/>
            <a:ext cx="2476500" cy="14287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6246B5"/>
                </a:solidFill>
              </a:rPr>
              <a:t>CLINE</a:t>
            </a: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Ponytail: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 err="1">
                <a:solidFill>
                  <a:srgbClr val="101827"/>
                </a:solidFill>
              </a:rPr>
              <a:t>CodeGraph</a:t>
            </a:r>
            <a:r>
              <a:rPr sz="1013" b="1" dirty="0">
                <a:solidFill>
                  <a:srgbClr val="101827"/>
                </a:solidFill>
              </a:rPr>
              <a:t>: </a:t>
            </a:r>
            <a:r>
              <a:rPr sz="1013" b="1" dirty="0" err="1">
                <a:solidFill>
                  <a:schemeClr val="accent2"/>
                </a:solidFill>
              </a:rPr>
              <a:t>không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hỗ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trợ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trực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tiếp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Caveman: </a:t>
            </a:r>
            <a:r>
              <a:rPr lang="en-US" sz="1013" b="1" dirty="0" err="1">
                <a:solidFill>
                  <a:schemeClr val="accent2"/>
                </a:solidFill>
              </a:rPr>
              <a:t>cân</a:t>
            </a:r>
            <a:r>
              <a:rPr lang="en-US" sz="1013" b="1" dirty="0">
                <a:solidFill>
                  <a:schemeClr val="accent2"/>
                </a:solidFill>
              </a:rPr>
              <a:t> </a:t>
            </a:r>
            <a:r>
              <a:rPr lang="en-US" sz="1013" b="1" dirty="0" err="1">
                <a:solidFill>
                  <a:schemeClr val="accent2"/>
                </a:solidFill>
              </a:rPr>
              <a:t>nhắc</a:t>
            </a:r>
            <a:endParaRPr sz="1013" b="1" dirty="0">
              <a:solidFill>
                <a:schemeClr val="accent2"/>
              </a:solidFill>
            </a:endParaRPr>
          </a:p>
          <a:p>
            <a:pPr>
              <a:lnSpc>
                <a:spcPct val="100000"/>
              </a:lnSpc>
              <a:buNone/>
              <a:defRPr sz="1650" b="1">
                <a:solidFill>
                  <a:srgbClr val="6246B5"/>
                </a:solidFill>
              </a:defRPr>
            </a:pPr>
            <a:r>
              <a:rPr sz="1013" b="1" dirty="0">
                <a:solidFill>
                  <a:srgbClr val="101827"/>
                </a:solidFill>
              </a:rPr>
              <a:t>RTK: </a:t>
            </a:r>
            <a:r>
              <a:rPr sz="1013" b="1" dirty="0" err="1">
                <a:solidFill>
                  <a:schemeClr val="accent2"/>
                </a:solidFill>
              </a:rPr>
              <a:t>cân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nhắc</a:t>
            </a:r>
            <a:r>
              <a:rPr sz="1013" b="1" dirty="0">
                <a:solidFill>
                  <a:schemeClr val="accent2"/>
                </a:solidFill>
              </a:rPr>
              <a:t> </a:t>
            </a:r>
            <a:r>
              <a:rPr sz="1013" b="1" dirty="0" err="1">
                <a:solidFill>
                  <a:schemeClr val="accent2"/>
                </a:solidFill>
              </a:rPr>
              <a:t>khi</a:t>
            </a:r>
            <a:r>
              <a:rPr sz="1013" b="1" dirty="0">
                <a:solidFill>
                  <a:schemeClr val="accent2"/>
                </a:solidFill>
              </a:rPr>
              <a:t> shell output </a:t>
            </a:r>
            <a:r>
              <a:rPr sz="1013" b="1" dirty="0" err="1">
                <a:solidFill>
                  <a:schemeClr val="accent2"/>
                </a:solidFill>
              </a:rPr>
              <a:t>lớn</a:t>
            </a:r>
            <a:endParaRPr sz="1013" b="1" dirty="0">
              <a:solidFill>
                <a:schemeClr val="accent2"/>
              </a:solidFill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DE6F63A6-B4AA-4D11-B8D3-E99A8BEF0133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5B27DB-14ED-4DF2-99E1-2AAB8C5392F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l">
              <a:lnSpc>
                <a:spcPct val="100000"/>
              </a:lnSpc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CHECKLIST · TOOLS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1C19A2-0AF8-48EC-AC78-EF3DAB469552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b="0" dirty="0">
                <a:solidFill>
                  <a:srgbClr val="64748B"/>
                </a:solidFill>
              </a:rPr>
              <a:t>20</a:t>
            </a:r>
            <a:r>
              <a:rPr sz="900" b="0" dirty="0">
                <a:solidFill>
                  <a:srgbClr val="64748B"/>
                </a:solidFill>
              </a:rPr>
              <a:t> / 2</a:t>
            </a:r>
            <a:r>
              <a:rPr lang="en-US" sz="900" b="0" dirty="0">
                <a:solidFill>
                  <a:srgbClr val="64748B"/>
                </a:solidFill>
              </a:rPr>
              <a:t>1</a:t>
            </a:r>
            <a:endParaRPr sz="900" b="0" dirty="0">
              <a:solidFill>
                <a:srgbClr val="64748B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79F5007-7E2F-73DB-BC9A-E7B27A693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135" y="1645443"/>
            <a:ext cx="520527" cy="595313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BD1DD0B-24BF-9C92-328E-3F26D64685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947" y="1633347"/>
            <a:ext cx="509778" cy="50977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B6AE41A-6E76-B706-7B15-408BE0990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85918" y="1644336"/>
            <a:ext cx="615157" cy="4878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3BD1E31-CB84-B95F-6EE6-E6D4444943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72" y="1623822"/>
            <a:ext cx="528828" cy="52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4212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770BA-F445-A689-76EC-DEC3F5F01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318AE2F2-7B1D-AD79-B711-A05DB0C88A89}"/>
              </a:ext>
            </a:extLst>
          </p:cNvPr>
          <p:cNvSpPr/>
          <p:nvPr/>
        </p:nvSpPr>
        <p:spPr>
          <a:xfrm>
            <a:off x="8918257" y="2934369"/>
            <a:ext cx="1022986" cy="913061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DD2206-9A82-9CE3-7B4F-6CE826355C98}"/>
              </a:ext>
            </a:extLst>
          </p:cNvPr>
          <p:cNvSpPr>
            <a:spLocks noGrp="1"/>
          </p:cNvSpPr>
          <p:nvPr/>
        </p:nvSpPr>
        <p:spPr>
          <a:xfrm>
            <a:off x="495300" y="171450"/>
            <a:ext cx="476250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>
              <a:defRPr sz="1050" b="1">
                <a:solidFill>
                  <a:srgbClr val="0E9AA7"/>
                </a:solidFill>
              </a:defRPr>
            </a:pPr>
            <a:r>
              <a:rPr lang="en-US" sz="1050" b="1" dirty="0">
                <a:solidFill>
                  <a:srgbClr val="0E9AA7"/>
                </a:solidFill>
              </a:rPr>
              <a:t>Q&amp;A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4ED07A-A7E6-6D41-B543-8731692D212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096625" cy="5334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>
              <a:defRPr sz="2775" b="1">
                <a:solidFill>
                  <a:srgbClr val="101827"/>
                </a:solidFill>
              </a:defRPr>
            </a:pPr>
            <a:r>
              <a:rPr lang="en-US" sz="2325" b="1" dirty="0" err="1">
                <a:solidFill>
                  <a:srgbClr val="101827"/>
                </a:solidFill>
              </a:rPr>
              <a:t>Bạn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muốn</a:t>
            </a:r>
            <a:r>
              <a:rPr lang="en-US" sz="2325" b="1" dirty="0">
                <a:solidFill>
                  <a:srgbClr val="101827"/>
                </a:solidFill>
              </a:rPr>
              <a:t> quay lại </a:t>
            </a:r>
            <a:r>
              <a:rPr lang="en-US" sz="2325" b="1" dirty="0" err="1">
                <a:solidFill>
                  <a:srgbClr val="101827"/>
                </a:solidFill>
              </a:rPr>
              <a:t>vị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trí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nào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trong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vòng</a:t>
            </a:r>
            <a:r>
              <a:rPr lang="en-US" sz="2325" b="1" dirty="0">
                <a:solidFill>
                  <a:srgbClr val="101827"/>
                </a:solidFill>
              </a:rPr>
              <a:t> </a:t>
            </a:r>
            <a:r>
              <a:rPr lang="en-US" sz="2325" b="1" dirty="0" err="1">
                <a:solidFill>
                  <a:srgbClr val="101827"/>
                </a:solidFill>
              </a:rPr>
              <a:t>đời</a:t>
            </a:r>
            <a:r>
              <a:rPr lang="en-US" sz="2325" b="1" dirty="0">
                <a:solidFill>
                  <a:srgbClr val="101827"/>
                </a:solidFill>
              </a:rPr>
              <a:t>?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58CC9EA-FE91-9338-1A7B-3CA711B3124C}"/>
              </a:ext>
            </a:extLst>
          </p:cNvPr>
          <p:cNvSpPr>
            <a:spLocks noGrp="1"/>
          </p:cNvSpPr>
          <p:nvPr/>
        </p:nvSpPr>
        <p:spPr>
          <a:xfrm>
            <a:off x="495300" y="1104900"/>
            <a:ext cx="11201400" cy="953"/>
          </a:xfrm>
          <a:prstGeom prst="line">
            <a:avLst/>
          </a:prstGeom>
          <a:ln w="9525">
            <a:solidFill>
              <a:srgbClr val="CBD5E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07D0A3-4672-0252-34C9-0BD5D1961677}"/>
              </a:ext>
            </a:extLst>
          </p:cNvPr>
          <p:cNvSpPr>
            <a:spLocks noGrp="1"/>
          </p:cNvSpPr>
          <p:nvPr/>
        </p:nvSpPr>
        <p:spPr>
          <a:xfrm>
            <a:off x="11334750" y="171450"/>
            <a:ext cx="361950" cy="209550"/>
          </a:xfrm>
          <a:prstGeom prst="rect">
            <a:avLst/>
          </a:prstGeom>
        </p:spPr>
        <p:txBody>
          <a:bodyPr anchor="t">
            <a:normAutofit fontScale="81309" lnSpcReduction="20000"/>
          </a:bodyPr>
          <a:lstStyle/>
          <a:p>
            <a:pPr algn="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</a:defRPr>
            </a:pPr>
            <a:r>
              <a:rPr lang="en-US" sz="1050" b="1" dirty="0">
                <a:solidFill>
                  <a:srgbClr val="64748B"/>
                </a:solidFill>
              </a:rPr>
              <a:t>21</a:t>
            </a:r>
            <a:endParaRPr sz="1050" b="1" dirty="0">
              <a:solidFill>
                <a:srgbClr val="64748B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D49E042-22B6-751F-6E99-70DDA8F5170D}"/>
              </a:ext>
            </a:extLst>
          </p:cNvPr>
          <p:cNvSpPr>
            <a:spLocks noGrp="1"/>
          </p:cNvSpPr>
          <p:nvPr/>
        </p:nvSpPr>
        <p:spPr>
          <a:xfrm>
            <a:off x="361950" y="2838450"/>
            <a:ext cx="1104900" cy="1104900"/>
          </a:xfrm>
          <a:prstGeom prst="ellipse">
            <a:avLst/>
          </a:prstGeom>
          <a:solidFill>
            <a:srgbClr val="E9F1FF"/>
          </a:solidFill>
          <a:ln w="19050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AA72CF-72DD-A644-6276-51C38340E64D}"/>
              </a:ext>
            </a:extLst>
          </p:cNvPr>
          <p:cNvSpPr>
            <a:spLocks noGrp="1"/>
          </p:cNvSpPr>
          <p:nvPr/>
        </p:nvSpPr>
        <p:spPr>
          <a:xfrm>
            <a:off x="495300" y="3048000"/>
            <a:ext cx="838200" cy="62865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USER</a:t>
            </a:r>
          </a:p>
          <a:p>
            <a:pPr algn="ctr">
              <a:lnSpc>
                <a:spcPct val="100000"/>
              </a:lnSpc>
              <a:buNone/>
              <a:defRPr sz="1350" b="1">
                <a:solidFill>
                  <a:srgbClr val="2563EB"/>
                </a:solidFill>
              </a:defRPr>
            </a:pPr>
            <a:r>
              <a:rPr sz="1350" b="1" dirty="0">
                <a:solidFill>
                  <a:srgbClr val="2563EB"/>
                </a:solidFill>
                <a:hlinkClick r:id="rId3" action="ppaction://hlinksldjump"/>
              </a:rPr>
              <a:t>/ TASK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141225E-CA57-7F2D-90E4-97E2D85434C7}"/>
              </a:ext>
            </a:extLst>
          </p:cNvPr>
          <p:cNvSpPr>
            <a:spLocks noGrp="1"/>
          </p:cNvSpPr>
          <p:nvPr/>
        </p:nvSpPr>
        <p:spPr>
          <a:xfrm>
            <a:off x="2727960" y="2850833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0EA003-EA4A-07A5-4218-FAB8BC2ACF14}"/>
              </a:ext>
            </a:extLst>
          </p:cNvPr>
          <p:cNvSpPr>
            <a:spLocks noGrp="1"/>
          </p:cNvSpPr>
          <p:nvPr/>
        </p:nvSpPr>
        <p:spPr>
          <a:xfrm>
            <a:off x="2842260" y="2984182"/>
            <a:ext cx="1581150" cy="495299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sz="1400" b="1" dirty="0">
                <a:solidFill>
                  <a:srgbClr val="101827"/>
                </a:solidFill>
                <a:hlinkClick r:id="rId4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4" action="ppaction://hlinksldjump"/>
              </a:rPr>
              <a:t>tạo</a:t>
            </a:r>
            <a:r>
              <a:rPr lang="en-US" sz="1400" b="1" dirty="0">
                <a:solidFill>
                  <a:srgbClr val="101827"/>
                </a:solidFill>
                <a:hlinkClick r:id="rId4" action="ppaction://hlinksldjump"/>
              </a:rPr>
              <a:t> payload</a:t>
            </a:r>
            <a:endParaRPr sz="1400" dirty="0">
              <a:solidFill>
                <a:srgbClr val="101827"/>
              </a:solidFill>
              <a:hlinkClick r:id="rId4" action="ppaction://hlinksldjump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06B7B1-DAC5-2AA8-0DE1-1741F68255FB}"/>
              </a:ext>
            </a:extLst>
          </p:cNvPr>
          <p:cNvSpPr>
            <a:spLocks noGrp="1"/>
          </p:cNvSpPr>
          <p:nvPr/>
        </p:nvSpPr>
        <p:spPr>
          <a:xfrm>
            <a:off x="2804159" y="3565208"/>
            <a:ext cx="1581150" cy="2095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instructions · tools · history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E62F127-54DC-3D7A-D91F-7F978A4978A1}"/>
              </a:ext>
            </a:extLst>
          </p:cNvPr>
          <p:cNvSpPr>
            <a:spLocks noGrp="1"/>
          </p:cNvSpPr>
          <p:nvPr/>
        </p:nvSpPr>
        <p:spPr>
          <a:xfrm>
            <a:off x="5876925" y="2857500"/>
            <a:ext cx="18097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6246B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5C28C1-C98F-3DB1-62BC-AD96FDA3228B}"/>
              </a:ext>
            </a:extLst>
          </p:cNvPr>
          <p:cNvSpPr>
            <a:spLocks noGrp="1"/>
          </p:cNvSpPr>
          <p:nvPr/>
        </p:nvSpPr>
        <p:spPr>
          <a:xfrm>
            <a:off x="5991225" y="2990850"/>
            <a:ext cx="1581150" cy="323850"/>
          </a:xfrm>
          <a:prstGeom prst="rect">
            <a:avLst/>
          </a:prstGeom>
        </p:spPr>
        <p:txBody>
          <a:bodyPr anchor="ctr">
            <a:normAutofit fontScale="99924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M</a:t>
            </a:r>
            <a:r>
              <a:rPr sz="1400" b="1" dirty="0">
                <a:solidFill>
                  <a:srgbClr val="101827"/>
                </a:solidFill>
                <a:hlinkClick r:id="rId5" action="ppaction://hlinksldjump"/>
              </a:rPr>
              <a:t>odel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5" action="ppaction://hlinksldjump"/>
              </a:rPr>
              <a:t>xử</a:t>
            </a:r>
            <a:r>
              <a:rPr lang="en-US" sz="1400" b="1" dirty="0">
                <a:solidFill>
                  <a:srgbClr val="101827"/>
                </a:solidFill>
                <a:hlinkClick r:id="rId5" action="ppaction://hlinksldjump"/>
              </a:rPr>
              <a:t> lý</a:t>
            </a:r>
            <a:endParaRPr sz="1400" b="1" dirty="0">
              <a:solidFill>
                <a:srgbClr val="101827"/>
              </a:solidFill>
              <a:hlinkClick r:id="rId5" action="ppaction://hlinksldjump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6EA0A0A-903A-9C59-5FC0-662DDBDF942E}"/>
              </a:ext>
            </a:extLst>
          </p:cNvPr>
          <p:cNvSpPr>
            <a:spLocks noGrp="1"/>
          </p:cNvSpPr>
          <p:nvPr/>
        </p:nvSpPr>
        <p:spPr>
          <a:xfrm>
            <a:off x="6093857" y="3524249"/>
            <a:ext cx="1391127" cy="24384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 err="1">
                <a:solidFill>
                  <a:srgbClr val="64748B"/>
                </a:solidFill>
              </a:rPr>
              <a:t>phản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hồi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hoặc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yêu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cầu</a:t>
            </a:r>
            <a:r>
              <a:rPr sz="1000" b="0" dirty="0">
                <a:solidFill>
                  <a:srgbClr val="64748B"/>
                </a:solidFill>
              </a:rPr>
              <a:t> </a:t>
            </a:r>
            <a:r>
              <a:rPr sz="1000" b="0" dirty="0" err="1">
                <a:solidFill>
                  <a:srgbClr val="64748B"/>
                </a:solidFill>
              </a:rPr>
              <a:t>gọi</a:t>
            </a:r>
            <a:r>
              <a:rPr sz="1000" b="0" dirty="0">
                <a:solidFill>
                  <a:srgbClr val="64748B"/>
                </a:solidFill>
              </a:rPr>
              <a:t> tool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AE3A33-70B0-29C8-457E-38B6F57B756B}"/>
              </a:ext>
            </a:extLst>
          </p:cNvPr>
          <p:cNvSpPr>
            <a:spLocks noGrp="1"/>
          </p:cNvSpPr>
          <p:nvPr/>
        </p:nvSpPr>
        <p:spPr>
          <a:xfrm>
            <a:off x="8968502" y="3103796"/>
            <a:ext cx="984885" cy="611355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050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Trả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lời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hoặc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yêu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6" action="ppaction://hlinksldjump"/>
              </a:rPr>
              <a:t>cầu</a:t>
            </a:r>
            <a:r>
              <a:rPr lang="en-US" sz="1400" b="1" dirty="0">
                <a:solidFill>
                  <a:srgbClr val="101827"/>
                </a:solidFill>
                <a:hlinkClick r:id="rId6" action="ppaction://hlinksldjump"/>
              </a:rPr>
              <a:t> Tool?</a:t>
            </a:r>
            <a:endParaRPr sz="1400" b="1" dirty="0">
              <a:solidFill>
                <a:srgbClr val="101827"/>
              </a:solidFill>
              <a:hlinkClick r:id="rId6" action="ppaction://hlinksldjump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B4BB35B-09A6-2155-0B5E-522E9B008351}"/>
              </a:ext>
            </a:extLst>
          </p:cNvPr>
          <p:cNvSpPr>
            <a:spLocks noGrp="1"/>
          </p:cNvSpPr>
          <p:nvPr/>
        </p:nvSpPr>
        <p:spPr>
          <a:xfrm>
            <a:off x="5551170" y="4552949"/>
            <a:ext cx="2476500" cy="781050"/>
          </a:xfrm>
          <a:prstGeom prst="roundRect">
            <a:avLst>
              <a:gd name="adj" fmla="val 9756"/>
            </a:avLst>
          </a:prstGeom>
          <a:solidFill>
            <a:srgbClr val="E5F7F8"/>
          </a:solidFill>
          <a:ln w="19050">
            <a:solidFill>
              <a:srgbClr val="0E9AA7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BFB3966-7E41-4235-56EB-FB0E41CDA194}"/>
              </a:ext>
            </a:extLst>
          </p:cNvPr>
          <p:cNvSpPr>
            <a:spLocks noGrp="1"/>
          </p:cNvSpPr>
          <p:nvPr/>
        </p:nvSpPr>
        <p:spPr>
          <a:xfrm>
            <a:off x="5665470" y="4718684"/>
            <a:ext cx="2247900" cy="323850"/>
          </a:xfrm>
          <a:prstGeom prst="rect">
            <a:avLst/>
          </a:prstGeom>
        </p:spPr>
        <p:txBody>
          <a:bodyPr anchor="ctr">
            <a:normAutofit fontScale="96825"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01827"/>
                </a:solidFill>
              </a:defRPr>
            </a:pP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Harness </a:t>
            </a:r>
            <a:r>
              <a:rPr lang="en-US" sz="1400" b="1" dirty="0" err="1">
                <a:solidFill>
                  <a:srgbClr val="101827"/>
                </a:solidFill>
                <a:hlinkClick r:id="rId7" action="ppaction://hlinksldjump"/>
              </a:rPr>
              <a:t>điều</a:t>
            </a: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 </a:t>
            </a:r>
            <a:r>
              <a:rPr lang="en-US" sz="1400" b="1" dirty="0" err="1">
                <a:solidFill>
                  <a:srgbClr val="101827"/>
                </a:solidFill>
                <a:hlinkClick r:id="rId7" action="ppaction://hlinksldjump"/>
              </a:rPr>
              <a:t>phối</a:t>
            </a:r>
            <a:r>
              <a:rPr lang="en-US" sz="1400" b="1" dirty="0">
                <a:solidFill>
                  <a:srgbClr val="101827"/>
                </a:solidFill>
                <a:hlinkClick r:id="rId7" action="ppaction://hlinksldjump"/>
              </a:rPr>
              <a:t> tool</a:t>
            </a:r>
            <a:endParaRPr sz="1400" b="1" dirty="0">
              <a:solidFill>
                <a:srgbClr val="101827"/>
              </a:solidFill>
              <a:hlinkClick r:id="rId7" action="ppaction://hlinksldjump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6FFBA16-2880-FCB1-8960-58D2886FC68A}"/>
              </a:ext>
            </a:extLst>
          </p:cNvPr>
          <p:cNvSpPr>
            <a:spLocks noGrp="1"/>
          </p:cNvSpPr>
          <p:nvPr/>
        </p:nvSpPr>
        <p:spPr>
          <a:xfrm>
            <a:off x="5665470" y="5080634"/>
            <a:ext cx="2247900" cy="171450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algn="ctr">
              <a:lnSpc>
                <a:spcPct val="100000"/>
              </a:lnSpc>
              <a:buNone/>
              <a:defRPr sz="1050" b="0">
                <a:solidFill>
                  <a:srgbClr val="64748B"/>
                </a:solidFill>
              </a:defRPr>
            </a:pPr>
            <a:r>
              <a:rPr sz="1000" b="0" dirty="0">
                <a:solidFill>
                  <a:srgbClr val="64748B"/>
                </a:solidFill>
              </a:rPr>
              <a:t>file · code · API · test</a:t>
            </a:r>
          </a:p>
        </p:txBody>
      </p:sp>
      <p:sp>
        <p:nvSpPr>
          <p:cNvPr id="44" name="Straight Connector 43">
            <a:extLst>
              <a:ext uri="{FF2B5EF4-FFF2-40B4-BE49-F238E27FC236}">
                <a16:creationId xmlns:a16="http://schemas.microsoft.com/office/drawing/2014/main" id="{CE889774-40B2-5ED3-07AA-B154F8B4F26E}"/>
              </a:ext>
            </a:extLst>
          </p:cNvPr>
          <p:cNvSpPr>
            <a:spLocks noGrp="1"/>
          </p:cNvSpPr>
          <p:nvPr/>
        </p:nvSpPr>
        <p:spPr>
          <a:xfrm>
            <a:off x="495300" y="6496050"/>
            <a:ext cx="11201400" cy="953"/>
          </a:xfrm>
          <a:prstGeom prst="line">
            <a:avLst/>
          </a:prstGeom>
          <a:ln w="9525">
            <a:solidFill>
              <a:srgbClr val="E8EE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F10B4A1-ED54-234C-FDAC-BACB933A524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285750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rPr lang="en-US" sz="900" b="1" dirty="0">
                <a:solidFill>
                  <a:srgbClr val="64748B"/>
                </a:solidFill>
              </a:rPr>
              <a:t>Q&amp;A · CHỌN ĐỂ QUAY LẠI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F3FA40A-7D28-7FA7-C8DC-CF14582959C3}"/>
              </a:ext>
            </a:extLst>
          </p:cNvPr>
          <p:cNvSpPr>
            <a:spLocks noGrp="1"/>
          </p:cNvSpPr>
          <p:nvPr/>
        </p:nvSpPr>
        <p:spPr>
          <a:xfrm>
            <a:off x="10763250" y="6534150"/>
            <a:ext cx="933450" cy="171450"/>
          </a:xfrm>
          <a:prstGeom prst="rect">
            <a:avLst/>
          </a:prstGeom>
        </p:spPr>
        <p:txBody>
          <a:bodyPr anchor="ctr">
            <a:normAutofit fontScale="65833" lnSpcReduction="20000"/>
          </a:bodyPr>
          <a:lstStyle/>
          <a:p>
            <a:pPr algn="r">
              <a:lnSpc>
                <a:spcPct val="100000"/>
              </a:lnSpc>
              <a:buNone/>
              <a:defRPr sz="900" b="0">
                <a:solidFill>
                  <a:srgbClr val="64748B"/>
                </a:solidFill>
              </a:defRPr>
            </a:pPr>
            <a:r>
              <a:rPr lang="en-US" sz="900" dirty="0">
                <a:solidFill>
                  <a:srgbClr val="64748B"/>
                </a:solidFill>
              </a:rPr>
              <a:t>21 / 21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CB92ACD-27A0-A3F8-0B42-D22922CE009C}"/>
              </a:ext>
            </a:extLst>
          </p:cNvPr>
          <p:cNvCxnSpPr>
            <a:cxnSpLocks/>
            <a:stCxn id="22" idx="3"/>
            <a:endCxn id="58" idx="1"/>
          </p:cNvCxnSpPr>
          <p:nvPr/>
        </p:nvCxnSpPr>
        <p:spPr>
          <a:xfrm>
            <a:off x="7686675" y="3390900"/>
            <a:ext cx="12315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2DF5F52-84E5-E28C-D185-84824D5D5B35}"/>
              </a:ext>
            </a:extLst>
          </p:cNvPr>
          <p:cNvCxnSpPr>
            <a:cxnSpLocks/>
            <a:stCxn id="58" idx="3"/>
            <a:endCxn id="17" idx="0"/>
          </p:cNvCxnSpPr>
          <p:nvPr/>
        </p:nvCxnSpPr>
        <p:spPr>
          <a:xfrm flipH="1" flipV="1">
            <a:off x="914400" y="2838450"/>
            <a:ext cx="9026843" cy="552450"/>
          </a:xfrm>
          <a:prstGeom prst="bentConnector4">
            <a:avLst>
              <a:gd name="adj1" fmla="val -12155"/>
              <a:gd name="adj2" fmla="val 3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F815A2C3-75EA-C9D7-7544-553E0991B2F0}"/>
              </a:ext>
            </a:extLst>
          </p:cNvPr>
          <p:cNvCxnSpPr>
            <a:cxnSpLocks/>
            <a:stCxn id="32" idx="1"/>
            <a:endCxn id="19" idx="2"/>
          </p:cNvCxnSpPr>
          <p:nvPr/>
        </p:nvCxnSpPr>
        <p:spPr>
          <a:xfrm rot="10800000">
            <a:off x="3632836" y="3917634"/>
            <a:ext cx="1918335" cy="10258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A29341C-A385-C7C2-3A81-BAFDB15A2F9A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4537710" y="3384233"/>
            <a:ext cx="133921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A5A56E6-1708-7610-9F52-23C60272228F}"/>
              </a:ext>
            </a:extLst>
          </p:cNvPr>
          <p:cNvCxnSpPr>
            <a:cxnSpLocks/>
            <a:stCxn id="17" idx="6"/>
            <a:endCxn id="19" idx="1"/>
          </p:cNvCxnSpPr>
          <p:nvPr/>
        </p:nvCxnSpPr>
        <p:spPr>
          <a:xfrm flipV="1">
            <a:off x="1466850" y="3384233"/>
            <a:ext cx="1261110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ED8D480D-B466-582E-1EED-474FA8C53839}"/>
              </a:ext>
            </a:extLst>
          </p:cNvPr>
          <p:cNvCxnSpPr>
            <a:cxnSpLocks/>
            <a:stCxn id="58" idx="2"/>
            <a:endCxn id="32" idx="3"/>
          </p:cNvCxnSpPr>
          <p:nvPr/>
        </p:nvCxnSpPr>
        <p:spPr>
          <a:xfrm rot="5400000">
            <a:off x="8180688" y="3694412"/>
            <a:ext cx="1096044" cy="1402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11100D5-97A2-2CB4-91DA-284643115971}"/>
              </a:ext>
            </a:extLst>
          </p:cNvPr>
          <p:cNvSpPr txBox="1"/>
          <p:nvPr/>
        </p:nvSpPr>
        <p:spPr>
          <a:xfrm>
            <a:off x="1491138" y="306493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1. </a:t>
            </a:r>
            <a:r>
              <a:rPr lang="en-US" sz="1200" b="1" dirty="0" err="1"/>
              <a:t>Gửi</a:t>
            </a:r>
            <a:r>
              <a:rPr lang="en-US" sz="1200" b="1" dirty="0"/>
              <a:t>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endParaRPr lang="en-US" sz="1200" b="1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D0ED0A6-65BD-367B-6916-B67BF3270968}"/>
              </a:ext>
            </a:extLst>
          </p:cNvPr>
          <p:cNvSpPr txBox="1"/>
          <p:nvPr/>
        </p:nvSpPr>
        <p:spPr>
          <a:xfrm>
            <a:off x="4888706" y="1399400"/>
            <a:ext cx="2410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3.1. Trả </a:t>
            </a:r>
            <a:r>
              <a:rPr lang="en-US" sz="1200" b="1" dirty="0" err="1"/>
              <a:t>kết</a:t>
            </a:r>
            <a:r>
              <a:rPr lang="en-US" sz="1200" b="1" dirty="0"/>
              <a:t> </a:t>
            </a:r>
            <a:r>
              <a:rPr lang="en-US" sz="1200" b="1" dirty="0" err="1"/>
              <a:t>quả</a:t>
            </a:r>
            <a:endParaRPr lang="en-US" sz="1200" b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5BD89EE-A92C-C1D0-F026-C19A344B89CB}"/>
              </a:ext>
            </a:extLst>
          </p:cNvPr>
          <p:cNvSpPr txBox="1"/>
          <p:nvPr/>
        </p:nvSpPr>
        <p:spPr>
          <a:xfrm>
            <a:off x="4531042" y="3080087"/>
            <a:ext cx="1212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2. </a:t>
            </a:r>
            <a:r>
              <a:rPr lang="en-US" sz="1200" b="1" dirty="0" err="1"/>
              <a:t>Gọi</a:t>
            </a:r>
            <a:r>
              <a:rPr lang="en-US" sz="1200" b="1" dirty="0"/>
              <a:t> model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16D18A0-958F-297D-3B19-FAADEAD7E23F}"/>
              </a:ext>
            </a:extLst>
          </p:cNvPr>
          <p:cNvSpPr txBox="1"/>
          <p:nvPr/>
        </p:nvSpPr>
        <p:spPr>
          <a:xfrm>
            <a:off x="2703671" y="5000237"/>
            <a:ext cx="2420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3.3. Thêm </a:t>
            </a:r>
            <a:r>
              <a:rPr lang="en-US" sz="1200" b="1" dirty="0" err="1"/>
              <a:t>kết</a:t>
            </a:r>
            <a:r>
              <a:rPr lang="en-US" sz="1200" b="1" dirty="0"/>
              <a:t> </a:t>
            </a:r>
            <a:r>
              <a:rPr lang="en-US" sz="1200" b="1" dirty="0" err="1"/>
              <a:t>quả</a:t>
            </a:r>
            <a:r>
              <a:rPr lang="en-US" sz="1200" b="1" dirty="0"/>
              <a:t> tool </a:t>
            </a:r>
            <a:r>
              <a:rPr lang="en-US" sz="1200" b="1" dirty="0" err="1"/>
              <a:t>vào</a:t>
            </a:r>
            <a:r>
              <a:rPr lang="en-US" sz="1200" b="1" dirty="0"/>
              <a:t> context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0FB9E24-4957-C33A-015B-60CB9E9558BF}"/>
              </a:ext>
            </a:extLst>
          </p:cNvPr>
          <p:cNvSpPr txBox="1"/>
          <p:nvPr/>
        </p:nvSpPr>
        <p:spPr>
          <a:xfrm>
            <a:off x="9429750" y="4156797"/>
            <a:ext cx="12611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3.2. </a:t>
            </a:r>
            <a:r>
              <a:rPr lang="en-US" sz="1200" b="1" dirty="0" err="1"/>
              <a:t>Yêu</a:t>
            </a:r>
            <a:r>
              <a:rPr lang="en-US" sz="1200" b="1" dirty="0"/>
              <a:t> </a:t>
            </a:r>
            <a:r>
              <a:rPr lang="en-US" sz="1200" b="1" dirty="0" err="1"/>
              <a:t>cầu</a:t>
            </a:r>
            <a:r>
              <a:rPr lang="en-US" sz="1200" b="1" dirty="0"/>
              <a:t> tool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712ACB99-E6E1-119C-0A2E-16A02D37EA48}"/>
              </a:ext>
            </a:extLst>
          </p:cNvPr>
          <p:cNvSpPr txBox="1"/>
          <p:nvPr/>
        </p:nvSpPr>
        <p:spPr>
          <a:xfrm>
            <a:off x="5499377" y="4151083"/>
            <a:ext cx="2564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Vòng</a:t>
            </a:r>
            <a:r>
              <a:rPr lang="en-US" sz="1200" dirty="0"/>
              <a:t> </a:t>
            </a:r>
            <a:r>
              <a:rPr lang="en-US" sz="1200" dirty="0" err="1"/>
              <a:t>lặp</a:t>
            </a:r>
            <a:r>
              <a:rPr lang="en-US" sz="1200" dirty="0"/>
              <a:t> </a:t>
            </a:r>
            <a:r>
              <a:rPr lang="en-US" sz="1200" dirty="0" err="1"/>
              <a:t>gọi</a:t>
            </a:r>
            <a:r>
              <a:rPr lang="en-US" sz="1200" dirty="0"/>
              <a:t> tool </a:t>
            </a:r>
            <a:r>
              <a:rPr lang="en-US" sz="1200" dirty="0" err="1"/>
              <a:t>có</a:t>
            </a:r>
            <a:r>
              <a:rPr lang="en-US" sz="1200" dirty="0"/>
              <a:t> </a:t>
            </a:r>
            <a:r>
              <a:rPr lang="en-US" sz="1200" dirty="0" err="1"/>
              <a:t>thể</a:t>
            </a:r>
            <a:r>
              <a:rPr lang="en-US" sz="1200" dirty="0"/>
              <a:t> </a:t>
            </a:r>
            <a:r>
              <a:rPr lang="en-US" sz="1200" dirty="0" err="1"/>
              <a:t>chạy</a:t>
            </a:r>
            <a:r>
              <a:rPr lang="en-US" sz="1200" dirty="0"/>
              <a:t> </a:t>
            </a:r>
            <a:r>
              <a:rPr lang="en-US" sz="1200" dirty="0" err="1"/>
              <a:t>nhiều</a:t>
            </a:r>
            <a:r>
              <a:rPr lang="en-US" sz="1200" dirty="0"/>
              <a:t> </a:t>
            </a:r>
            <a:r>
              <a:rPr lang="en-US" sz="1200" dirty="0" err="1"/>
              <a:t>lần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355534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3225</Words>
  <Application>Microsoft Office PowerPoint</Application>
  <DocSecurity>0</DocSecurity>
  <PresentationFormat>Widescreen</PresentationFormat>
  <Paragraphs>556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Dũng Nguyễn</cp:lastModifiedBy>
  <cp:revision>50</cp:revision>
  <dcterms:created xsi:type="dcterms:W3CDTF">2026-08-18T18:29:41Z</dcterms:created>
  <dcterms:modified xsi:type="dcterms:W3CDTF">2026-08-23T17:35:10Z</dcterms:modified>
</cp:coreProperties>
</file>