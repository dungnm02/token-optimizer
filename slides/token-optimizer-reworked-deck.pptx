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2442becbf44965" /><Relationship Type="http://schemas.openxmlformats.org/officeDocument/2006/relationships/extended-properties" Target="/docProps/app.xml" Id="R3030aa548be94cbc" /><Relationship Type="http://schemas.openxmlformats.org/officeDocument/2006/relationships/officeDocument" Target="/ppt/presentation.xml" Id="Rfee03f29d8ad4b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3fcb639d3a4f42"/>
  </p:sldMasterIdLst>
  <p:notesMasterIdLst>
    <p:notesMasterId xmlns:r="http://schemas.openxmlformats.org/officeDocument/2006/relationships" r:id="Rb08421ba292f4126"/>
  </p:notesMasterIdLst>
  <p:sldIdLst>
    <p:sldId xmlns:r="http://schemas.openxmlformats.org/officeDocument/2006/relationships" id="256" r:id="Ra202814ce4194677"/>
    <p:sldId xmlns:r="http://schemas.openxmlformats.org/officeDocument/2006/relationships" id="257" r:id="Rfde2747b1dd44a84"/>
    <p:sldId xmlns:r="http://schemas.openxmlformats.org/officeDocument/2006/relationships" id="258" r:id="Rbc525e19bddf4482"/>
    <p:sldId xmlns:r="http://schemas.openxmlformats.org/officeDocument/2006/relationships" id="259" r:id="Re06893201bcb49ce"/>
    <p:sldId xmlns:r="http://schemas.openxmlformats.org/officeDocument/2006/relationships" id="260" r:id="R46b3fcddff2949a7"/>
    <p:sldId xmlns:r="http://schemas.openxmlformats.org/officeDocument/2006/relationships" id="261" r:id="R39c49046e53346b1"/>
    <p:sldId xmlns:r="http://schemas.openxmlformats.org/officeDocument/2006/relationships" id="262" r:id="R24b43080e7994a0a"/>
    <p:sldId xmlns:r="http://schemas.openxmlformats.org/officeDocument/2006/relationships" id="263" r:id="Rb6022d77c67e47b8"/>
    <p:sldId xmlns:r="http://schemas.openxmlformats.org/officeDocument/2006/relationships" id="264" r:id="Ra043fa5dde304f84"/>
    <p:sldId xmlns:r="http://schemas.openxmlformats.org/officeDocument/2006/relationships" id="265" r:id="Re3883cc63ed940ce"/>
    <p:sldId xmlns:r="http://schemas.openxmlformats.org/officeDocument/2006/relationships" id="266" r:id="R13eed25dac5548d3"/>
    <p:sldId xmlns:r="http://schemas.openxmlformats.org/officeDocument/2006/relationships" id="267" r:id="R80ef79e845ca4895"/>
    <p:sldId xmlns:r="http://schemas.openxmlformats.org/officeDocument/2006/relationships" id="268" r:id="R4b7e19657bb8471a"/>
    <p:sldId xmlns:r="http://schemas.openxmlformats.org/officeDocument/2006/relationships" id="269" r:id="R5a3623c371b44869"/>
    <p:sldId xmlns:r="http://schemas.openxmlformats.org/officeDocument/2006/relationships" id="270" r:id="Rc5b98b7dc7e348b3"/>
    <p:sldId xmlns:r="http://schemas.openxmlformats.org/officeDocument/2006/relationships" id="271" r:id="R4ca632baa18148b7"/>
    <p:sldId xmlns:r="http://schemas.openxmlformats.org/officeDocument/2006/relationships" id="272" r:id="Rb6ccfc02875b40f1"/>
    <p:sldId xmlns:r="http://schemas.openxmlformats.org/officeDocument/2006/relationships" id="273" r:id="R4198fdfd6ba941bc"/>
    <p:sldId xmlns:r="http://schemas.openxmlformats.org/officeDocument/2006/relationships" id="274" r:id="R61e15fdccacd440b"/>
    <p:sldId xmlns:r="http://schemas.openxmlformats.org/officeDocument/2006/relationships" id="275" r:id="R5816bff8c29f49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42844839bf4fa9" /><Relationship Type="http://schemas.openxmlformats.org/officeDocument/2006/relationships/slideMaster" Target="/ppt/slideMasters/slideMaster1.xml" Id="Re03fcb639d3a4f42" /><Relationship Type="http://schemas.openxmlformats.org/officeDocument/2006/relationships/notesMaster" Target="/ppt/notesMasters/notesMaster1.xml" Id="Rb08421ba292f4126" /><Relationship Type="http://schemas.openxmlformats.org/officeDocument/2006/relationships/presProps" Target="/ppt/presProps.xml" Id="Rcb8b64a03b4848c5" /><Relationship Type="http://schemas.openxmlformats.org/officeDocument/2006/relationships/tableStyles" Target="/ppt/tableStyles.xml" Id="R82367ff77fc347b1" /><Relationship Type="http://schemas.openxmlformats.org/officeDocument/2006/relationships/slide" Target="/ppt/slides/slide1.xml" Id="Ra202814ce4194677" /><Relationship Type="http://schemas.openxmlformats.org/officeDocument/2006/relationships/slide" Target="/ppt/slides/slide2.xml" Id="Rfde2747b1dd44a84" /><Relationship Type="http://schemas.openxmlformats.org/officeDocument/2006/relationships/slide" Target="/ppt/slides/slide3.xml" Id="Rbc525e19bddf4482" /><Relationship Type="http://schemas.openxmlformats.org/officeDocument/2006/relationships/slide" Target="/ppt/slides/slide4.xml" Id="Re06893201bcb49ce" /><Relationship Type="http://schemas.openxmlformats.org/officeDocument/2006/relationships/slide" Target="/ppt/slides/slide5.xml" Id="R46b3fcddff2949a7" /><Relationship Type="http://schemas.openxmlformats.org/officeDocument/2006/relationships/slide" Target="/ppt/slides/slide6.xml" Id="R39c49046e53346b1" /><Relationship Type="http://schemas.openxmlformats.org/officeDocument/2006/relationships/slide" Target="/ppt/slides/slide7.xml" Id="R24b43080e7994a0a" /><Relationship Type="http://schemas.openxmlformats.org/officeDocument/2006/relationships/slide" Target="/ppt/slides/slide8.xml" Id="Rb6022d77c67e47b8" /><Relationship Type="http://schemas.openxmlformats.org/officeDocument/2006/relationships/slide" Target="/ppt/slides/slide9.xml" Id="Ra043fa5dde304f84" /><Relationship Type="http://schemas.openxmlformats.org/officeDocument/2006/relationships/slide" Target="/ppt/slides/slide10.xml" Id="Re3883cc63ed940ce" /><Relationship Type="http://schemas.openxmlformats.org/officeDocument/2006/relationships/slide" Target="/ppt/slides/slide11.xml" Id="R13eed25dac5548d3" /><Relationship Type="http://schemas.openxmlformats.org/officeDocument/2006/relationships/slide" Target="/ppt/slides/slide12.xml" Id="R80ef79e845ca4895" /><Relationship Type="http://schemas.openxmlformats.org/officeDocument/2006/relationships/slide" Target="/ppt/slides/slide13.xml" Id="R4b7e19657bb8471a" /><Relationship Type="http://schemas.openxmlformats.org/officeDocument/2006/relationships/slide" Target="/ppt/slides/slide14.xml" Id="R5a3623c371b44869" /><Relationship Type="http://schemas.openxmlformats.org/officeDocument/2006/relationships/slide" Target="/ppt/slides/slide15.xml" Id="Rc5b98b7dc7e348b3" /><Relationship Type="http://schemas.openxmlformats.org/officeDocument/2006/relationships/slide" Target="/ppt/slides/slide16.xml" Id="R4ca632baa18148b7" /><Relationship Type="http://schemas.openxmlformats.org/officeDocument/2006/relationships/slide" Target="/ppt/slides/slide17.xml" Id="Rb6ccfc02875b40f1" /><Relationship Type="http://schemas.openxmlformats.org/officeDocument/2006/relationships/slide" Target="/ppt/slides/slide18.xml" Id="R4198fdfd6ba941bc" /><Relationship Type="http://schemas.openxmlformats.org/officeDocument/2006/relationships/slide" Target="/ppt/slides/slide19.xml" Id="R61e15fdccacd440b" /><Relationship Type="http://schemas.openxmlformats.org/officeDocument/2006/relationships/slide" Target="/ppt/slides/slide20.xml" Id="R5816bff8c29f49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064d11beec47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fbefe48c6f46c0" /><Relationship Type="http://schemas.openxmlformats.org/officeDocument/2006/relationships/notesMaster" Target="/ppt/notesMasters/notesMaster1.xml" Id="R3dbfd9924eb04d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b522e6bd67429d" /><Relationship Type="http://schemas.openxmlformats.org/officeDocument/2006/relationships/notesMaster" Target="/ppt/notesMasters/notesMaster1.xml" Id="Rf85400696bbf46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bca5a541ed4147" /><Relationship Type="http://schemas.openxmlformats.org/officeDocument/2006/relationships/notesMaster" Target="/ppt/notesMasters/notesMaster1.xml" Id="Rac28e674a6cb46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55399d7d8348b0" /><Relationship Type="http://schemas.openxmlformats.org/officeDocument/2006/relationships/notesMaster" Target="/ppt/notesMasters/notesMaster1.xml" Id="R0d1648d466cd42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22f11682254c36" /><Relationship Type="http://schemas.openxmlformats.org/officeDocument/2006/relationships/notesMaster" Target="/ppt/notesMasters/notesMaster1.xml" Id="R3ed813921e664c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77bb810f834bc7" /><Relationship Type="http://schemas.openxmlformats.org/officeDocument/2006/relationships/notesMaster" Target="/ppt/notesMasters/notesMaster1.xml" Id="R1830e561225745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190d3a7c9d4dd1" /><Relationship Type="http://schemas.openxmlformats.org/officeDocument/2006/relationships/notesMaster" Target="/ppt/notesMasters/notesMaster1.xml" Id="R9582dcc874714c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a68e0aca3b4c3d" /><Relationship Type="http://schemas.openxmlformats.org/officeDocument/2006/relationships/notesMaster" Target="/ppt/notesMasters/notesMaster1.xml" Id="R7c4d27de095043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e55755b06d42b8" /><Relationship Type="http://schemas.openxmlformats.org/officeDocument/2006/relationships/notesMaster" Target="/ppt/notesMasters/notesMaster1.xml" Id="R2ae25a4c1d5849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6207c797594068" /><Relationship Type="http://schemas.openxmlformats.org/officeDocument/2006/relationships/notesMaster" Target="/ppt/notesMasters/notesMaster1.xml" Id="R683c3c7864164c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e5809d2b2b4e80" /><Relationship Type="http://schemas.openxmlformats.org/officeDocument/2006/relationships/notesMaster" Target="/ppt/notesMasters/notesMaster1.xml" Id="R0183f2b6ffa142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5fb9a0fd164b40" /><Relationship Type="http://schemas.openxmlformats.org/officeDocument/2006/relationships/notesMaster" Target="/ppt/notesMasters/notesMaster1.xml" Id="Rec84ab022cf340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8bb9062eb042c5" /><Relationship Type="http://schemas.openxmlformats.org/officeDocument/2006/relationships/notesMaster" Target="/ppt/notesMasters/notesMaster1.xml" Id="Ra020930f7ebb43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323c02dabf4a1a" /><Relationship Type="http://schemas.openxmlformats.org/officeDocument/2006/relationships/notesMaster" Target="/ppt/notesMasters/notesMaster1.xml" Id="R5402bb2372d544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1f5d1eb7a0482b" /><Relationship Type="http://schemas.openxmlformats.org/officeDocument/2006/relationships/notesMaster" Target="/ppt/notesMasters/notesMaster1.xml" Id="R9176655693af43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3dbf1223e54a2e" /><Relationship Type="http://schemas.openxmlformats.org/officeDocument/2006/relationships/notesMaster" Target="/ppt/notesMasters/notesMaster1.xml" Id="R4ee494bacbcd45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a8c8f4369049de" /><Relationship Type="http://schemas.openxmlformats.org/officeDocument/2006/relationships/notesMaster" Target="/ppt/notesMasters/notesMaster1.xml" Id="Rca86a3d4ff724b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f630ac33a74689" /><Relationship Type="http://schemas.openxmlformats.org/officeDocument/2006/relationships/notesMaster" Target="/ppt/notesMasters/notesMaster1.xml" Id="Rcb61c39964a14f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5783826d6334a1f" /><Relationship Type="http://schemas.openxmlformats.org/officeDocument/2006/relationships/notesMaster" Target="/ppt/notesMasters/notesMaster1.xml" Id="R8a5f60fe6e8d42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5d27b5071140aa" /><Relationship Type="http://schemas.openxmlformats.org/officeDocument/2006/relationships/notesMaster" Target="/ppt/notesMasters/notesMaster1.xml" Id="R2a07e9cfd5f440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bài: đây không phải bài giảng sâu về kiến trúc LLM. Mục tiêu là nhìn thấy token đi đâu trong một phiên agent và biết can thiệp ở đâu.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Tình huống minh họa. Chi phí nằm trong toàn bộ quá trình agent tìm hiểu, hành động, kiểm chứng và thử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đi sâu vào BPE. Xây trực giác: cụm phổ biến thường được biểu diễn bằng mảnh lớn hơn; chuỗi hiếm bị chia nhỏ hơn.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 sánh các loại nội dung developer thường gặp. Dữ liệu ít quy luật có thể chiếm context lớn hơn nhiều so với cảm giác nhìn bằng mắt.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 token-optimizer — phép đo mẫu với tiktoken o200k_base.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model chỉ minh họa cấu trúc giá, không phải xếp hạng năng lực. Giá phụ thuộc model, context tier và processing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https://developers.openai.com/api/docs/pricing — GPT-5.6 Terra pricing.</a:t>
            </a:r>
          </a:p>
          <a:p xmlns:a="http://schemas.openxmlformats.org/drawingml/2006/main">
            <a:r>
              <a:t>- https://platform.claude.com/docs/en/about-claude/pricing — Claude Sonnet 5 pricing.</a:t>
            </a:r>
          </a:p>
          <a:p xmlns:a="http://schemas.openxmlformats.org/drawingml/2006/main">
            <a:r>
              <a:t>- https://ai.google.dev/gemini-api/docs/pricing — Gemini 3.5 Flash pricing.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Stateless là mental model ở cấp request/API; không phủ nhận sản phẩm có server-side conversation state. Thành phần bên ngoài phải thực thi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Cache strategy nằm ở ranh giới harness–provider; không vẽ cache như database nội bộ bắt buộc. Measurement là lớp xuyên suốt.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https://openai.com/index/unrolling-the-codex-agent-loop/ — agent loop and harness framing.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 window là working memory của lần inference. Mọi phần input và output cùng chia sẻ một giới hạn.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Cache giảm giá hoặc latency cho prefix lặp lại. Token cache vẫn chiếm context window; cache không giải quyết context growth.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https://developers.openai.com/api/docs/pricing — cached input.</a:t>
            </a:r>
          </a:p>
          <a:p xmlns:a="http://schemas.openxmlformats.org/drawingml/2006/main">
            <a:r>
              <a:t>- https://platform.claude.com/docs/en/about-claude/pricing — cache hit.</a:t>
            </a:r>
          </a:p>
          <a:p xmlns:a="http://schemas.openxmlformats.org/drawingml/2006/main">
            <a:r>
              <a:t>- https://ai.google.dev/gemini-api/docs/pricing — context caching.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điều hướng trung tâm. Click User, Harness, Model, Context append, feedback loop, final/session boundary hoặc Measurement để đi sâu; các slide chi tiết có nút quay lại.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https://openai.com/index/unrolling-the-codex-agent-loop/ — lifecycle reference.</a:t>
            </a:r>
          </a:p>
          <a:p xmlns:a="http://schemas.openxmlformats.org/drawingml/2006/main">
            <a:r>
              <a:t>- Ảnh tham chiếu do người dùng cung cấp — visual direction for slide 10.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là amplifier bắt đầu tại User/Task, không phải node riêng.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 schema thuộc bước build context, không thuộc tool execution. Audit payload sau khi harness đã render.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output bị tính một lần ở chiều output và có thể tiếp tục trở thành input trong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 execution không tự tiêu model token. Kết quả trở nên đắt khi được append vào context và gửi cho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Doom loop thuộc feedback edge vì cần model output, tool result và inference tiếp theo. Model có tham gia nhưng hotspot nằm trên vòng phản hồi.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ngưỡng trên là heuristic vận hành, chưa phải benchmark. Mục tiêu là tạo artifact rồi bắt đầu sạch khi phù hợp.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Measurement bao quanh toàn lifecycle, không phải execution node. Đánh giá optimization ở cấp task hoàn thành.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 sánh các loại nội dung developer thường gặp. Dữ liệu ít quy luật có thể chiếm context lớn hơn nhiều so với cảm giác nhìn bằng mắt.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 token-optimizer — phép đo mẫu với tiktoken o200k_base.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Measurement bao quanh toàn lifecycle, không phải execution node. Đánh giá optimization ở cấp task hoàn thành.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mini lifecycle làm menu cho Q&amp;A. Click node/edge để quay lại slide chi tiết.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 — repository.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e615167b248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510c5219a542e3" /><Relationship Type="http://schemas.openxmlformats.org/officeDocument/2006/relationships/slideLayout" Target="/ppt/slideLayouts/slideLayout1.xml" Id="R7a7339fcd48742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7339fcd48742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a4732261e467b" /><Relationship Type="http://schemas.openxmlformats.org/officeDocument/2006/relationships/notesSlide" Target="/ppt/notesSlides/notesSlide1.xml" Id="R41c0168074164e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2e97c6c584fa0" /><Relationship Type="http://schemas.openxmlformats.org/officeDocument/2006/relationships/notesSlide" Target="/ppt/notesSlides/notesSlide2.xml" Id="R10f6d995097849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dccf5c3f043ae" /><Relationship Type="http://schemas.openxmlformats.org/officeDocument/2006/relationships/notesSlide" Target="/ppt/notesSlides/notesSlide3.xml" Id="R3c4718f1bfb94c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5aec084084bc4" /><Relationship Type="http://schemas.openxmlformats.org/officeDocument/2006/relationships/notesSlide" Target="/ppt/notesSlides/notesSlide4.xml" Id="R55943659233346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3fba9f9ab4b99" /><Relationship Type="http://schemas.openxmlformats.org/officeDocument/2006/relationships/notesSlide" Target="/ppt/notesSlides/notesSlide5.xml" Id="R0fb5ca45a1934f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54e75b574d4b" /><Relationship Type="http://schemas.openxmlformats.org/officeDocument/2006/relationships/notesSlide" Target="/ppt/notesSlides/notesSlide6.xml" Id="Raf024cdc5f4d4f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73cf70c4a440f" /><Relationship Type="http://schemas.openxmlformats.org/officeDocument/2006/relationships/notesSlide" Target="/ppt/notesSlides/notesSlide7.xml" Id="R25437e45eab34c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87b28eb5649d9" /><Relationship Type="http://schemas.openxmlformats.org/officeDocument/2006/relationships/notesSlide" Target="/ppt/notesSlides/notesSlide8.xml" Id="R7511407154fd41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1b43814304ad8" /><Relationship Type="http://schemas.openxmlformats.org/officeDocument/2006/relationships/notesSlide" Target="/ppt/notesSlides/notesSlide9.xml" Id="R200e9d0a2a104f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680e616e149f2" /><Relationship Type="http://schemas.openxmlformats.org/officeDocument/2006/relationships/hyperlink" Target="/ppt/slides/slide11.xml" Id="R9d5d55b1144943cf" /><Relationship Type="http://schemas.openxmlformats.org/officeDocument/2006/relationships/hyperlink" Target="/ppt/slides/slide11.xml" Id="R5e1e6dad096c4b16" /><Relationship Type="http://schemas.openxmlformats.org/officeDocument/2006/relationships/hyperlink" Target="/ppt/slides/slide12.xml" Id="Rc93c2cf5bde74529" /><Relationship Type="http://schemas.openxmlformats.org/officeDocument/2006/relationships/hyperlink" Target="/ppt/slides/slide13.xml" Id="R55f2e7d4ad0d4913" /><Relationship Type="http://schemas.openxmlformats.org/officeDocument/2006/relationships/hyperlink" Target="/ppt/slides/slide14.xml" Id="R35d894e5d89f4e46" /><Relationship Type="http://schemas.openxmlformats.org/officeDocument/2006/relationships/hyperlink" Target="/ppt/slides/slide14.xml" Id="R1cb97473d5f544e7" /><Relationship Type="http://schemas.openxmlformats.org/officeDocument/2006/relationships/hyperlink" Target="/ppt/slides/slide15.xml" Id="Rcb35009c726f41de" /><Relationship Type="http://schemas.openxmlformats.org/officeDocument/2006/relationships/hyperlink" Target="/ppt/slides/slide16.xml" Id="R1057faaac8d34667" /><Relationship Type="http://schemas.openxmlformats.org/officeDocument/2006/relationships/notesSlide" Target="/ppt/notesSlides/notesSlide10.xml" Id="Rbe1d5382a3d047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b16020ae64410" /><Relationship Type="http://schemas.openxmlformats.org/officeDocument/2006/relationships/hyperlink" Target="/ppt/slides/slide10.xml" Id="R70759fa731d2481f" /><Relationship Type="http://schemas.openxmlformats.org/officeDocument/2006/relationships/notesSlide" Target="/ppt/notesSlides/notesSlide11.xml" Id="Ree4c598907384a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70d43297d48d0" /><Relationship Type="http://schemas.openxmlformats.org/officeDocument/2006/relationships/hyperlink" Target="/ppt/slides/slide10.xml" Id="R5fc1a2ca5fb9440c" /><Relationship Type="http://schemas.openxmlformats.org/officeDocument/2006/relationships/notesSlide" Target="/ppt/notesSlides/notesSlide12.xml" Id="R55695db79ca14b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1c88b62e944fd" /><Relationship Type="http://schemas.openxmlformats.org/officeDocument/2006/relationships/hyperlink" Target="/ppt/slides/slide10.xml" Id="Rc7c27bf5632a4f70" /><Relationship Type="http://schemas.openxmlformats.org/officeDocument/2006/relationships/notesSlide" Target="/ppt/notesSlides/notesSlide13.xml" Id="R84cfc2cd92be46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ee54ca627480f" /><Relationship Type="http://schemas.openxmlformats.org/officeDocument/2006/relationships/hyperlink" Target="/ppt/slides/slide10.xml" Id="R751d6a88784a4629" /><Relationship Type="http://schemas.openxmlformats.org/officeDocument/2006/relationships/notesSlide" Target="/ppt/notesSlides/notesSlide14.xml" Id="Raddcc150f35e43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bb40e0a974944" /><Relationship Type="http://schemas.openxmlformats.org/officeDocument/2006/relationships/hyperlink" Target="/ppt/slides/slide10.xml" Id="R2c0ea8cee2eb4e19" /><Relationship Type="http://schemas.openxmlformats.org/officeDocument/2006/relationships/notesSlide" Target="/ppt/notesSlides/notesSlide15.xml" Id="R29d2a7b20d824d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43a9329ce4b6e" /><Relationship Type="http://schemas.openxmlformats.org/officeDocument/2006/relationships/hyperlink" Target="/ppt/slides/slide10.xml" Id="R204fd6c8a68c4d9b" /><Relationship Type="http://schemas.openxmlformats.org/officeDocument/2006/relationships/notesSlide" Target="/ppt/notesSlides/notesSlide16.xml" Id="R6fdd71db5c3d42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0963ec53047ff" /><Relationship Type="http://schemas.openxmlformats.org/officeDocument/2006/relationships/notesSlide" Target="/ppt/notesSlides/notesSlide17.xml" Id="R2c5adc1d246f42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e71a77dcb4809" /><Relationship Type="http://schemas.openxmlformats.org/officeDocument/2006/relationships/notesSlide" Target="/ppt/notesSlides/notesSlide18.xml" Id="Ra9d7ad27d4b04b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f594a699a43c0" /><Relationship Type="http://schemas.openxmlformats.org/officeDocument/2006/relationships/notesSlide" Target="/ppt/notesSlides/notesSlide19.xml" Id="R4ab4d796ab0c43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36e9be60d41db" /><Relationship Type="http://schemas.openxmlformats.org/officeDocument/2006/relationships/hyperlink" Target="/ppt/slides/slide11.xml" Id="Ra356101f41ae435e" /><Relationship Type="http://schemas.openxmlformats.org/officeDocument/2006/relationships/hyperlink" Target="/ppt/slides/slide11.xml" Id="Rc94b122620514093" /><Relationship Type="http://schemas.openxmlformats.org/officeDocument/2006/relationships/hyperlink" Target="/ppt/slides/slide12.xml" Id="R9b11dfc9822c454f" /><Relationship Type="http://schemas.openxmlformats.org/officeDocument/2006/relationships/hyperlink" Target="/ppt/slides/slide13.xml" Id="R321ba6a5d453499c" /><Relationship Type="http://schemas.openxmlformats.org/officeDocument/2006/relationships/hyperlink" Target="/ppt/slides/slide14.xml" Id="Rf026d13f4f45482a" /><Relationship Type="http://schemas.openxmlformats.org/officeDocument/2006/relationships/hyperlink" Target="/ppt/slides/slide14.xml" Id="R31069d22b20a45ed" /><Relationship Type="http://schemas.openxmlformats.org/officeDocument/2006/relationships/hyperlink" Target="/ppt/slides/slide15.xml" Id="Rb25c766a4eaf406b" /><Relationship Type="http://schemas.openxmlformats.org/officeDocument/2006/relationships/hyperlink" Target="/ppt/slides/slide16.xml" Id="Rd92ed1ff1e704dbe" /><Relationship Type="http://schemas.openxmlformats.org/officeDocument/2006/relationships/hyperlink" Target="https://github.com/dungnm02/token-optimizer" TargetMode="External" Id="R53a2d69b80854a69" /><Relationship Type="http://schemas.openxmlformats.org/officeDocument/2006/relationships/notesSlide" Target="/ppt/notesSlides/notesSlide20.xml" Id="R5daff5a5f0294b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62891E-00FC-4490-9822-1EAE1F66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183F7-F3C8-4091-BDE3-61F6375D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CDC1B-5CD5-4F56-BA12-E3C46CB0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963D0-1692-4BC0-B91E-035FAC8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75C99-A373-4A0B-9CBA-E977AC04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90EE7-7BB5-4B1D-9FF6-7C47A03E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FBD04-9C72-4FF8-A3D5-7609987C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85C66-7F05-42AF-97B7-31B4C3BD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06C4A-075C-4E01-B373-68967589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78CCD-727F-43C2-89C9-6C460FF3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E83A7-2F26-4C91-AB00-D45EC27D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5723E-3A88-435A-BDF4-AE07D95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43A5F-CB81-4041-B8DD-3813E1F7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F2CB7-8993-48A2-99E3-FC370057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7A73B-0D25-4BB3-8311-D0F1AAC3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6DED1-70EA-45C2-A378-4992CC92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1EA0A-9C9D-4473-AB28-629B293C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0"/>
            <a:ext cx="953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8E5B5-9504-497B-9EF2-580B962A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35869-E375-4601-B184-8D5B3762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9F10E-BFED-4069-B937-7F91ED98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96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46089-86E3-46FB-8A9F-1F679BB0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144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3B60C-6265-45E2-AFC7-8024E5EC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192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88A3F-D729-4CC7-9700-B8DE853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87BB4-EC53-454D-A465-49D7A2F2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CD2690-2DF1-411C-833B-1C119444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A25EAD-51A4-4587-8FDD-47423F64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AD78B9-ACE6-4859-A697-C20516D4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2ED5C9-04EE-44F6-887D-2742D1BC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C2573D-2189-48B6-AC9C-50BBE067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49D60B-E9C6-46A4-A150-1217BCBA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66A2B8-7FA7-425B-BF72-3CDEDAD0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E87FE3-5BC5-4047-84AF-1A0BC06E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8244D8-EBB5-4353-B8B1-DBECF6B8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A5D1FD-1656-442A-BE9E-A298D8EA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14BB08-3405-44E6-9730-8AEE6D84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16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F7ED7E-CBCC-4302-BD0D-EB510A3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A2F613-DAC7-4796-95CF-B3D0900F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912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AB0D97-4486-4AA0-81A2-42B4FE21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960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33B7D4-C75E-4A1F-843F-6097FA2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008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3D23FA-469C-4B9D-B18B-8830042C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705600"/>
            <a:ext cx="49530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DF2F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934212-E1DF-49D6-B0DB-4B16F21E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3009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C93879-D8D3-4D96-8898-101AB136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2819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AI CODING AGENT · TOKEN ECONOMY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62F3B6-B14A-4363-B0A7-D1F56941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65722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1">
                <a:solidFill>
                  <a:srgbClr val="101827"/>
                </a:solidFill>
              </a:defRPr>
            </a:pPr>
            <a:r>
              <a:rPr sz="3900" b="1">
                <a:solidFill>
                  <a:srgbClr val="101827"/>
                </a:solidFill>
              </a:rPr>
              <a:t>Tiết kiệm token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900" b="1">
                <a:solidFill>
                  <a:srgbClr val="101827"/>
                </a:solidFill>
              </a:defRPr>
            </a:pPr>
            <a:r>
              <a:rPr sz="3900" b="1">
                <a:solidFill>
                  <a:srgbClr val="101827"/>
                </a:solidFill>
              </a:rPr>
              <a:t>cho AI coding agent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F0A739-B566-448A-8D9D-E22CB393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6000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Token đi đâu trong một phiên — và chúng ta kiểm soát nó ở đâu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2E9812-2E95-4A13-8B53-F90EC230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4748B"/>
                </a:solidFill>
              </a:defRPr>
            </a:pPr>
            <a:r>
              <a:rPr sz="1275" b="1">
                <a:solidFill>
                  <a:srgbClr val="64748B"/>
                </a:solidFill>
              </a:rPr>
              <a:t>Dũng · 18/08/2026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E36099-D027-4091-8305-6CED5995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5FD302-5496-47A0-8FA2-0069E5A9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0300"/>
            <a:ext cx="72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USER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99BFEC-EB05-49A6-AF32-CA0508F3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24050"/>
            <a:ext cx="1428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6246B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5D4CEC-E65D-4261-A3CF-6305CF79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90775"/>
            <a:ext cx="97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6246B5"/>
                </a:solidFill>
              </a:defRPr>
            </a:pPr>
            <a:r>
              <a:rPr sz="1500" b="1">
                <a:solidFill>
                  <a:srgbClr val="6246B5"/>
                </a:solidFill>
              </a:rPr>
              <a:t>AGENT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B2D2E5-E576-4DA3-BFA5-32278412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19050">
            <a:solidFill>
              <a:srgbClr val="0E9AA7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396431-5223-47E9-B6A1-1B9EF328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600575"/>
            <a:ext cx="97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E9AA7"/>
                </a:solidFill>
              </a:defRPr>
            </a:pPr>
            <a:r>
              <a:rPr sz="1500" b="1">
                <a:solidFill>
                  <a:srgbClr val="0E9AA7"/>
                </a:solidFill>
              </a:rPr>
              <a:t>TOOL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1DD513-15B8-428D-9992-817A0657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90800"/>
            <a:ext cx="419100" cy="95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246B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8777B6-4C29-460A-A295-B6CE2911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76600"/>
            <a:ext cx="953" cy="1028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E9AA7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A72103-18AC-4439-8F97-13A719FE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571500" cy="16954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97706"/>
            </a:solidFill>
          </a:ln>
        </p:spPr>
      </p:sp>
    </p:spTree>
    <p:extLst>
      <p:ext uri="{BB962C8B-B14F-4D97-AF65-F5344CB8AC3E}">
        <p14:creationId xmlns:p14="http://schemas.microsoft.com/office/powerpoint/2010/main" val="468162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E05C93-1E2D-4755-AB8A-329F5FCF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VẤN ĐỀ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7A075-D6D7-429A-8E61-3EF915AD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175" b="1">
                <a:solidFill>
                  <a:srgbClr val="101827"/>
                </a:solidFill>
              </a:rPr>
              <a:t>Một yêu cầu ngắn không đồng nghĩa với việc tiêu tốn ít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EF6F0-B0F4-4192-9243-87CBF7B3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63172-0EFA-4376-A9BB-D696D95F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2A49E-1FA7-4C29-9122-5ECE8136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F47E6-81C2-4601-9226-A4DA8F3B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19225"/>
            <a:ext cx="10744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“Thêm trường preferredLanguage vào hồ sơ người dùng.”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6ACCE-93E3-4664-BFB2-54D7C916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90850"/>
            <a:ext cx="4000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A2ACF-42A5-455B-829B-4C73C46F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DF895-C500-4E20-8A3F-60B550A8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86050"/>
            <a:ext cx="781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Tìm model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&amp;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B4F01-76F0-40F6-A2A2-31EACB23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2900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907F0-BDA4-47E7-9AF2-DEC67DE4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90850"/>
            <a:ext cx="4000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43988-5E4A-4D18-A805-E6A01AA1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146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EEA47-DC4A-4E24-A67C-1A97A64F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86050"/>
            <a:ext cx="781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Đọc file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phụ thuộc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22D54-5DDD-4BA0-8BEA-E423B6DD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2×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FEC0B-BD30-4439-B8D3-4C77D5A3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90850"/>
            <a:ext cx="4000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2144-A00B-4874-BC0D-75C06AC1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19050">
            <a:solidFill>
              <a:srgbClr val="6246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D81EE-6D86-4FFB-9074-F717B5B9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781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</a:rPr>
              <a:t>Sửa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BB3A7-B449-431E-B72A-45ABEB73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3850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</a:rPr>
              <a:t>3×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08B8B-AC12-4FB4-A4C9-0A23EE29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4000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D5767-CFFF-47FA-8828-43755D72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1EA5A-7E7A-476D-9BB7-3B364C72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86050"/>
            <a:ext cx="781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Chạy test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+ 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284FA-4023-44CB-932F-FAF79223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4×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1953B-7A6E-4CC8-ABC9-2899D337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90850"/>
            <a:ext cx="4000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847BB-4F92-4527-B419-2B3AF683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146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9050">
            <a:solidFill>
              <a:srgbClr val="C43C4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998E8-AA76-4EA6-8B61-5B04C320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686050"/>
            <a:ext cx="781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C43C4E"/>
                </a:solidFill>
              </a:defRPr>
            </a:pPr>
            <a:r>
              <a:rPr sz="1200" b="1">
                <a:solidFill>
                  <a:srgbClr val="C43C4E"/>
                </a:solidFill>
              </a:rPr>
              <a:t>Sửa lại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5AD9F6-4BB4-47A9-8973-C51154A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4800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43C4E"/>
                </a:solidFill>
              </a:defRPr>
            </a:pPr>
            <a:r>
              <a:rPr sz="1200" b="1">
                <a:solidFill>
                  <a:srgbClr val="C43C4E"/>
                </a:solidFill>
              </a:rPr>
              <a:t>5×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56CD0-7854-4FFA-96C2-F2AAF09C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146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7F8"/>
          </a:solidFill>
          <a:ln xmlns:a="http://schemas.openxmlformats.org/drawingml/2006/main" w="19050">
            <a:solidFill>
              <a:srgbClr val="0E9AA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55917-81A7-4940-AD68-FAD2CE6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686050"/>
            <a:ext cx="781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9AA7"/>
                </a:solidFill>
              </a:defRPr>
            </a:pPr>
            <a:r>
              <a:rPr sz="1200" b="1">
                <a:solidFill>
                  <a:srgbClr val="0E9AA7"/>
                </a:solidFill>
              </a:rPr>
              <a:t>Trả kết quả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0B72CF-1342-4BA1-B3E4-4899C951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527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E9AA7"/>
                </a:solidFill>
              </a:defRPr>
            </a:pPr>
            <a:r>
              <a:rPr sz="1200" b="1">
                <a:solidFill>
                  <a:srgbClr val="0E9AA7"/>
                </a:solidFill>
              </a:rPr>
              <a:t>6×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CCE8F6-E651-479A-A7DF-C7302011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4288">
            <a:solidFill>
              <a:srgbClr val="A9C4F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842C3-69D1-4C59-9A8D-46C09A77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468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DEVELOPER NHÌN THẤY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09CADC-DBF8-45CB-92A5-B0F3694D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686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1 yêu cầu  →  1 câu trả lời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B52719-5838-42B2-BD1A-5230C923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76750"/>
            <a:ext cx="5638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B8A9E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E4A581-7A60-4269-8CA3-ED0D8715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8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246B5"/>
                </a:solidFill>
              </a:defRPr>
            </a:pPr>
            <a:r>
              <a:rPr sz="1050" b="1">
                <a:solidFill>
                  <a:srgbClr val="6246B5"/>
                </a:solidFill>
              </a:rPr>
              <a:t>HỆ THỐNG THỰC HIỆN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DA499D-125D-40F7-A437-CC475FB9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181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Nhiều lần gọi model + context tăng dần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9E1EB4-2F9A-4EE3-A1EF-28BB2284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5310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6246B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1909BA-D117-4BA9-8084-FEF049C1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19775"/>
            <a:ext cx="457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6246B5"/>
                </a:solidFill>
              </a:defRPr>
            </a:pPr>
            <a:r>
              <a:rPr sz="1575" b="1">
                <a:solidFill>
                  <a:srgbClr val="6246B5"/>
                </a:solidFill>
              </a:rPr>
              <a:t>1 user message ≠ 1 lần gọi model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9717B4-B1AF-493A-9B24-AA7601A9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456BB9-F195-4AAB-BE0F-CB24881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TỪ VẤN ĐỀ ĐẾN ĐƠN VỊ CHI PHÍ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F7C554-9051-4B76-9A84-18BA0CD6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2 / 20</a:t>
            </a:r>
          </a:p>
        </p:txBody>
      </p:sp>
    </p:spTree>
    <p:extLst>
      <p:ext uri="{BB962C8B-B14F-4D97-AF65-F5344CB8AC3E}">
        <p14:creationId xmlns:p14="http://schemas.microsoft.com/office/powerpoint/2010/main" val="1518764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48D356-FE1A-430C-84C3-99C27A81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TOKEN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2654C-4F9B-4D3E-8081-B784EB9F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775" b="1">
                <a:solidFill>
                  <a:srgbClr val="101827"/>
                </a:solidFill>
              </a:rPr>
              <a:t>Model không đọc chữ; model đọc các mảnh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AC7D2-FD1D-40FF-ADFB-50699FEA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44130-8B49-4677-8DA8-5E14C577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543B0-FBC3-4F76-9683-26DD418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685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Token là một mảnh biểu diễn văn bản trong vocabulary của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7A495-DDCD-4785-A5C0-152EDF6F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72390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69F8C-D206-4F38-B37B-630E4CCE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CỤM PHỔ BIẾN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F3DC0-8D19-4282-8392-457966B1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19050">
            <a:solidFill>
              <a:srgbClr val="0E9AA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76BC3-3E1B-48D4-9C21-76AD62CF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90825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0E9AA7"/>
                </a:solidFill>
              </a:defRPr>
            </a:pPr>
            <a:r>
              <a:rPr sz="2175" b="1">
                <a:solidFill>
                  <a:srgbClr val="0E9AA7"/>
                </a:solidFill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6BD1D-85C9-4075-8BA7-D079144F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33675"/>
            <a:ext cx="457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39F24-2BCC-4D8A-A213-570C3C71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47950"/>
            <a:ext cx="2857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9050">
            <a:solidFill>
              <a:srgbClr val="6246B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6D99E-2F26-428D-B95D-EF74AD44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90825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6246B5"/>
                </a:solidFill>
              </a:defRPr>
            </a:pPr>
            <a:r>
              <a:rPr sz="2175" b="1">
                <a:solidFill>
                  <a:srgbClr val="6246B5"/>
                </a:solidFill>
              </a:rPr>
              <a:t>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FC44C-C597-4833-8B19-6FCC789B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18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 mảnh lớn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11257-7D82-4E24-BD9A-B2506B8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3619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891CB-AD4A-4D0C-961A-ADFCA29A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CHUỖI HIẾM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01C90-603F-46C3-A29F-21D83867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1430">
            <a:solidFill>
              <a:srgbClr val="D9770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29F06-7F35-408B-9D1E-D8102FB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76525"/>
            <a:ext cx="5524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550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01028-AAA8-4BF5-8C5D-585FB1EA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1430">
            <a:solidFill>
              <a:srgbClr val="D9770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380F99-79E1-4BB0-957B-D19B248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76525"/>
            <a:ext cx="5524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e84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7FB57-A4DA-4D1E-8377-BE1FAD8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1430">
            <a:solidFill>
              <a:srgbClr val="D9770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FACB3-5D78-41EF-9D87-3F7AF119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76525"/>
            <a:ext cx="5524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00-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CBBB8-8B9A-4A35-AAA0-8B765994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479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1430">
            <a:solidFill>
              <a:srgbClr val="D9770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F65EB-8FB0-415B-9562-A0243388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76525"/>
            <a:ext cx="5524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e29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C9F55-C033-441B-BE9B-2E4D0851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1430">
            <a:solidFill>
              <a:srgbClr val="D9770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D1B72-2B65-4C42-BC57-6672260C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33725"/>
            <a:ext cx="5524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b-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6239B-568C-439E-92E8-FCE6BB6E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1430">
            <a:solidFill>
              <a:srgbClr val="D9770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55BB45-7C42-4317-BF99-64541404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33725"/>
            <a:ext cx="5524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41d4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35C065-5E07-4844-8B98-BD8E899A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051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1430">
            <a:solidFill>
              <a:srgbClr val="D9770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55CC09-41BF-469C-A8D6-AA7BAA27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33725"/>
            <a:ext cx="5524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C563E9-691C-4E12-A64A-182563E4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120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Cách chia phụ thuộc vào tokenizer, ngôn ngữ và loại nội dung.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890B9E-8C66-450A-B874-0AD1584A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727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6246B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400697-6665-43A2-B371-0CBAF953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43475"/>
            <a:ext cx="6896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6246B5"/>
                </a:solidFill>
              </a:defRPr>
            </a:pPr>
            <a:r>
              <a:rPr sz="1800" b="1">
                <a:solidFill>
                  <a:srgbClr val="6246B5"/>
                </a:solidFill>
              </a:rPr>
              <a:t>Bạn trả tiền theo số mảnh, không phải số ký tự.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41C620-798B-4B95-BCBF-9B2FFE82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1DCBA6-695E-4899-BA28-CAB59263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TOKEN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EAB4AF-F88E-41DB-9EAE-D71D3316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1038959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8BB1490-FB87-4E88-B5D1-A471C2B2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TOKEN DENSITY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C1BC0-F3EE-4F54-8109-2F6429CE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775" b="1">
                <a:solidFill>
                  <a:srgbClr val="101827"/>
                </a:solidFill>
              </a:rPr>
              <a:t>Cùng một diện tích văn bản, lượng token có thể lệch gần 5 lần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23544-3CBF-4DC5-89E6-F799EF10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FF5FA-CE8A-4C90-8D3C-DFAEA9FD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AA7BA-7E72-46FE-9263-EDC31F31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4572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75E4A-CBB3-4FC6-8FCD-B2A9FF59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43434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Loại nội dung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51D58-51FD-4778-91CD-22C99196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09700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920DA-7FA7-47A1-84CA-5A8E0B23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457325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Ký tự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41BE1-20DC-45C2-B1EF-DEA8B87D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09700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CC7DC-7B9C-4951-8DAD-C7A477A7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57325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F9C83-3012-4D4B-A50B-15ABF0B9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09700"/>
            <a:ext cx="2190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83C71-EE3A-41FD-ADF3-29F96047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57325"/>
            <a:ext cx="1962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Ký tự / token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D9ED9-B1EA-442E-A532-0F322CA5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76425"/>
            <a:ext cx="4572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153A7-5903-45E5-B351-34F916D3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3434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Văn xuôi tiếng Anh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C9A1F-96CB-4650-A41F-75F04734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76425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D28D7-6302-4A47-B674-6CB70E27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167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2467A-8927-44BB-B90B-0C212EBF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76425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52925-94C8-4AE6-9233-C9CBEA95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47AC3-5CA4-4274-86C1-DA65A34E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76425"/>
            <a:ext cx="2190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D9B95-A33F-42B9-852C-ACFAAC72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24050"/>
            <a:ext cx="1962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5.22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3BDCC-7BFF-4274-A0F1-F120D4E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4572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B99CD-F950-463D-8312-A1138C2E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3434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Code TypeScript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951C4-0820-40AC-954B-31A0DB08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EB360-77FD-443A-9B8F-98DB1BF7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90775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248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20C31-B99B-4822-B97B-D04D3A88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B15E5E-A5E7-4F33-A6D5-79757E5A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90775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65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E54262-C3DC-475D-B078-7574C158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190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E62FB6-4E4E-4C3D-AB32-8C443CC2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90775"/>
            <a:ext cx="1962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3.82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C801F-EA8D-403A-8F24-6489A8C5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9875"/>
            <a:ext cx="4572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9BEE68-2BF3-4648-8630-3BA6DAFC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3434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Văn xuôi tiếng Việt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06D991-C3FC-425E-9DBE-3E7560DC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C6BC7E-A270-450D-BA6C-51881CC1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57500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144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355200-40DC-48D9-A6C6-169F3253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9875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F02163-C53C-446D-9161-3E534867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38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64E9FE-9016-46E3-9A2F-60AF290F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9875"/>
            <a:ext cx="2190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6C5-DFFB-4F96-9FD6-AB6B9BDD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1962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3.79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B0C0F6-509E-439C-8EE6-A174F04C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4572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E6AAC8-8C1F-455C-84A2-FF443E23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43434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JSON config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3356BB-301B-4091-8C9D-E5FCC4E2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76600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B31A6F-3960-4384-A9CF-AF2A876C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24225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114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51ECAF-C1AF-4C38-B8AD-AC827538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76600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50D42F-41D2-44ED-A1DC-CBBBEBFD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40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20F792-2A13-465C-B2B4-E9A54BBC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2190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060210-0A5B-42FB-9221-6F12EC41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24225"/>
            <a:ext cx="1962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2.85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AC34C8-6170-42DC-B537-8369D116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43325"/>
            <a:ext cx="4572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AE8954-DA5A-4754-AF29-CAD37889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3434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Bundle đã minify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71CBEA-30E6-4F16-984B-902BA396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43325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4A90E3-37AF-4917-B931-18D21EED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90950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234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486636-CD85-461C-BF05-A9A140D7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43325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D96D70-2268-4EA0-8A64-69D8594D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90950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93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D423C8-5134-43C0-93AB-32D157B4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43325"/>
            <a:ext cx="2190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DC6439-91C2-4F12-A70C-16170545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1962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2.52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98E95F-BDC2-48FD-8A8F-F29F7B98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4572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87F415-1A18-42E6-82D4-F2DBE3C9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3434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Base64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9B48D6-B820-493B-9527-F0E7F2E0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10050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50E2C4-4852-4FA8-96C3-7EBCACBA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57675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256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35CA96-8216-4C65-907C-934BE8C6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10050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04B5FE-50BF-4682-A49E-D0F527D5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57675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170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5BB471-D62B-4003-8376-A7408AF3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2190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0C439A-7CC5-48AE-8C7C-A58EF5D0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57675"/>
            <a:ext cx="1962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1.51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74027F-BED2-410E-931E-0A1D5CB5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76775"/>
            <a:ext cx="4572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8D05E2-EAFD-47F4-BBB3-46AA229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3434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UUID / git SHA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47DC08-244B-4E3A-96C3-BB904491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76775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71B12F-DBD0-47B9-A67A-62EE5C24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24400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36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D83A75-3CA0-404B-AD56-F82958C5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76775"/>
            <a:ext cx="1714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16C7C1-6B90-4BBE-A853-07A2CEDF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24400"/>
            <a:ext cx="14859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32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6A43A2-7306-49D6-ABF1-F8BA0DB1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76775"/>
            <a:ext cx="2190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E040EE-A6A4-4124-AFD6-ADD67F18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24400"/>
            <a:ext cx="1962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1.13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B6311E-DDC6-4655-B764-BC1B55A6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0200"/>
            <a:ext cx="4857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14288">
            <a:solidFill>
              <a:srgbClr val="0E9AA7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D524D8-9E78-4DCF-A18A-E4445F94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447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E9AA7"/>
                </a:solidFill>
              </a:defRPr>
            </a:pPr>
            <a:r>
              <a:rPr sz="1500" b="1">
                <a:solidFill>
                  <a:srgbClr val="0E9AA7"/>
                </a:solidFill>
              </a:rPr>
              <a:t>167 ký tự tiếng Anh = 32 token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0BE45E-6363-44F6-9EB4-E9AEA582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10200"/>
            <a:ext cx="40576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4288">
            <a:solidFill>
              <a:srgbClr val="D97706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1C2142-5BA8-4618-9D70-4A85C0E2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76875"/>
            <a:ext cx="3676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UUID 36 ký tự ≈ 32 token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A705F75-BFFB-40F2-A2E9-1FE1B0F8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72100"/>
            <a:ext cx="1885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6246B5"/>
                </a:solidFill>
              </a:defRPr>
            </a:pPr>
            <a:r>
              <a:rPr sz="1275" b="1">
                <a:solidFill>
                  <a:srgbClr val="6246B5"/>
                </a:solidFill>
              </a:rPr>
              <a:t>Đừng ước lượng token bằng số ký tự hoặc số dòng.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47F3D3-395A-4A62-A1C6-E9705304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120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4748B"/>
                </a:solidFill>
              </a:defRPr>
            </a:pPr>
            <a:r>
              <a:rPr sz="975" b="0" i="1">
                <a:solidFill>
                  <a:srgbClr val="64748B"/>
                </a:solidFill>
              </a:rPr>
              <a:t>Đo bằng tiktoken o200k_base · Mẫu minh họa, không phải quy luật cố định cho mọi tokenizer.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81EF618-3784-4E32-A61B-0E6FA621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6D0E7A-20A8-496C-9EEA-0426DCD2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TOKEN DENSITY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DACB848-ED79-4468-BBE3-D09FD3D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4 / 20</a:t>
            </a:r>
          </a:p>
        </p:txBody>
      </p:sp>
    </p:spTree>
    <p:extLst>
      <p:ext uri="{BB962C8B-B14F-4D97-AF65-F5344CB8AC3E}">
        <p14:creationId xmlns:p14="http://schemas.microsoft.com/office/powerpoint/2010/main" val="1424219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804E8A-24E4-4209-93E5-E285E2AA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PRICING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0020A-CE74-4D5C-9B13-145CB01A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325" b="1">
                <a:solidFill>
                  <a:srgbClr val="101827"/>
                </a:solidFill>
              </a:rPr>
              <a:t>Một lần gọi model tính tiền ở cả hai chiều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5AD09-6D57-4770-8DDF-ABF9928D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8687E-CF32-442A-BE77-DF05A8B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1A2FA-CEA3-4560-A65E-12AAAD50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47625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4288">
            <a:solidFill>
              <a:srgbClr val="A9C4F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7830D-FF8A-4FB8-89D0-C5C03730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28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INPUT 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46225-892A-48F8-9106-92D89931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6E71E-C2A9-42A2-974A-1D2DE995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System / developer instructions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9DC39-15AA-4DA5-90A3-848EABC9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AE1A6-C946-4CB6-9A27-D309AF45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Rules, tool schemas,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218B6-7E2D-4B4E-BCBB-2226FFA7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2C11A-4388-4B42-B359-7419157E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User message, files, 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F06A0-6B27-4A37-963D-35EB1375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1EA52-79DE-4E5B-9CDC-83379DA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Tool results được append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505A9-4538-43F1-BAED-B34A9FBF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1447800" cy="953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6246B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0990E-2260-410C-AED1-8449CC93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09700"/>
            <a:ext cx="48577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B8A9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9EA40-CC73-45C2-B5F7-D5279A2A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811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246B5"/>
                </a:solidFill>
              </a:defRPr>
            </a:pPr>
            <a:r>
              <a:rPr sz="1350" b="1">
                <a:solidFill>
                  <a:srgbClr val="6246B5"/>
                </a:solidFill>
              </a:rPr>
              <a:t>OUTPUT TOKEN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DA0E7-4C4E-427B-AC86-EE960226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76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AE5A9-FFFE-4C71-ACA6-3BF238E2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0250"/>
            <a:ext cx="3981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Reasoning / thinking nếu được tính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B69A2-5ECC-4E58-A3E0-8B288235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8EF05-D184-426C-9CD9-B3BC6CFD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14600"/>
            <a:ext cx="3981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Tool call do model sinh 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B645D-1974-4E6A-AEA6-4262C37E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A8DF5-4DC8-453D-BE19-0F46F8D0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28950"/>
            <a:ext cx="3981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Final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69EE83-83E0-4F3F-84FA-FFB0852B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4572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B4439-4B69-4CFB-B77E-73174529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438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Model đại diện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12AA9-C4BF-43CE-87A5-A30B11E0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4815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063B2-CF09-431E-939E-27EB3D9E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86250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F7A554-0DA6-4192-968C-8B2A965C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5573AF-7D39-4CEC-BCAD-898AE143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1A153-A92E-43E3-82F6-1F94AD71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4815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88BA18-559E-4A1B-812B-46CEC13B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86250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Tỷ lệ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23B9B-DD53-4CD5-A431-497F0247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57725"/>
            <a:ext cx="4572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E2111D-4161-4DF4-B5A4-F94F4153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95825"/>
            <a:ext cx="438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GPT-5.6 Terra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4F9B86-45CF-4E8D-8959-BB211F9E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5772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9F8A44-1358-40C2-B98A-0AED9BC8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95825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$2.00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DF5AA9-315E-44B6-88AA-9A5E4F40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5772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BB81EE-9B70-4725-B627-44922426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95825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$12.00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FB8075-15AE-4173-BE3A-9182CE01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5772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294E9B-F2F7-484D-A9F1-2E3EA83F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95825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6×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A791D8-5066-43C5-988A-64F888F6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4572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764C7F-F887-4405-8A15-86EAC28B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438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Claude Sonnet 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C22FF0-10E6-40B2-BA4D-92814106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6730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FC1855-101C-495C-912B-10300163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05400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$2.00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DF6018-2DEB-4E9D-94B7-3F778EC4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F66B87-9A6B-44FD-BB47-0ED756A3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05400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$10.00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6C230D-F4C5-4A61-B9AB-3D9D294F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6730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BF5710-24AF-4F0C-A457-A17B5109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05400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5×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71E49F-7349-42F6-A056-4F378744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4572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A3CABB-80F4-472C-99C6-F326D853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14975"/>
            <a:ext cx="4381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Gemini 3.5 Flash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6288C1-025E-4F77-80D1-D8E698AE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768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58422E-953D-4FCD-B148-D5293AEE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14975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$1.50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26F54C-6CB6-4D31-9D64-A84F501D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768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593319-A0AD-411E-92B3-C1943041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14975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$9.00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50DA28-F364-48EB-9AD5-05ECBF0E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768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620CAA-5914-4E3F-868E-7FB0CD63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14975"/>
            <a:ext cx="1524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6×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88679F7-EE4C-45EF-B4E4-7A3FE5E3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43600"/>
            <a:ext cx="971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Standard API · USD / 1M token · snapshot 18/08/2026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D9EC4E-4BB7-4190-BB65-16B4F07D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50D1AA-B6CD-483C-AEAC-0FA3491E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INPUT + OUTPUT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52B4FF-FF43-469B-BE4D-B693BDE1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5 / 20</a:t>
            </a:r>
          </a:p>
        </p:txBody>
      </p:sp>
    </p:spTree>
    <p:extLst>
      <p:ext uri="{BB962C8B-B14F-4D97-AF65-F5344CB8AC3E}">
        <p14:creationId xmlns:p14="http://schemas.microsoft.com/office/powerpoint/2010/main" val="1822663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38F3C-EF3B-4C7D-B227-B92C8BD9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BB04D-56FB-497E-902C-65ABD7A4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775" b="1">
                <a:solidFill>
                  <a:srgbClr val="101827"/>
                </a:solidFill>
              </a:rPr>
              <a:t>Model chỉ biến một payload thành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4CE9D-ACC3-4E4A-A1C4-074D5734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C6A9C-47C3-458C-AE21-33A35F06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CA6F1-A914-4D45-A4BA-F0C6AFD1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6098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C5B37-0234-4A88-9717-289BF48F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114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PAYLOAD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61AA1-EC4E-4587-8F3A-A721DBD0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67000"/>
            <a:ext cx="1200150" cy="95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3415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B43C8-1AE8-4943-B743-789034FD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52600"/>
            <a:ext cx="29908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23813">
            <a:solidFill>
              <a:srgbClr val="6246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3B481-D80C-4869-B888-B01214A5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24100"/>
            <a:ext cx="2266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6246B5"/>
                </a:solidFill>
              </a:defRPr>
            </a:pPr>
            <a:r>
              <a:rPr sz="2550" b="1">
                <a:solidFill>
                  <a:srgbClr val="6246B5"/>
                </a:solidFill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3B954-E71C-4FA1-8E5A-1497204F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0"/>
            <a:ext cx="1123950" cy="95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341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3AA0A-BF57-46AE-AAD0-057AE3F3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705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19050">
            <a:solidFill>
              <a:srgbClr val="0E9AA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6EF71-C3B1-498D-B045-08B21C37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209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8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E9AA7"/>
                </a:solidFill>
              </a:defRPr>
            </a:pPr>
            <a:r>
              <a:rPr sz="1725" b="1">
                <a:solidFill>
                  <a:srgbClr val="0E9AA7"/>
                </a:solidFill>
              </a:rPr>
              <a:t>RESPONSE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E9AA7"/>
                </a:solidFill>
              </a:defRPr>
            </a:pPr>
            <a:r>
              <a:rPr sz="1725" b="1">
                <a:solidFill>
                  <a:srgbClr val="0E9AA7"/>
                </a:solidFill>
              </a:rPr>
              <a:t>hoặc TOOL INTENT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93CDF-730B-43CF-9008-63151FC0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3D8A6-2869-45F6-AE46-67A381F2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4000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94E2F-873C-4217-898B-07665284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Chỉ biết request hiện tại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F36CE-824D-4FF2-ABD9-A992A955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B71FB-CA8F-44D9-8327-E161DE67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4000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EE6F2-8459-4BEB-B286-CDF202AE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195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Không tự giữ working memory bền vững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38346-F21B-4233-BC6E-080B7219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71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78238-BB81-42A6-BBD7-4E719898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38625"/>
            <a:ext cx="4000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61751-6C1B-41DB-8876-ACF3AF10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Không trực tiếp đọc file hay chạy command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161BB-3A65-4709-962A-E3AE1965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5A140-B7B9-4447-BE35-795F5F7A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38625"/>
            <a:ext cx="4000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28311C-FCB3-42A2-8466-1847D7D7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95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Chỉ sinh text hoặc mô tả tool call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6A6D4-7D94-4C35-B336-30B97F2F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76850"/>
            <a:ext cx="8229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4288">
            <a:solidFill>
              <a:srgbClr val="D9770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530AE9-D6FF-4C72-82DB-85F04C7C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43525"/>
            <a:ext cx="7848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Tool call là một yêu cầu hành động — chưa phải hành động đã được thực thi.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B8A85-09ED-4611-A6E9-B04BA9E6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45AD5-453C-4AF3-9253-A117E753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MODEL → HARNESS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48433-1B8C-4B36-82BB-1A48DA86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6 / 20</a:t>
            </a:r>
          </a:p>
        </p:txBody>
      </p:sp>
    </p:spTree>
    <p:extLst>
      <p:ext uri="{BB962C8B-B14F-4D97-AF65-F5344CB8AC3E}">
        <p14:creationId xmlns:p14="http://schemas.microsoft.com/office/powerpoint/2010/main" val="14224524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C5AAAA-2F6C-4C9E-821A-CF3477A0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21DC2-2A68-4721-8417-F93FBD36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775" b="1">
                <a:solidFill>
                  <a:srgbClr val="101827"/>
                </a:solidFill>
              </a:rPr>
              <a:t>Harness biến model thành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856EB-9462-424E-A329-119E9A2D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FBCA5-52D3-4FB4-BD6F-57997EAC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950E6-A9B1-421A-9FAF-D91EAF2A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Phần mềm nằm giữa người dùng, model và môi trường làm việc.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F2670-A9B4-439E-82F1-351156C3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71650"/>
            <a:ext cx="8001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23813">
            <a:solidFill>
              <a:srgbClr val="6246B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71ACF-B8EC-4E12-92B1-37A965F5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85950"/>
            <a:ext cx="742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6246B5"/>
                </a:solidFill>
              </a:defRPr>
            </a:pPr>
            <a:r>
              <a:rPr sz="1425" b="1">
                <a:solidFill>
                  <a:srgbClr val="6246B5"/>
                </a:solidFill>
              </a:rPr>
              <a:t>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793D0-E4C8-4D6F-827C-0663EFA1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1250"/>
            <a:ext cx="2266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20ABA-EB4D-44FF-B7EB-F5962C52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955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Task /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004ED-CAF0-4660-ACD7-39260AC7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38450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Nhận yêu cầu · trả kết quả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E0CBC-24DF-4DBD-BC4E-A7EEDB1D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2266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E9AA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833CA-4A42-42A0-8F3D-72268FA6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955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E9AA7"/>
                </a:solidFill>
              </a:defRPr>
            </a:pPr>
            <a:r>
              <a:rPr sz="1350" b="1">
                <a:solidFill>
                  <a:srgbClr val="0E9AA7"/>
                </a:solidFill>
              </a:rPr>
              <a:t>Context builder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279DC-D30C-40A1-8CF0-BA34FCA6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38450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Lắp instructions · files ·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C597F-6800-47E7-82DC-14785201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2266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246B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273A2-9007-4392-835E-5FF79EBB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955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6246B5"/>
                </a:solidFill>
              </a:defRPr>
            </a:pPr>
            <a:r>
              <a:rPr sz="1350" b="1">
                <a:solidFill>
                  <a:srgbClr val="6246B5"/>
                </a:solidFill>
              </a:rPr>
              <a:t>Model interface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4E97-5056-4A25-8324-63F6346C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38450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Gửi request · nhận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CDFF1-E74E-4A6B-8F0E-B39187E5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81400"/>
            <a:ext cx="2266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770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069AF-A90F-4C86-81D6-2BF6364B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957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Tool controller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A1080-ED71-412D-8483-39C284C0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38600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3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Validate · chạy tool · thu kết quả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AC21C-ECC7-4201-B9D2-4919F3DD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81400"/>
            <a:ext cx="2266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E9AA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CA6B5-FE8C-4F6E-BA86-0ED131F2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957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E9AA7"/>
                </a:solidFill>
              </a:defRPr>
            </a:pPr>
            <a:r>
              <a:rPr sz="1350" b="1">
                <a:solidFill>
                  <a:srgbClr val="0E9AA7"/>
                </a:solidFill>
              </a:rPr>
              <a:t>Context manager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247F1-0FB4-437F-B835-97C4914C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38600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Append · prune · compact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BC511C-AA76-4E1A-ACF0-7DCB6BDA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2266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5240">
            <a:solidFill>
              <a:srgbClr val="33415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3FB7E-A502-4BF0-9104-E6BF8063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Session manager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F960D0-5CFF-43E9-829A-50FC5039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38600"/>
            <a:ext cx="203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5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Boundary · compact · restart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04F937-AE21-4BC1-93FA-1F7A7050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62600"/>
            <a:ext cx="3848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14288">
            <a:solidFill>
              <a:srgbClr val="0E9AA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0ECCE-3B6D-44F1-AF54-7A2B1641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388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9AA7"/>
                </a:solidFill>
              </a:defRPr>
            </a:pPr>
            <a:r>
              <a:rPr sz="1200" b="1">
                <a:solidFill>
                  <a:srgbClr val="0E9AA7"/>
                </a:solidFill>
              </a:rPr>
              <a:t>Cache strategy · ranh giới Harness ↔ Provider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A6BF4-39E6-425F-B4DC-A44CE525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43600"/>
            <a:ext cx="7048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6246B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C672F-DBEA-44C0-80E1-410BBC21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010275"/>
            <a:ext cx="666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6246B5"/>
                </a:solidFill>
              </a:defRPr>
            </a:pPr>
            <a:r>
              <a:rPr sz="1425" b="1">
                <a:solidFill>
                  <a:srgbClr val="6246B5"/>
                </a:solidFill>
              </a:rPr>
              <a:t>Harness quyết định gửi gì, gọi model khi nào và giữ lại điều gì.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9FC6AB-C2A0-4869-892D-3C388EC3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463D12-F15E-4774-AB14-76235080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HARNESS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0A96CE-313F-41C0-9D47-6F14E546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7 / 20</a:t>
            </a:r>
          </a:p>
        </p:txBody>
      </p:sp>
    </p:spTree>
    <p:extLst>
      <p:ext uri="{BB962C8B-B14F-4D97-AF65-F5344CB8AC3E}">
        <p14:creationId xmlns:p14="http://schemas.microsoft.com/office/powerpoint/2010/main" val="8486387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3D5D13-F521-407E-8153-6EC978C3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EA164-1330-4AF0-9AE0-94D25409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175" b="1">
                <a:solidFill>
                  <a:srgbClr val="101827"/>
                </a:solidFill>
              </a:rPr>
              <a:t>Context window là bộ nhớ làm việc của một lần gọi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478D1-945C-4B97-BB2A-2C07B728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BD0EE-BEDF-498B-8B22-8BD80781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EEBD0-5A3B-4239-9A48-F9EDF958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1120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Một ngân sách hữu hạn, nơi mọi phần của request cùng cạnh tranh không gian.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F08E5-2D64-4E82-9764-887D3469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104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778AB-E87E-4D13-9C04-6D32BD9B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895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93C55-F056-4298-B7F8-79FC504F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81200"/>
            <a:ext cx="114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0BE7D-6E4F-4716-8570-029E1B86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990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A61AE-BA6A-463A-B2A7-CD0D9473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81200"/>
            <a:ext cx="104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C0116-66B4-4596-9DE5-9D730854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895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B6D22-373A-458C-8B1E-3934338E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812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EF7B2-C705-4FBF-B5EE-BE9895AB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1847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4FA9B-2C51-4057-9026-16AE10BB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812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AA7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4E068-3CD0-4E35-BDDF-45693D5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56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6F43B-B28E-4FAE-8960-F097DC83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812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E3ECB-C5F5-492B-9ABE-FB1E4DAF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1657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Tool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8A691-9875-45DB-AD01-1A767430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812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9525">
            <a:solidFill>
              <a:srgbClr val="16845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13844-FA36-4A9C-A0B0-1678B03D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156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Output còn lại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94F14-66E0-4425-AA6E-7BECF89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0182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CD3BB-7C3F-408F-84ED-6C689C97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285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88E81-7435-493F-9C06-98C0D185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62300"/>
            <a:ext cx="1600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GIỚI HẠN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A621E-9A02-4138-AF56-AB0942B6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E9AA7"/>
                </a:solidFill>
              </a:defRPr>
            </a:pPr>
            <a:r>
              <a:rPr sz="1800" b="1">
                <a:solidFill>
                  <a:srgbClr val="0E9AA7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36ECCB-7570-40A4-9E8B-1999CBA1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Có giới hạn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21052-13D2-454F-8ED9-3CF73BA2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1000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E9AA7"/>
                </a:solidFill>
              </a:defRPr>
            </a:pPr>
            <a:r>
              <a:rPr sz="1800" b="1">
                <a:solidFill>
                  <a:srgbClr val="0E9AA7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F1F1D-D476-4CDA-95FA-7EFEAFCB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719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Input và output chia sẻ ngân sách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41399-6F86-4890-8373-4494B189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E9AA7"/>
                </a:solidFill>
              </a:defRPr>
            </a:pPr>
            <a:r>
              <a:rPr sz="1800" b="1">
                <a:solidFill>
                  <a:srgbClr val="0E9AA7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D595FD-BF5E-4D42-B011-A9E9D5F6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Nội dung không liên quan vẫn chiếm chỗ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657852-8CC9-472C-B7F4-E41C68B8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0000"/>
            <a:ext cx="53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E9AA7"/>
                </a:solidFill>
              </a:defRPr>
            </a:pPr>
            <a:r>
              <a:rPr sz="1800" b="1">
                <a:solidFill>
                  <a:srgbClr val="0E9AA7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5DB396-78FC-417C-9B6C-3590AE43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719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History có thể được mang qua nhiều lần gọi model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B2116F-CD92-46B4-98FD-65FEE4DC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14950"/>
            <a:ext cx="7772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6246B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E643B4-7E02-4EB0-9972-125B0769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81625"/>
            <a:ext cx="739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88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6246B5"/>
                </a:solidFill>
              </a:defRPr>
            </a:pPr>
            <a:r>
              <a:rPr sz="1650" b="1">
                <a:solidFill>
                  <a:srgbClr val="6246B5"/>
                </a:solidFill>
              </a:rPr>
              <a:t>Nhiều context hơn không mặc định đồng nghĩa với nhiều hiểu biết hơn.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0F36D7-CB58-4376-BC9A-D8EDCED4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1120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275" b="0" i="1">
                <a:solidFill>
                  <a:srgbClr val="64748B"/>
                </a:solidFill>
              </a:rPr>
              <a:t>Bộ nhớ của một lần gọi model không phải bộ nhớ dài hạn bền vững.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8A4335-5459-43B0-9DFD-310DF8A3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8AFA36-F860-4847-AB77-C95D4E35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CONTEXT WINDOW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A68B9B-BE6D-4874-92A7-1E9EB2BF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8 / 20</a:t>
            </a:r>
          </a:p>
        </p:txBody>
      </p:sp>
    </p:spTree>
    <p:extLst>
      <p:ext uri="{BB962C8B-B14F-4D97-AF65-F5344CB8AC3E}">
        <p14:creationId xmlns:p14="http://schemas.microsoft.com/office/powerpoint/2010/main" val="1133966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DEAAEC-1FB1-4042-A520-B46A3AF0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CACHE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25DE7-9E8F-48D5-85F6-F095C04E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325" b="1">
                <a:solidFill>
                  <a:srgbClr val="101827"/>
                </a:solidFill>
              </a:rPr>
              <a:t>Cache giúp giảm chi phí cho nội dung được sử dụng lại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989AD-9089-4B29-911E-7DC06D93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4CF5D-5A44-4159-9CDB-48A660AD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14468-B1B4-44AB-907C-C3DF68EF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LẦN GỌI MODEL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620C9-2730-4F8D-8469-17C0A818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5BD50-B244-4432-BC9C-D97AECFE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466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</a:rPr>
              <a:t>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4086F-07AB-42F5-BC9F-2F06F5EB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526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5CDAA-CF76-4E52-A4C4-4F80FB01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57375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</a:rPr>
              <a:t>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A66D1-38C6-4819-83DE-114CB1C5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526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D35DE-94D0-4F89-A641-76F06381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57375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</a:rPr>
              <a:t>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DD260-9D84-40E0-B3E4-4BEF1428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8128A-1D90-4618-BE5B-55449D71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57375"/>
            <a:ext cx="2324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</a:rPr>
              <a:t>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F5B7F-CE07-48D0-A452-FB86C41B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526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E63BA-0FC7-4F41-BB86-21EB7E53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57375"/>
            <a:ext cx="1943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User message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7DD52-1CAA-4652-8BCE-8DDE6012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66900"/>
            <a:ext cx="1676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40DCE-2411-4A23-9F6C-1FB34D86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85950"/>
            <a:ext cx="148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Xử lý mới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11762-74F5-4BAB-B059-2E68C625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LẦN GỌI MODEL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7E340-B47F-4ED4-B071-7B8E355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B13FA-B9DA-4448-80D1-B0DA2511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1466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9AA7"/>
                </a:solidFill>
              </a:defRPr>
            </a:pPr>
            <a:r>
              <a:rPr sz="1200" b="1">
                <a:solidFill>
                  <a:srgbClr val="0E9AA7"/>
                </a:solidFill>
              </a:rPr>
              <a:t>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64D9E-4000-4632-BDC8-8471D5B0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527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6B641-2DC1-4DD5-9117-9744AD15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57525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9AA7"/>
                </a:solidFill>
              </a:defRPr>
            </a:pPr>
            <a:r>
              <a:rPr sz="1200" b="1">
                <a:solidFill>
                  <a:srgbClr val="0E9AA7"/>
                </a:solidFill>
              </a:rPr>
              <a:t>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338D0-2858-4AB9-89F3-B7162CAC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0B6FAD-C550-4A88-BE39-EB55243B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57525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9AA7"/>
                </a:solidFill>
              </a:defRPr>
            </a:pPr>
            <a:r>
              <a:rPr sz="1200" b="1">
                <a:solidFill>
                  <a:srgbClr val="0E9AA7"/>
                </a:solidFill>
              </a:rPr>
              <a:t>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D1B64-2F9C-439C-A529-8A76DDF9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527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EE7A4-5318-415A-B988-C12AAA5A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57525"/>
            <a:ext cx="2324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9AA7"/>
                </a:solidFill>
              </a:defRPr>
            </a:pPr>
            <a:r>
              <a:rPr sz="1200" b="1">
                <a:solidFill>
                  <a:srgbClr val="0E9AA7"/>
                </a:solidFill>
              </a:rPr>
              <a:t>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ACBC80-C11C-46CD-9C70-9F27C735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90D835-FE35-49CC-9A18-9E130717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2228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Tool result mới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EB9E9E-1A33-4E7A-BC6F-3215325B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16764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1B6CD4-70DC-4715-96DD-AB0AE355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0"/>
            <a:ext cx="148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E9AA7"/>
                </a:solidFill>
              </a:defRPr>
            </a:pPr>
            <a:r>
              <a:rPr sz="1125" b="1">
                <a:solidFill>
                  <a:srgbClr val="0E9AA7"/>
                </a:solidFill>
              </a:rPr>
              <a:t>Cache hit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1F3FA4-319D-4E36-B714-4C1CC3A7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695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275" b="1">
                <a:solidFill>
                  <a:srgbClr val="0E9AA7"/>
                </a:solidFill>
              </a:rPr>
              <a:t>Nội dung được sử dụng lại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7E4E0B-2D61-49C1-BB8E-EE834D85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69532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E9AA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A821BB-A149-4859-82EC-DE61155F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342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412C14-E38B-4D85-B458-760DCEFC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1025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GPT-5.6 Terra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115273-27EA-471D-A30A-090DC8E6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43400"/>
            <a:ext cx="139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793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1">
                <a:solidFill>
                  <a:srgbClr val="0E9AA7"/>
                </a:solidFill>
              </a:defRPr>
            </a:pPr>
            <a:r>
              <a:rPr sz="1650" b="1">
                <a:solidFill>
                  <a:srgbClr val="0E9AA7"/>
                </a:solidFill>
              </a:rPr>
              <a:t>$2.00 → $0.20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A13D13-C3EB-48BE-9A8D-6CAB5B61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3105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input → cached input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813200-3DFE-4B33-98BB-C13E865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86250"/>
            <a:ext cx="342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C6F307-1782-44EC-B1C7-1BF99E33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91025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Claude Sonnet 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26A554-7729-4E0B-9988-C9AABC62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139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793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1">
                <a:solidFill>
                  <a:srgbClr val="0E9AA7"/>
                </a:solidFill>
              </a:defRPr>
            </a:pPr>
            <a:r>
              <a:rPr sz="1650" b="1">
                <a:solidFill>
                  <a:srgbClr val="0E9AA7"/>
                </a:solidFill>
              </a:rPr>
              <a:t>$2.00 → $0.20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F2F7AC-E6DB-45AD-ACD8-9D7FC201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3105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input → cached input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004A55-D90C-4146-A624-B08F0181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86250"/>
            <a:ext cx="342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CBD470-DCB1-4AEC-A3CA-E53F862E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91025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Gemini 3.5 Flash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115464-FA8E-4086-B1C0-0FD356CD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43400"/>
            <a:ext cx="1390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793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1">
                <a:solidFill>
                  <a:srgbClr val="0E9AA7"/>
                </a:solidFill>
              </a:defRPr>
            </a:pPr>
            <a:r>
              <a:rPr sz="1650" b="1">
                <a:solidFill>
                  <a:srgbClr val="0E9AA7"/>
                </a:solidFill>
              </a:rPr>
              <a:t>$1.50 → $0.15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4A73CD-68F2-47A4-A68D-060CA687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86300"/>
            <a:ext cx="3105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input → cached input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0EC6FF-B40F-4D0C-8BE1-A0F69A8B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9258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6246B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D52434-6CDA-4715-81FC-05F7E1FF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00675"/>
            <a:ext cx="887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6246B5"/>
                </a:solidFill>
              </a:defRPr>
            </a:pPr>
            <a:r>
              <a:rPr sz="1350" b="1">
                <a:solidFill>
                  <a:srgbClr val="6246B5"/>
                </a:solidFill>
              </a:rPr>
              <a:t>Cache giảm chi phí cho phần được sử dụng lại; tối ưu context loại bỏ phần không cần thiết.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7B9302-7B9D-4140-88F8-F6397E13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7900"/>
            <a:ext cx="11201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64748B"/>
                </a:solidFill>
              </a:defRPr>
            </a:pPr>
            <a:r>
              <a:rPr sz="975" b="0" i="1">
                <a:solidFill>
                  <a:srgbClr val="64748B"/>
                </a:solidFill>
              </a:rPr>
              <a:t>Giá, TTL, cache-write và storage cost phụ thuộc provider · snapshot 18/08/2026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6DC79C-E55B-4FD6-AFFA-55559E85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84FA39-6CA4-4399-8D03-714DA828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CACHE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07FF92-97C9-49BD-9E76-A1DBBD99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9 / 20</a:t>
            </a:r>
          </a:p>
        </p:txBody>
      </p:sp>
    </p:spTree>
    <p:extLst>
      <p:ext uri="{BB962C8B-B14F-4D97-AF65-F5344CB8AC3E}">
        <p14:creationId xmlns:p14="http://schemas.microsoft.com/office/powerpoint/2010/main" val="4879756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E9FC0A-C83D-4821-ACF3-84E14BBC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78AE9-D4AA-4140-8D4B-CA18EF1C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325" b="1">
                <a:solidFill>
                  <a:srgbClr val="101827"/>
                </a:solidFill>
              </a:rPr>
              <a:t>Điều gì xảy ra sau khi người dùng gửi yêu cầu?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6CA82-1997-4EE7-A974-F269FBC3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4C289-A5B4-4CB7-8F68-1C6A4A5A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D486C-1AE6-4E03-82FD-05B05BDA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80010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E9AA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771DF-300B-48DF-BFF6-11B7BAE6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7810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341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7B97E-C9CC-495E-9F9A-37D55E45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90900"/>
            <a:ext cx="4762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3415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852C1-87AA-40F9-AB74-29B9032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86025"/>
            <a:ext cx="100965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46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FEE14-7B43-46FD-B7FE-17882415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71900"/>
            <a:ext cx="953" cy="7048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E9AA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214F9-698E-43BA-887C-BE599A8C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57750"/>
            <a:ext cx="17335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1611D-5E8C-4F51-8E85-EDF8727C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953" cy="5524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7ADCB-0665-460E-AC42-BAE3ECC8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95400"/>
            <a:ext cx="953" cy="8763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46B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42259-AE49-435A-8297-066AF25D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95400"/>
            <a:ext cx="90106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46B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1BC8F-3A90-49CB-9DD8-F2FD472A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95400"/>
            <a:ext cx="953" cy="15430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46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4A894-0660-469A-AAB6-0944143A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384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C1302-88C4-429A-A0AE-44038DA5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838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  <a:hlinkClick xmlns:r="http://schemas.openxmlformats.org/officeDocument/2006/relationships" r:id="R9d5d55b1144943cf" action="ppaction://hlinksldjump"/>
              </a:rPr>
              <a:t>USER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  <a:hlinkClick xmlns:r="http://schemas.openxmlformats.org/officeDocument/2006/relationships" r:id="R5e1e6dad096c4b16" action="ppaction://hlinksldjump"/>
              </a:rPr>
              <a:t>/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1660C-AFFE-46E9-BE6B-22240648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7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9AA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B1ED1-A508-416F-B72E-3E9D0773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908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35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  <a:hlinkClick xmlns:r="http://schemas.openxmlformats.org/officeDocument/2006/relationships" r:id="Rc93c2cf5bde74529" action="ppaction://hlinksldjump"/>
              </a:rPr>
              <a:t>Harness builds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752D9-FDA1-462D-B05B-7033EB26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52800"/>
            <a:ext cx="1581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instructions · tools ·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45F41-2A60-43B3-97D7-70A68D23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246B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9A101-30BA-486B-B6BA-7BAE45F7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908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  <a:hlinkClick xmlns:r="http://schemas.openxmlformats.org/officeDocument/2006/relationships" r:id="R55f2e7d4ad0d4913" action="ppaction://hlinksldjump"/>
              </a:rPr>
              <a:t>Lần gọi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A15297-66EF-4BC0-948F-0E8F4E4D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1581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phản hồi hoặc yêu cầu gọi tool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5D9BA-4705-49FD-9336-CF87F93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09900"/>
            <a:ext cx="762000" cy="762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17145">
            <a:solidFill>
              <a:srgbClr val="6246B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7D4A0-882E-4B6A-98CA-DF5D23EF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52775"/>
            <a:ext cx="57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61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1827"/>
                </a:solidFill>
              </a:defRPr>
            </a:pPr>
            <a:r>
              <a:rPr sz="1050" b="1">
                <a:solidFill>
                  <a:srgbClr val="101827"/>
                </a:solidFill>
                <a:hlinkClick xmlns:r="http://schemas.openxmlformats.org/officeDocument/2006/relationships" r:id="R35d894e5d89f4e46" action="ppaction://hlinksldjump"/>
              </a:rPr>
              <a:t>Cần gọi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1827"/>
                </a:solidFill>
              </a:defRPr>
            </a:pPr>
            <a:r>
              <a:rPr sz="1050" b="1">
                <a:solidFill>
                  <a:srgbClr val="101827"/>
                </a:solidFill>
                <a:hlinkClick xmlns:r="http://schemas.openxmlformats.org/officeDocument/2006/relationships" r:id="R1cb97473d5f544e7" action="ppaction://hlinksldjump"/>
              </a:rPr>
              <a:t>tool?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A11BA6-0263-41B9-B942-D893FCC8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764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E4FA"/>
          </a:solidFill>
          <a:ln xmlns:a="http://schemas.openxmlformats.org/drawingml/2006/main" w="9525">
            <a:solidFill>
              <a:srgbClr val="A99BD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0DB0F-71E8-466A-A7F7-4AC87977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09775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8F7AC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9A6331-4D63-4D2A-A960-A1752243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246B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79F991-EA77-4F56-99F9-C5F3168F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1866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Final response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8E9686-3CAD-408F-AB85-E9EB96E5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38400"/>
            <a:ext cx="1866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kết thúc user turn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F6DFB3-60B6-4B7E-8A1B-B418C338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2476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19050">
            <a:solidFill>
              <a:srgbClr val="0E9AA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9A26A7-EBB9-4117-BBDB-ACF3E419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247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  <a:hlinkClick xmlns:r="http://schemas.openxmlformats.org/officeDocument/2006/relationships" r:id="Rcb35009c726f41de" action="ppaction://hlinksldjump"/>
              </a:rPr>
              <a:t>Tool / Environment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CBD7BC-BEF8-463F-BDB3-393A6888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2247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file · code · API ·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E19359-5DAC-484D-8258-DA8209FC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236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9E4FA"/>
          </a:solidFill>
          <a:ln xmlns:a="http://schemas.openxmlformats.org/drawingml/2006/main" w="9525">
            <a:solidFill>
              <a:srgbClr val="A99BD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A33BA2-0EEB-4465-A28A-30F2D74D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43425"/>
            <a:ext cx="236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8F7AC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EB470D-9A46-410C-9307-75274460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76750"/>
            <a:ext cx="2362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39279A-F9DC-45DD-AA9E-C8043FAA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78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Append result vào context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ABD489-467D-426C-ABBD-5D20CE06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213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giữ lại phần cần thiết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3EAC37-17CB-4C55-BDEF-E3BB6B2A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05450"/>
            <a:ext cx="3714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B8E2E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71B827-529F-403A-99F5-F3F5806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3524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  <a:hlinkClick xmlns:r="http://schemas.openxmlformats.org/officeDocument/2006/relationships" r:id="R1057faaac8d34667" action="ppaction://hlinksldjump"/>
              </a:rPr>
              <a:t>Vòng tool có thể lặp nhiều lần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4B990E-BC2B-4683-99CF-CCD0DEA0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626A97-C2B8-40BD-A860-7C9A2E4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LIFECYCLE · CHỌN NODE / CẠNH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A9DDBC-6A1B-4039-955D-3AB6D72F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18199015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4EE953-2FD8-405C-8EA1-D4859D67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NGUYÊN NHÂN → 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19627-37ED-445F-8DBD-979581BF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325" b="1">
                <a:solidFill>
                  <a:srgbClr val="101827"/>
                </a:solidFill>
              </a:rPr>
              <a:t>Yêu cầu đầu vào quyết định số vòng lặp phía sau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86203-3608-42B1-AFBE-B302D368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8A61B-79F4-40AF-BFDD-99854128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0890A-DBBF-4632-A2D3-29522C3B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D2CFB-DF79-470B-8133-4594FB8F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USER /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AC475-D484-4EC3-BE39-ED9BBCCC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43C4E"/>
                </a:solidFill>
              </a:defRPr>
            </a:pPr>
            <a:r>
              <a:rPr sz="1275" b="1">
                <a:solidFill>
                  <a:srgbClr val="C43C4E"/>
                </a:solidFill>
              </a:rPr>
              <a:t>NGUYÊN NHÂN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4AD97-A061-46CF-9845-8A0011B5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01366-FCBB-40DC-9922-5B9DCE0F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Gộp nhiều việc không liên quan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17BF6-A086-4EF4-A894-824FE61E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40284-CA8C-41C9-A4E9-D5ED289B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Không nêu điều kiện hoàn thành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C2B78-48EB-45F8-94C6-667809DB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1C299-FA6D-47E4-8F16-0368E7CF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Ràng buộc quan trọng xuất hiện muộn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4B9A1-CEC3-4FE5-B923-D512B3A3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3A40A-F450-4272-94C0-732A9703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Dán cả file hoặc toàn bộ 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F01AC-580B-498D-AC0A-913FAB4D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F5078-FF59-4EC0-A2C3-E7CDE150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Yêu cầu model dự đoán kết quả có thể kiểm tra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363F1-E84C-4790-B8F2-49505D91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953" cy="2933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73060-3FD4-4E36-8EAC-E6804AE9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GIẢI PHÁP ƯU TIÊN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E3ECE-93DD-46A7-AE3B-EBAF58FC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C2559-0DB9-4180-A6E0-9258596C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17F6C-FDED-422B-8EDB-05D74EEE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Một task cho một phiên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2C699-40F6-474A-BE59-53F7CBC5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1A56F8-27FB-4E57-982E-E53CD473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4DB34-8A44-4F41-B0EF-CF004D51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Nêu phạm vi và điều kiện hoàn thành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80FB5-B1B0-4E86-BB9C-82CDBA3C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C506FF-978F-4733-A58A-C99FF31C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B401C-DBCD-4160-A639-74A8B7BB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Chỉ đúng file hoặc symbol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700E20-02A3-4D8D-A356-CD2A60E0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3CF79-CB53-44A6-80E2-A5F07FA3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4E7DA1-6F96-47B7-A19D-B2C11D71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766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Đưa ràng buộc ngay từ đầu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E0D51A-7E5E-44B4-8FCD-E24B3726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052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5726CE-8E10-4E6F-A9B2-9CF77557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56AEB8-8D7C-41F3-A8E1-3FFACC84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766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Chạy compiler/test thay vì yêu cầu model dự đoán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B204B0-6A73-4D2B-9F2C-E415999B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C43C4E"/>
                </a:solidFill>
              </a:defRPr>
            </a:pPr>
            <a:r>
              <a:rPr sz="975" b="1">
                <a:solidFill>
                  <a:srgbClr val="C43C4E"/>
                </a:solidFill>
              </a:rPr>
              <a:t>BEFORE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7FD481-C177-4CED-830D-1B18CDFA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441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9525">
            <a:solidFill>
              <a:srgbClr val="F3B6B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DCA562-BDA5-40FB-9003-A0AE744A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9675"/>
            <a:ext cx="40767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“Sửa auth, tiện thể refactor module và bổ sung test.”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DFA056-39C3-4397-8000-A1B0FC7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10150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845B"/>
                </a:solidFill>
              </a:defRPr>
            </a:pPr>
            <a:r>
              <a:rPr sz="975" b="1">
                <a:solidFill>
                  <a:srgbClr val="16845B"/>
                </a:solidFill>
              </a:rPr>
              <a:t>AFTER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2557A3-9FD5-438C-9DCD-AD22D12F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53000"/>
            <a:ext cx="487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A7DEC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ED9F77-535B-4D5C-B5A8-5597A912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9675"/>
            <a:ext cx="45339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27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“Sửa refresh token trong src/auth/session.ts. Không thêm dependency. Xong khi test auth chạy qua.”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0D803B-908A-4D8A-AB89-B60909EA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857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6246B5"/>
                </a:solidFill>
              </a:defRPr>
            </a:pPr>
            <a:r>
              <a:rPr sz="1275" b="1">
                <a:solidFill>
                  <a:srgbClr val="6246B5"/>
                </a:solidFill>
              </a:rPr>
              <a:t>Yêu cầu càng rõ, agent càng ít phải tìm lại, hỏi lại và sửa lại.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3C690C-519C-472F-BBCF-3C869636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48350"/>
            <a:ext cx="21526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6246B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9EE799-FFE2-4233-B7DB-BACD0B4D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15025"/>
            <a:ext cx="192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  <a:hlinkClick xmlns:r="http://schemas.openxmlformats.org/officeDocument/2006/relationships" r:id="R70759fa731d2481f" action="ppaction://hlinksldjump"/>
              </a:rPr>
              <a:t>← Quay lại vòng đời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AEC59A-438A-4732-B6F0-6A6A5251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88690C-849F-407A-93B3-C40F2292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USER / TASK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97D1E4-BEAC-445D-917A-198E2A2E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585454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C3ED84-ABB7-458D-A157-741F6532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NGUYÊN NHÂN → 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32406-C0B1-46C7-9307-4AC7707B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325" b="1">
                <a:solidFill>
                  <a:srgbClr val="101827"/>
                </a:solidFill>
              </a:rPr>
              <a:t>Những gì client đưa vào context đều trở thành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CFC16-BE9B-4970-9516-EC0937A1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44BA3-FE07-4CC3-B0B7-3E5F8EDD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9502A-EC4C-4B27-BB87-5781560A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ED95B-2DA4-4F9B-86EC-5FDCB4F9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200" b="1">
                <a:solidFill>
                  <a:srgbClr val="0E9AA7"/>
                </a:solidFill>
              </a:rPr>
              <a:t>BUILD CONTEXT /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B74DA-AF51-40C2-AF24-C36C0D17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43C4E"/>
                </a:solidFill>
              </a:defRPr>
            </a:pPr>
            <a:r>
              <a:rPr sz="1275" b="1">
                <a:solidFill>
                  <a:srgbClr val="C43C4E"/>
                </a:solidFill>
              </a:rPr>
              <a:t>NGUYÊN NHÂN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7B625-3AD3-47AE-BA11-AB18A9C3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7486A-778C-4239-AC9F-2292A38E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Phiên kéo dài qua nhiều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ED72D-CF8C-449A-BB28-1ECB4889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3FB6F-07C3-4C79-BAAB-AC715CBC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Dùng cùng phiên cho các việc ít liên quan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EA7F8-DCA9-41EC-BF63-6F4F14B7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4D037-6A5D-4B4A-A5C0-20DE0593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Instruction files dài hoặc trùng lặp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FEF8E-D627-42B3-8397-0F9EEF14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B49DE-481D-466E-895F-00D8DBA6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Bật nhiều tool hoặc MCP không dùng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7892B-64C9-4703-B535-2367EA22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79FAE-C2DA-40DE-A3CB-4706FAF2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Giữ kết quả tool đã cũ trong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C8F5A-882A-413A-8F10-8B52389F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953" cy="2933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4A5B9-0702-468E-A3E0-6D5BEAA0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E9AA7"/>
                </a:solidFill>
              </a:defRPr>
            </a:pPr>
            <a:r>
              <a:rPr sz="1275" b="1">
                <a:solidFill>
                  <a:srgbClr val="0E9AA7"/>
                </a:solidFill>
              </a:rPr>
              <a:t>GIẢI PHÁP ƯU TIÊN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4E48B-587F-4BEF-BA8E-36CCAAFD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AA7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8CD66-9013-4D19-908D-61A86EC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274BD-BA95-48B7-B56F-24DCAF2C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Mở phiên mới khi đổi sang task ít liên quan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2FC4D-79B6-4A63-9FF7-0BF1E3DA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AA7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4BB17-C5F9-428E-AAA4-7E140C4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00C1DE-21CC-497D-ADA1-A775E431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Giữ instruction files ngắn, bỏ phần trùng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18E33-AB0E-4F88-93BE-3A7E3C7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AA7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5670CB-4468-4DDD-93B0-F71C1646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6996B-246A-42CC-9710-00D4B83E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Tắt tool và MCP không dùng trong task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DB27F6-80C8-4265-B32C-927CB5D0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AA7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FC1901-0EEC-47FE-B981-B8011C91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CBC03B-2996-46E1-9EBA-DB376690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766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Compact tại ranh giới công việc rõ ràng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FEE5EA-7F04-4B42-A3D3-1E5A5F54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052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AA7"/>
          </a:solidFill>
          <a:ln xmlns:a="http://schemas.openxmlformats.org/drawingml/2006/main" w="9525">
            <a:solidFill>
              <a:srgbClr val="0E9AA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1EAB6C-CB77-466B-A959-9844B7D7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438107-A329-4A47-B63F-1445EB55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766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Lưu kết quả quan trọng vào file trước restart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BCEDFF-B03F-44DF-B6DC-714DD07C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11201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14288">
            <a:solidFill>
              <a:srgbClr val="B8E2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A83D65-51E1-41BB-878D-BFC360B2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1074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E9AA7"/>
                </a:solidFill>
              </a:defRPr>
            </a:pPr>
            <a:r>
              <a:rPr sz="1275" b="1">
                <a:solidFill>
                  <a:srgbClr val="0E9AA7"/>
                </a:solidFill>
              </a:rPr>
              <a:t>Phiên cũ + rules dài + tool không dùng  →  được gửi lại ở nhiều lần gọi model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9A1C77-2E0C-4AC9-B0FF-0C8F76BB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246B5"/>
                </a:solidFill>
              </a:defRPr>
            </a:pPr>
            <a:r>
              <a:rPr sz="1275" b="1">
                <a:solidFill>
                  <a:srgbClr val="6246B5"/>
                </a:solidFill>
              </a:rPr>
              <a:t>Ưu tiên dọn những phần client có thể kiểm soát.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9DC34F-F253-47CD-A728-133DE8F5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48350"/>
            <a:ext cx="21526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6246B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08D01F-0BC3-4A38-8808-1E5C85C5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15025"/>
            <a:ext cx="192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  <a:hlinkClick xmlns:r="http://schemas.openxmlformats.org/officeDocument/2006/relationships" r:id="R5fc1a2ca5fb9440c" action="ppaction://hlinksldjump"/>
              </a:rPr>
              <a:t>← Quay lại vòng đời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1795BB-CF41-45C5-A645-1967B5F2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97FCAC-A52D-4926-B1D6-AAECEAED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BUILD CONTEXT / CLIENT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6148DE-6C73-4A81-AAB7-2E41FF4D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3761488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2D5E37-4124-430A-8205-F8BB6EB0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NGUYÊN NHÂN → 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42E43-E54B-403E-B690-2C0D4E85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100" b="1">
                <a:solidFill>
                  <a:srgbClr val="101827"/>
                </a:solidFill>
              </a:rPr>
              <a:t>Ở lần gọi model, lãng phí đến từ cả phạm vi xây dựng và độ dài câu trả lời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04D57-40DB-4D03-AFC5-8ECB7EDB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8D4CF-7499-4010-8D73-D2B772D7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1A728-F9FC-4803-8853-ACB19E94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4AE55-8355-430A-95E0-0BECF03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</a:rPr>
              <a:t>LẦN GỌI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EA756-94D0-4F13-97E5-6FE7E2A0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43C4E"/>
                </a:solidFill>
              </a:defRPr>
            </a:pPr>
            <a:r>
              <a:rPr sz="1275" b="1">
                <a:solidFill>
                  <a:srgbClr val="C43C4E"/>
                </a:solidFill>
              </a:rPr>
              <a:t>NGUYÊN NHÂN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0CCD2-A0EB-4C3B-90D1-83D27437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B4D62-E8E0-416F-817A-29CF486D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Task cho phép agent thay đổi quá rộng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F7762-EA3D-4237-B5A3-04024373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A3D79-1858-446A-A3A2-214D5C3C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Không giới hạn loại thay đổi hoặc abstraction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C0C4E-FD4E-4789-AF17-27D9043C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2AB0E-D1FF-45CF-9C0C-552DD011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Yêu cầu đầu ra không nói rõ độ dài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624B0-85BF-4DE9-9282-38C6B8B7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2741C-06E9-4F71-B9DF-3057BA2D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Agent tường thuật quá nhiều tiến độ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F88C5-9755-4004-ADA0-065CC751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953" cy="2933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BA482-DD12-451E-BFB3-01FD9E8B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46B5"/>
                </a:solidFill>
              </a:defRPr>
            </a:pPr>
            <a:r>
              <a:rPr sz="1275" b="1">
                <a:solidFill>
                  <a:srgbClr val="6246B5"/>
                </a:solidFill>
              </a:rPr>
              <a:t>GIẢI PHÁP ƯU TIÊN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9B0DB-BAE4-4EAF-8C08-8DA4EAEA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2501C-9ADD-414D-8DC3-EA48154F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CDC4A-39E4-4376-8CA4-59420117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Ponytail: hạn chế xây vượt phạm vi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6D9F4A-3E0A-4DAC-AE7F-6C309DD8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AABA1-C99A-4043-8C11-A9DF2A21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E5B1AB-BFDF-48ED-98F4-FA7167AD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Caveman (skill): rút gọn phần diễn giải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6D6B8-7731-4F49-96B0-3775CDFB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E0ADB-6633-4929-A96F-4E389F6C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746FEF-7AD9-46DA-B17E-A6F49AA1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Đặt yêu cầu đầu ra rõ ràng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ED8F1-8DCB-44C1-A8F6-DEBEDFA6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9AB608-BA85-4F55-9652-FBD0598E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7F2F45-3104-41BB-B8E9-AA68A2D1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766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Yêu cầu diff hoặc patch thay vì in cả 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F41C33-5029-4D2C-A7A2-6428291F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052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4FAAE3-05ED-45B1-BBCF-59C77EF2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2F8AC1-6B02-42C1-97AD-000AD580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766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75" b="0">
                <a:solidFill>
                  <a:srgbClr val="101827"/>
                </a:solidFill>
              </a:rPr>
              <a:t>Chọn output cap/verbosity theo loại task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A2A118-E79C-46E2-BE2B-B072F593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514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11430">
            <a:solidFill>
              <a:srgbClr val="F3B6B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8E7F91-4AE8-493D-8EFA-0FC342A6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4724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C43C4E"/>
                </a:solidFill>
              </a:defRPr>
            </a:pPr>
            <a:r>
              <a:rPr sz="1275" b="1">
                <a:solidFill>
                  <a:srgbClr val="C43C4E"/>
                </a:solidFill>
              </a:rPr>
              <a:t>PONYTAIL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C43C4E"/>
                </a:solidFill>
              </a:defRPr>
            </a:pPr>
            <a:r>
              <a:rPr sz="1275" b="1">
                <a:solidFill>
                  <a:srgbClr val="C43C4E"/>
                </a:solidFill>
              </a:rPr>
              <a:t>Giới hạn phần agent xây dựng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616AD6-A13B-4DCA-BF7A-D23B5EDA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67325"/>
            <a:ext cx="857250" cy="95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3415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94EBC1-29DF-4E70-9E11-79A72538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33950"/>
            <a:ext cx="514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1430">
            <a:solidFill>
              <a:srgbClr val="F0C47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D1AA9C-9636-49FB-BF33-19EAD9F5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67300"/>
            <a:ext cx="4724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CAVEMAN (SKILL)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Giảm prose trong đầu ra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FF40A5-8293-4E86-AF1C-6B173F57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</a:rPr>
              <a:t>Ponytail và Caveman cùng tác động tại node lần gọi model, nhưng giải quyết hai vấn đề khác nhau.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5A5C53-D0D9-46ED-AD41-D4195314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48350"/>
            <a:ext cx="21526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6246B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885051-9CCC-4112-98B7-2A8DBC88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15025"/>
            <a:ext cx="192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  <a:hlinkClick xmlns:r="http://schemas.openxmlformats.org/officeDocument/2006/relationships" r:id="Rc7c27bf5632a4f70" action="ppaction://hlinksldjump"/>
              </a:rPr>
              <a:t>← Quay lại vòng đời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13A359-0A59-4CAB-BA4B-E56489BD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83021E-30EC-401E-9F5F-DA688224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LẦN GỌI MODEL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0A7C1D-41D7-4188-B732-13193FE7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8537359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B5471C-BC7C-4F26-A7DC-AC917A36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NGUYÊN NHÂN → 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3C1E3-751A-4994-A468-0D103A72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325" b="1">
                <a:solidFill>
                  <a:srgbClr val="101827"/>
                </a:solidFill>
              </a:rPr>
              <a:t>Chọn sai cách tìm code làm tăng số vòng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364B7-223D-46E6-A6CB-F611C3C8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92350-57EE-402D-8A5B-8BE25275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66968-EEF2-4446-BDC6-68288389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4D914-9B8E-4DB1-B46D-1ED3434F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CẦN GỌI TOOL? → TOOL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19E0D-83A0-48B1-9CE1-E3536BCD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43C4E"/>
                </a:solidFill>
              </a:defRPr>
            </a:pPr>
            <a:r>
              <a:rPr sz="1275" b="1">
                <a:solidFill>
                  <a:srgbClr val="C43C4E"/>
                </a:solidFill>
              </a:rPr>
              <a:t>NGUYÊN NHÂN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82C84-99E0-4F03-93A3-EAE42342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C74A9-D406-4B35-BA5E-7D22D12A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Agent tìm file bằng nhiều vòng search/read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E20B7-C6C4-4FD6-B2D5-B792E176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541D1-0EA3-489E-99BC-2ECB437E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Không biết caller, callee hoặc symbol liên quan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AC1A6-0C73-4160-A3A7-215FA76F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64009-2437-45BF-BE50-E9ECD203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Repo lớn, cùng câu hỏi phải đọc nhiều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0642B-7252-486D-81E3-45E9350D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D095D-90DC-4251-971B-5BBD0C9E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Tìm theo từ khóa trả quá nhiều kết quả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5681F-0B42-4528-9731-2D1E9B34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3FD80-F059-477D-811E-8C44A3E6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Đọc nguyên file chỉ để xác định luồng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C787D7-36AD-4AB4-B3DC-F40F474B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953" cy="2933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5B07D-950D-4E9B-88EE-61D17C0C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GIẢI PHÁP ƯU TIÊN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61FCF-2BB2-4BB6-9377-3E885ECC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3B5BF-980B-4C53-A235-898F244D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FCBCC-CDB7-4B2E-9179-C7DDB30E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CodeGraph: xem quan hệ symbol, caller và impact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E81FF-7F21-4199-AA23-C21C37C6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15032-C451-4CF7-A90F-C1F7B5F2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BC2E3-AF11-4964-BD41-46FA33F5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Chỉ đúng file hoặc symbol nếu đã biết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6043B1-8D15-45F5-82B8-268068E3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83151-ECCF-457D-8DB9-C0C3A556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128417-E80C-4ED1-979B-EF8C6A65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Thu hẹp search trước khi đọc 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D6E316-CDE9-40EC-A353-1F349589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FA772E-5158-40ED-A749-8FCB66D3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DA21B-AE6E-46BB-BFDE-7794D9D4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766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Dùng compiler/test cho kết quả tất định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2B8041-68C7-4D14-A2AF-F6C44313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052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86D23D-C4E4-4FF6-9F0D-9A38E9DC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1FD9D4-BA5A-49FA-BADA-94516B7C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766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Không cần CodeGraph cho repo nhỏ hoặc code động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8285A2-8C2E-4C92-8782-17A2FB17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4514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11430">
            <a:solidFill>
              <a:srgbClr val="F3B6B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89DA5C-575F-457B-8252-B276C2C5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133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C43C4E"/>
                </a:solidFill>
              </a:defRPr>
            </a:pPr>
            <a:r>
              <a:rPr sz="1275" b="1">
                <a:solidFill>
                  <a:srgbClr val="C43C4E"/>
                </a:solidFill>
              </a:rPr>
              <a:t>SEARCH / 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C43C4E"/>
                </a:solidFill>
              </a:defRPr>
            </a:pPr>
            <a:r>
              <a:rPr sz="1275" b="1">
                <a:solidFill>
                  <a:srgbClr val="C43C4E"/>
                </a:solidFill>
              </a:rPr>
              <a:t>lặp lại nhiều vòng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E18A8A-FFE0-4734-9D37-CD2B2880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95900"/>
            <a:ext cx="1562100" cy="95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9770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5700D1-EF9B-4A41-A152-B08D4432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5029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1430">
            <a:solidFill>
              <a:srgbClr val="A7DEC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4ACB5F-C84E-4811-83DC-31C63A0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86350"/>
            <a:ext cx="4648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45B"/>
                </a:solidFill>
              </a:defRPr>
            </a:pPr>
            <a:r>
              <a:rPr sz="1200" b="1">
                <a:solidFill>
                  <a:srgbClr val="16845B"/>
                </a:solidFill>
              </a:rPr>
              <a:t>CODEGRAPH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45B"/>
                </a:solidFill>
              </a:defRPr>
            </a:pPr>
            <a:r>
              <a:rPr sz="1200" b="1">
                <a:solidFill>
                  <a:srgbClr val="16845B"/>
                </a:solidFill>
              </a:rPr>
              <a:t>chỉ ra quan hệ cần xem, rồi đọc đúng file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88250A-7957-4C6F-82EB-6A08B956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</a:rPr>
              <a:t>CodeGraph phù hợp khi vấn đề là định vị và hiểu quan hệ trong repo lớn.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C51EE6-6936-4C51-8887-D3D7D98A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48350"/>
            <a:ext cx="21526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6246B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31038E-828B-4691-B0B4-E2A288F2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15025"/>
            <a:ext cx="192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  <a:hlinkClick xmlns:r="http://schemas.openxmlformats.org/officeDocument/2006/relationships" r:id="R751d6a88784a4629" action="ppaction://hlinksldjump"/>
              </a:rPr>
              <a:t>← Quay lại vòng đời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FB259A-FC30-4D7A-849C-F69EC968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13BA50-E239-49FB-A5E7-E80AAA98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CHỌN TOOL · CODEGRAPH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2E2C70-0EDE-473C-B3F9-2DA7E1A8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5786665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8E5D74-BC24-4F12-8A32-AA6F3FAF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NGUYÊN NHÂN → 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12C0B-9D5C-4DC7-A444-53ECF0F7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250" b="1">
                <a:solidFill>
                  <a:srgbClr val="101827"/>
                </a:solidFill>
              </a:rPr>
              <a:t>Tool output dài trở thành input ở lần gọi model tiếp theo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089D7-74FA-4D43-8B8D-12EEBDD2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299E7-E652-47F1-BB13-BFDC1897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242EF-A0C6-4420-B041-CE93165F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FCF25-D83A-456E-8A87-4AD584DD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TOOL → APPEND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37155-7076-42CB-A09D-1705DE71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43C4E"/>
                </a:solidFill>
              </a:defRPr>
            </a:pPr>
            <a:r>
              <a:rPr sz="1275" b="1">
                <a:solidFill>
                  <a:srgbClr val="C43C4E"/>
                </a:solidFill>
              </a:rPr>
              <a:t>NGUYÊN NHÂN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5F2A0-5409-4654-BF36-33F9F1A9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901E4-6D3F-4E3E-BD0A-588423B0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Compiler, build hoặc test trả log thô rất dài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F3B4B-275F-47C5-B898-F71DA62A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C2346-DBDC-443C-9E57-4D882DDC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Tool trả nguyên file hoặc toàn bộ API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70D48-63DE-45DB-B39D-8208E921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A0C73-0486-478F-BF5D-D8054896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Search result không phân trang hoặc lọc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B6682-DE4A-470E-8794-7932425A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6BC44-889C-4B4E-BD86-595AAEEF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Kết quả tool cũ vẫn được append lại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DAAEC-2B33-4C77-A1A9-BD04A7D0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CDB54-36D6-49FF-B9C6-EC4A1AEF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Dữ liệu trung gian không cần thiết đi qua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AB8BF-6B8C-413E-A448-9643D972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953" cy="2933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52D3A-5FEB-423B-94E4-2A45E608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GIẢI PHÁP ƯU TIÊN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56C2B-596C-4E30-B170-DEB49116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183B1-DE07-4BDB-AF6A-3AA14CB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8E076-DA59-4D28-8931-709D46C4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RTK: rút gọn build, test và linter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175CB-DA56-477A-A9E5-D27EED85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4E0A5-25F2-45D2-970B-F0CD5BCD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9EC17-D081-4FC5-B3C4-53C21B2A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Giới hạn log, test output và MCP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BF9B3-9E7D-4C66-83DA-9E939162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14F4C-25ED-4085-8F4D-068DEA1E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4C4EC-578B-477D-89CA-5282BBDF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Filter, projection hoặc pagination tại nguồn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7D73B2-1D91-4ADF-B55B-75F68BC6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12CF08-803C-4C4E-8CF1-3FE55B62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D4770-82FC-4434-8125-F737700C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766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Chỉ trả lỗi tóm tắt và các dòng liên quan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E83C7D-B48C-4C99-AC02-1FD6828B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052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2DB901-F4FB-4E7E-AC94-2E1DB80F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C91FA5-F3CA-4F29-B50B-2F46FA67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766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Không đặt trần thấp đến mức agent phải chạy lại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B319E4-8D56-47D6-8378-1745DB34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981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1430">
            <a:solidFill>
              <a:srgbClr val="D9770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B5E2DA-049F-40A9-A163-31CAB22B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752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TEST LOG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8.000 dòng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1F8894-53A0-43B0-B070-D37D5EA0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292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87B654-10F3-47DB-B10B-3393131D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14900"/>
            <a:ext cx="1981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1E9"/>
          </a:solidFill>
          <a:ln xmlns:a="http://schemas.openxmlformats.org/drawingml/2006/main" w="11430">
            <a:solidFill>
              <a:srgbClr val="CBD5E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1B7E49-A282-4BC3-91B9-8C824781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1752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RTK / LIMIT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tóm tắt lỗi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67764D-BB57-406C-982B-0A3E9E32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292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83CE65-5811-4EE9-8055-4E145F7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14900"/>
            <a:ext cx="1981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1E9"/>
          </a:solidFill>
          <a:ln xmlns:a="http://schemas.openxmlformats.org/drawingml/2006/main" w="11430">
            <a:solidFill>
              <a:srgbClr val="CBD5E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B55706-4525-4B8A-820D-5F207978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29200"/>
            <a:ext cx="1752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EXIT CODE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được giữ lại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434C1D-AA09-41E6-A34D-7D00632C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29225"/>
            <a:ext cx="457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A1B98D-D599-40AA-969F-128DB69D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14900"/>
            <a:ext cx="1981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5F1E9"/>
          </a:solidFill>
          <a:ln xmlns:a="http://schemas.openxmlformats.org/drawingml/2006/main" w="11430">
            <a:solidFill>
              <a:srgbClr val="CBD5E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A5111F-D995-454D-A97E-3002F1F4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29200"/>
            <a:ext cx="1752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TEST NAME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được giữ lại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F82257-39BB-4255-8CBE-BF193322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</a:rPr>
              <a:t>RTK nằm trên cạnh tool trả kết quả: giảm payload trước khi nó đi vào context.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F59E23-023A-4C33-BF92-64D2061B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48350"/>
            <a:ext cx="21526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6246B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59EC91-5BEE-469F-85F1-FE184F73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15025"/>
            <a:ext cx="192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  <a:hlinkClick xmlns:r="http://schemas.openxmlformats.org/officeDocument/2006/relationships" r:id="R2c0ea8cee2eb4e19" action="ppaction://hlinksldjump"/>
              </a:rPr>
              <a:t>← Quay lại vòng đời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E8C4ED-833B-4DDE-97E1-29516EB8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03651F-7561-4B37-802E-689E843E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TOOL OUTPUT · RTK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B226F3-6DC7-4D0D-B3A8-A7FD5551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6300091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341FFE-8DD3-4107-8095-9C566E9E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NGUYÊN NHÂN → 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AFC93-FDDC-4C55-A18B-F99135FA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325" b="1">
                <a:solidFill>
                  <a:srgbClr val="101827"/>
                </a:solidFill>
              </a:rPr>
              <a:t>Mỗi vòng lặp mang context cũ quay lại lần gọi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CD9BF-FBD8-4AA8-A3C0-D620A060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62043-718B-45AF-B57F-D689FDB7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94AF5-E163-4216-BBA3-BE3EBA85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24EAE-F55C-4C88-86C9-1FA57C3B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6246B5"/>
                </a:solidFill>
              </a:defRPr>
            </a:pPr>
            <a:r>
              <a:rPr sz="900" b="1">
                <a:solidFill>
                  <a:srgbClr val="6246B5"/>
                </a:solidFill>
              </a:rPr>
              <a:t>VÒNG LẶP · RETRY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A5FE1-BEA9-4FA1-B365-FB12069B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43C4E"/>
                </a:solidFill>
              </a:defRPr>
            </a:pPr>
            <a:r>
              <a:rPr sz="1275" b="1">
                <a:solidFill>
                  <a:srgbClr val="C43C4E"/>
                </a:solidFill>
              </a:rPr>
              <a:t>NGUYÊN NHÂN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03BEB-F302-4552-8F2F-8F9B0D53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1EE82-138D-4353-85CD-986F88B5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Retry nhưng không có giả thuyết mới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40DCC-ECF7-499B-8A50-AED4BD34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83447-09AE-4A9C-98D7-F59C95D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Cùng một cách thất bại được lặp lại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FB417-C4D8-4F78-9478-14B212BB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71CD7-B66D-4D58-B94A-BF626E00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Kết quả tool đã cũ vẫn nằm trong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CA9C8-4E11-41C3-ADEB-A3C39362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C4E"/>
          </a:solidFill>
          <a:ln xmlns:a="http://schemas.openxmlformats.org/drawingml/2006/main" w="9525">
            <a:solidFill>
              <a:srgbClr val="C43C4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4B0A0-E166-4CDA-A4EC-34516528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Compact giữa lúc đang điều tra lỗi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458EF-3405-43D5-9AC2-717D2BF8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953" cy="2933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C8B86-C32F-4D56-B956-4CFB2B3C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1450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46B5"/>
                </a:solidFill>
              </a:defRPr>
            </a:pPr>
            <a:r>
              <a:rPr sz="1275" b="1">
                <a:solidFill>
                  <a:srgbClr val="6246B5"/>
                </a:solidFill>
              </a:rPr>
              <a:t>GIẢI PHÁP ƯU TIÊN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6CDCB-882D-4796-A83B-1295AA64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F0D58-B1DE-4A71-B67B-0C48079E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E65A5-5883-4F84-8087-ADE423FD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Cùng cách thất bại hai lần: dừng và lập kế hoạch lại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047A8-B52C-4D45-8AA5-5FCB33C8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FFB40-792D-413B-A7E7-32C13694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F1117-0659-4E99-B4FC-DD9BFB16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Bỏ kết quả cũ hoặc trùng sau ranh giới công việc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62D8D-8E1A-457E-9C54-FFDF0C1B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F228C-8E5F-4CD1-A87E-5F02A774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7E861-630F-406B-8C91-4DC546F6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Chỉ compact sau khi hoàn thành một phần rõ ràng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FE7A4-B5FF-462F-AAA6-BB4E05B0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46B5"/>
          </a:solidFill>
          <a:ln xmlns:a="http://schemas.openxmlformats.org/drawingml/2006/main" w="9525">
            <a:solidFill>
              <a:srgbClr val="6246B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B8DDF0-EED9-4FCB-967E-F87910DA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24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7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6D5F0E-8506-4929-A4A7-2251B837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76600"/>
            <a:ext cx="478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200" b="0">
                <a:solidFill>
                  <a:srgbClr val="101827"/>
                </a:solidFill>
              </a:rPr>
              <a:t>Lưu checkpoint hoặc handoff trước khi restart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1178D4-1F2E-4073-BBB7-8418117A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KHI NÀO DỪNG VÒNG LẶP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05121D-D2AA-4477-82EA-B4D441A8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62550"/>
            <a:ext cx="11201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3FC5BC-F33B-46E4-8995-D71A6ECA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Cùng cách thất bại hai lần → dừng, đổi giả thuyết hoặc mở phiên mới với một handoff ngắn.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6869E8-8E11-47FD-808A-3B7F7D6B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</a:rPr>
              <a:t>Mục tiêu là ngăn cùng một lỗi kéo context cũ qua thêm nhiều lần gọi model.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5A8AE6-0256-46A6-A0EC-06CA3C53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48350"/>
            <a:ext cx="21526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14288">
            <a:solidFill>
              <a:srgbClr val="6246B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7C145C-7EF6-4EFF-9A98-ED9A4334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15025"/>
            <a:ext cx="192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46B5"/>
                </a:solidFill>
              </a:defRPr>
            </a:pPr>
            <a:r>
              <a:rPr sz="1200" b="1">
                <a:solidFill>
                  <a:srgbClr val="6246B5"/>
                </a:solidFill>
                <a:hlinkClick xmlns:r="http://schemas.openxmlformats.org/officeDocument/2006/relationships" r:id="R204fd6c8a68c4d9b" action="ppaction://hlinksldjump"/>
              </a:rPr>
              <a:t>← Quay lại vòng đời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92FE74-7336-4357-8A34-CDA19916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D687DC-F274-48A8-82BB-D164FC59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SESSION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BA3082-321C-42C3-8CD8-2515C8AE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5479789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5BC2C-9A6E-4046-8B9C-77355DA9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5C267-4C94-4411-9A86-1CAAE114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325" b="1">
                <a:solidFill>
                  <a:srgbClr val="101827"/>
                </a:solidFill>
              </a:rPr>
              <a:t>Checklist 1 — Quản lý vòng đời của một phiên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F1136-0121-43BE-BF20-6B5D6F8F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123C4-7C65-43E8-938B-576BCF00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84F1D-2A1B-4547-B526-87B8E569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16D88-7160-467C-9561-56693615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32BEF-B9C0-4A78-AF37-9A90C083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2552700" cy="4000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3CD7D-9EF6-4A72-93E6-5D2D3D41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209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MỞ PHIÊN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4032A-0E08-4C2B-B782-2ABADB81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098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Một task cho một phiên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Nêu phạm vi và điều kiện hoàn thành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Đưa ràng buộc quan trọng ngay từ đầu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Chỉ đúng file hoặc symbol nếu biết vị trí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76139-C092-413F-8FC9-575CC7EB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00200"/>
            <a:ext cx="2552700" cy="4000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9770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E2782-5880-44EE-A3DF-5A09A735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52600"/>
            <a:ext cx="2209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TRONG PHIÊN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44009-458A-4622-B7F1-484E6ED7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2098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Đưa đường dẫn thay vì dán nội dung agent tự đọc được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Chỉ đưa những dòng lỗi liên quan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Chạy compiler/test thay vì yêu cầu model dự đoán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Không đổi rules, model hoặc tool setup giữa 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F4066-05F1-40BE-8E64-05FDFA81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2552700" cy="4000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246B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F42AB-2DD4-4399-B059-61E4ED0A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209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46B5"/>
                </a:solidFill>
              </a:defRPr>
            </a:pPr>
            <a:r>
              <a:rPr sz="1125" b="1">
                <a:solidFill>
                  <a:srgbClr val="6246B5"/>
                </a:solidFill>
              </a:rPr>
              <a:t>KHI KHÔNG TIẾN TRIỂN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46FF6-8D19-4C18-9D7D-537EAF4E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2098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Cùng cách thất bại hai lần: dừng và lập kế hoạch lại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Chỉ compact sau một phần công việc rõ ràng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Không compact giữa lúc điều tra lỗi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Lưu kết quả quan trọng trước compact hoặc restart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A999F-3E05-4065-A808-FF1CAC70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00200"/>
            <a:ext cx="2552700" cy="4000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E9A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D391F-5DC7-4266-B71D-9EB8D66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52600"/>
            <a:ext cx="2209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E9AA7"/>
                </a:solidFill>
              </a:defRPr>
            </a:pPr>
            <a:r>
              <a:rPr sz="1275" b="1">
                <a:solidFill>
                  <a:srgbClr val="0E9AA7"/>
                </a:solidFill>
              </a:rPr>
              <a:t>KẾT THÚC PHIÊN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D934B-B8B2-4E28-BF51-D930DED9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209800" cy="30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Task hoàn thành thì không đưa task khác vào cùng phiên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Ghi rõ đã đổi gì, đã kiểm tra gì, còn gì chưa xong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Tạo handoff nếu cần tiếp tục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☐ Mở phiên mới nếu task tiếp theo ít liên quan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6F63A6-B4AA-4D11-B8D3-E99A8BEF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5B27DB-14ED-4DF2-99E1-2AAB8C53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CHECKLIST ·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C19A2-0AF8-48EC-AC78-EF3DAB46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18764212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8BB1490-FB87-4E88-B5D1-A471C2B2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C1BC0-F3EE-4F54-8109-2F6429CE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325" b="1">
                <a:solidFill>
                  <a:srgbClr val="101827"/>
                </a:solidFill>
              </a:rPr>
              <a:t>Checklist 2 — Kiểm tra cấu hình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23544-3CBF-4DC5-89E6-F799EF10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FF5FA-CE8A-4C90-8D3C-DFAEA9FD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AA7BA-7E72-46FE-9263-EDC31F31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71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75E4A-CBB3-4FC6-8FCD-B2A9FF59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857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Ưu tiên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51D58-51FD-4778-91CD-22C99196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0970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920DA-7FA7-47A1-84CA-5A8E0B23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57325"/>
            <a:ext cx="2857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Cấu hình cần kiểm 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41BE1-20DC-45C2-B1EF-DEA8B87D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09700"/>
            <a:ext cx="73723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CC7DC-7B9C-4951-8DAD-C7A477A7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57325"/>
            <a:ext cx="72580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Cách thiết lập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D9ED9-B1EA-442E-A532-0F322CA5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76425"/>
            <a:ext cx="971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153A7-5903-45E5-B351-34F916D3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57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125" b="1">
                <a:solidFill>
                  <a:srgbClr val="101827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C9A1F-96CB-4650-A41F-75F04734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76425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D28D7-6302-4A47-B674-6CB70E27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24050"/>
            <a:ext cx="2857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Trần output 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2467A-8927-44BB-B90B-0C212EBF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76425"/>
            <a:ext cx="73723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52925-94C8-4AE6-9233-C9CBEA95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72580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050" b="0">
                <a:solidFill>
                  <a:srgbClr val="101827"/>
                </a:solidFill>
              </a:rPr>
              <a:t>Giới hạn log, test output và MCP result; không đặt thấp đến mức agent phải chạy lại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3BDCC-7BFF-4274-A0F1-F120D4E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971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B99CD-F950-463D-8312-A1138C2E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857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125" b="1">
                <a:solidFill>
                  <a:srgbClr val="101827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951C4-0820-40AC-954B-31A0DB08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4315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EB360-77FD-443A-9B8F-98DB1BF7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90775"/>
            <a:ext cx="2857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Điểm kích hoạt compact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20C31-B99B-4822-B97B-D04D3A88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73723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B15E5E-A5E7-4F33-A6D5-79757E5A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90775"/>
            <a:ext cx="72580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050" b="0">
                <a:solidFill>
                  <a:srgbClr val="101827"/>
                </a:solidFill>
              </a:rPr>
              <a:t>Không compact quá sớm; không để context chạm trần; giữ đủ thông tin cho task hiện tại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C801F-EA8D-403A-8F24-6489A8C5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9875"/>
            <a:ext cx="971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9BEE68-2BF3-4648-8630-3BA6DAFC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857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125" b="1">
                <a:solidFill>
                  <a:srgbClr val="101827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06D991-C3FC-425E-9DBE-3E7560DC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9875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C6BC7E-A270-450D-BA6C-51881CC1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57500"/>
            <a:ext cx="2857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Reasoning effort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355200-40DC-48D9-A6C6-169F3253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9875"/>
            <a:ext cx="73723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F02163-C53C-446D-9161-3E534867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72580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050" b="0">
                <a:solidFill>
                  <a:srgbClr val="101827"/>
                </a:solidFill>
              </a:rPr>
              <a:t>Dùng mức vừa phải cho việc thường ngày; chỉ nâng khi task thực sự cần suy luận sâu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B0C0F6-509E-439C-8EE6-A174F04C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971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E6AAC8-8C1F-455C-84A2-FF443E23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857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125" b="1">
                <a:solidFill>
                  <a:srgbClr val="101827"/>
                </a:solidFill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3356BB-301B-4091-8C9D-E5FCC4E2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B31A6F-3960-4384-A9CF-AF2A876C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24225"/>
            <a:ext cx="2857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Output verbosity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51ECAF-C1AF-4C38-B8AD-AC827538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76600"/>
            <a:ext cx="73723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50D42F-41D2-44ED-A1DC-CBBBEBFD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24225"/>
            <a:ext cx="72580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050" b="0">
                <a:solidFill>
                  <a:srgbClr val="101827"/>
                </a:solidFill>
              </a:rPr>
              <a:t>Chọn output ngắn hoặc concise nếu harness/model hỗ trợ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AC34C8-6170-42DC-B537-8369D116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43325"/>
            <a:ext cx="971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AE8954-DA5A-4754-AF29-CAD37889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857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125" b="1">
                <a:solidFill>
                  <a:srgbClr val="101827"/>
                </a:solidFill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71CBEA-30E6-4F16-984B-902BA396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43325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4A90E3-37AF-4917-B931-18D21EED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2857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Tool và MCP đang bật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486636-CD85-461C-BF05-A9A140D7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43325"/>
            <a:ext cx="73723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D96D70-2268-4EA0-8A64-69D8594D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72580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050" b="0">
                <a:solidFill>
                  <a:srgbClr val="101827"/>
                </a:solidFill>
              </a:rPr>
              <a:t>Tắt server không dùng; ưu tiên lazy-load hoặc tool search nếu có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98E95F-BDC2-48FD-8A8F-F29F7B98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9715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87F415-1A18-42E6-82D4-F2DBE3C9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857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1827"/>
                </a:solidFill>
              </a:defRPr>
            </a:pPr>
            <a:r>
              <a:rPr sz="1125" b="1">
                <a:solidFill>
                  <a:srgbClr val="101827"/>
                </a:solidFill>
              </a:rPr>
              <a:t>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9B48D6-B820-493B-9527-F0E7F2E0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005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50E2C4-4852-4FA8-96C3-7EBCACBA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57675"/>
            <a:ext cx="2857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125" b="0">
                <a:solidFill>
                  <a:srgbClr val="101827"/>
                </a:solidFill>
              </a:rPr>
              <a:t>Model routing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35CA96-8216-4C65-907C-934BE8C6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10050"/>
            <a:ext cx="73723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04B5FE-50BF-4682-A49E-D0F527D5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57675"/>
            <a:ext cx="72580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01827"/>
                </a:solidFill>
              </a:defRPr>
            </a:pPr>
            <a:r>
              <a:rPr sz="1050" b="0">
                <a:solidFill>
                  <a:srgbClr val="101827"/>
                </a:solidFill>
              </a:rPr>
              <a:t>Chọn model phù hợp ngay từ đầu phiên; tránh đổi model giữa task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AB6311E-DDC6-4655-B764-BC1B55A6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1201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14288">
            <a:solidFill>
              <a:srgbClr val="0E9AA7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D524D8-9E78-4DCF-A18A-E4445F94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E9AA7"/>
                </a:solidFill>
              </a:defRPr>
            </a:pPr>
            <a:r>
              <a:rPr sz="1200" b="1">
                <a:solidFill>
                  <a:srgbClr val="0E9AA7"/>
                </a:solidFill>
              </a:rPr>
              <a:t>Instruction files: Giữ CLAUDE.md, AGENTS.md và rules file ngắn; loại bỏ nội dung trùng lặp và dẫn tới tài liệu chi tiết thay vì nhúng toàn bộ.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81EF618-3784-4E32-A61B-0E6FA621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6D0E7A-20A8-496C-9EEA-0426DCD2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CHECKLIST · HARNESS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DACB848-ED79-4468-BBE3-D09FD3D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4242192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5BC2C-9A6E-4046-8B9C-77355DA9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5C267-4C94-4411-9A86-1CAAE114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250" b="1">
                <a:solidFill>
                  <a:srgbClr val="101827"/>
                </a:solidFill>
              </a:rPr>
              <a:t>Checklist 3 — Chọn tool theo vấn đề cần giải quyết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F1136-0121-43BE-BF20-6B5D6F8F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123C4-7C65-43E8-938B-576BCF00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84F1D-2A1B-4547-B526-87B8E569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2476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16D88-7160-467C-9561-56693615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32BEF-B9C0-4A78-AF37-9A90C083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2552700" cy="2190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3CD7D-9EF6-4A72-93E6-5D2D3D41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PONYTAIL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4032A-0E08-4C2B-B782-2ABADB81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2098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Vấn đề: agent tạo code, abstraction hoặc scaffolding ngoài phạm vi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Nên cân nhắc: task feature, agent tự chọn giải pháp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Không phù hợp: bugfix hẹp hoặc giải pháp đã tối giản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76139-C092-413F-8FC9-575CC7EB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66850"/>
            <a:ext cx="2552700" cy="2190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9770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E2782-5880-44EE-A3DF-5A09A735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1925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CAVEMAN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44009-458A-4622-B7F1-484E6ED7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0"/>
            <a:ext cx="22098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Vấn đề: câu trả lời dài, nhiều mở bài hoặc tóm tắt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Nên cân nhắc: harness thiếu kiểm soát độ dài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Không phù hợp: tài liệu hoặc giải thích dành cho con người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F4066-05F1-40BE-8E64-05FDFA81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2552700" cy="2190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246B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F42AB-2DD4-4399-B059-61E4ED0A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246B5"/>
                </a:solidFill>
              </a:defRPr>
            </a:pPr>
            <a:r>
              <a:rPr sz="1275" b="1">
                <a:solidFill>
                  <a:srgbClr val="6246B5"/>
                </a:solidFill>
              </a:rPr>
              <a:t>CODEGRAPH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46FF6-8D19-4C18-9D7D-537EAF4E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22098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Vấn đề: agent liên tục search và đọc file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Nên cân nhắc: repo lớn, cần caller, flow hoặc impact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Không phù hợp: repo nhỏ hoặc code động/reflection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A999F-3E05-4065-A808-FF1CAC70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66850"/>
            <a:ext cx="2552700" cy="2190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E9A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D391F-5DC7-4266-B71D-9EB8D66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E9AA7"/>
                </a:solidFill>
              </a:defRPr>
            </a:pPr>
            <a:r>
              <a:rPr sz="1275" b="1">
                <a:solidFill>
                  <a:srgbClr val="0E9AA7"/>
                </a:solidFill>
              </a:rPr>
              <a:t>RTK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D934B-B8B2-4E28-BF51-D930DED9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098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Vấn đề: build, test hoặc linter log quá lớn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Nên cân nhắc: harness đưa raw shell output vào context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34155"/>
                </a:solidFill>
              </a:defRPr>
            </a:pPr>
            <a:r>
              <a:rPr sz="1013" b="1">
                <a:solidFill>
                  <a:srgbClr val="334155"/>
                </a:solidFill>
              </a:rPr>
              <a:t>Không phù hợp: harness đã có trần output phù hợp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DFE9B-870A-47A2-9840-08306AEB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11201400" cy="18097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4288">
            <a:solidFill>
              <a:srgbClr val="F0C47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5F6D8-4012-4F4F-9546-300277F4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476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D97706"/>
                </a:solidFill>
              </a:defRPr>
            </a:pPr>
            <a:r>
              <a:rPr sz="1013" b="1">
                <a:solidFill>
                  <a:srgbClr val="D97706"/>
                </a:solidFill>
              </a:rPr>
              <a:t>CLAUDE CODE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D97706"/>
                </a:solidFill>
              </a:defRPr>
            </a:pPr>
            <a:r>
              <a:rPr sz="1013" b="1">
                <a:solidFill>
                  <a:srgbClr val="D97706"/>
                </a:solidFill>
              </a:rPr>
              <a:t>Ponytail: ✓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D97706"/>
                </a:solidFill>
              </a:defRPr>
            </a:pPr>
            <a:r>
              <a:rPr sz="1013" b="1">
                <a:solidFill>
                  <a:srgbClr val="D97706"/>
                </a:solidFill>
              </a:rPr>
              <a:t>CodeGraph: repo lớn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D97706"/>
                </a:solidFill>
              </a:defRPr>
            </a:pPr>
            <a:r>
              <a:rPr sz="1013" b="1">
                <a:solidFill>
                  <a:srgbClr val="D97706"/>
                </a:solidFill>
              </a:rPr>
              <a:t>Caveman: cân nhắc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D97706"/>
                </a:solidFill>
              </a:defRPr>
            </a:pPr>
            <a:r>
              <a:rPr sz="1013" b="1">
                <a:solidFill>
                  <a:srgbClr val="D97706"/>
                </a:solidFill>
              </a:rPr>
              <a:t>RTK: không khuyến nghị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A4528-5CB0-4328-94D9-3621B8DF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2476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1827"/>
                </a:solidFill>
              </a:defRPr>
            </a:pPr>
            <a:r>
              <a:rPr sz="1013" b="1">
                <a:solidFill>
                  <a:srgbClr val="101827"/>
                </a:solidFill>
              </a:rPr>
              <a:t>CODEX CLI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1827"/>
                </a:solidFill>
              </a:defRPr>
            </a:pPr>
            <a:r>
              <a:rPr sz="1013" b="1">
                <a:solidFill>
                  <a:srgbClr val="101827"/>
                </a:solidFill>
              </a:rPr>
              <a:t>Ponytail: cân nhắc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1827"/>
                </a:solidFill>
              </a:defRPr>
            </a:pPr>
            <a:r>
              <a:rPr sz="1013" b="1">
                <a:solidFill>
                  <a:srgbClr val="101827"/>
                </a:solidFill>
              </a:rPr>
              <a:t>CodeGraph: repo lớn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1827"/>
                </a:solidFill>
              </a:defRPr>
            </a:pPr>
            <a:r>
              <a:rPr sz="1013" b="1">
                <a:solidFill>
                  <a:srgbClr val="101827"/>
                </a:solidFill>
              </a:rPr>
              <a:t>Caveman: dùng model_verbosity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1827"/>
                </a:solidFill>
              </a:defRPr>
            </a:pPr>
            <a:r>
              <a:rPr sz="1013" b="1">
                <a:solidFill>
                  <a:srgbClr val="101827"/>
                </a:solidFill>
              </a:rPr>
              <a:t>RTK: dùng trần output có sẵn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C0FE30-7DA5-4056-B3AD-57C86B7E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476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C43C4E"/>
                </a:solidFill>
              </a:defRPr>
            </a:pPr>
            <a:r>
              <a:rPr sz="1013" b="1">
                <a:solidFill>
                  <a:srgbClr val="C43C4E"/>
                </a:solidFill>
              </a:rPr>
              <a:t>GEMINI CLI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C43C4E"/>
                </a:solidFill>
              </a:defRPr>
            </a:pPr>
            <a:r>
              <a:rPr sz="1013" b="1">
                <a:solidFill>
                  <a:srgbClr val="C43C4E"/>
                </a:solidFill>
              </a:rPr>
              <a:t>Ponytail: cân nhắc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C43C4E"/>
                </a:solidFill>
              </a:defRPr>
            </a:pPr>
            <a:r>
              <a:rPr sz="1013" b="1">
                <a:solidFill>
                  <a:srgbClr val="C43C4E"/>
                </a:solidFill>
              </a:rPr>
              <a:t>CodeGraph: repo lớn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C43C4E"/>
                </a:solidFill>
              </a:defRPr>
            </a:pPr>
            <a:r>
              <a:rPr sz="1013" b="1">
                <a:solidFill>
                  <a:srgbClr val="C43C4E"/>
                </a:solidFill>
              </a:rPr>
              <a:t>Caveman: cân nhắc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C43C4E"/>
                </a:solidFill>
              </a:defRPr>
            </a:pPr>
            <a:r>
              <a:rPr sz="1013" b="1">
                <a:solidFill>
                  <a:srgbClr val="C43C4E"/>
                </a:solidFill>
              </a:rPr>
              <a:t>RTK: dùng trần output có sẵn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AA1697-5BB5-4AF9-A3FD-8919EC28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476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6246B5"/>
                </a:solidFill>
              </a:defRPr>
            </a:pPr>
            <a:r>
              <a:rPr sz="1013" b="1">
                <a:solidFill>
                  <a:srgbClr val="6246B5"/>
                </a:solidFill>
              </a:rPr>
              <a:t>CLINE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6246B5"/>
                </a:solidFill>
              </a:defRPr>
            </a:pPr>
            <a:r>
              <a:rPr sz="1013" b="1">
                <a:solidFill>
                  <a:srgbClr val="6246B5"/>
                </a:solidFill>
              </a:rPr>
              <a:t>Ponytail: cân nhắc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6246B5"/>
                </a:solidFill>
              </a:defRPr>
            </a:pPr>
            <a:r>
              <a:rPr sz="1013" b="1">
                <a:solidFill>
                  <a:srgbClr val="6246B5"/>
                </a:solidFill>
              </a:rPr>
              <a:t>CodeGraph: không hỗ trợ trực tiếp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6246B5"/>
                </a:solidFill>
              </a:defRPr>
            </a:pPr>
            <a:r>
              <a:rPr sz="1013" b="1">
                <a:solidFill>
                  <a:srgbClr val="6246B5"/>
                </a:solidFill>
              </a:rPr>
              <a:t>Caveman: cân nhắc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6246B5"/>
                </a:solidFill>
              </a:defRPr>
            </a:pPr>
            <a:r>
              <a:rPr sz="1013" b="1">
                <a:solidFill>
                  <a:srgbClr val="6246B5"/>
                </a:solidFill>
              </a:rPr>
              <a:t>RTK: cân nhắc khi shell output lớn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6F63A6-B4AA-4D11-B8D3-E99A8BEF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5B27DB-14ED-4DF2-99E1-2AAB8C53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CHECKLIST · TOOLS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1C19A2-0AF8-48EC-AC78-EF3DAB46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8764212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45138E-B3DF-4466-B1FB-C3BD8273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0E9AA7"/>
                </a:solidFill>
              </a:defRPr>
            </a:pPr>
            <a:r>
              <a:rPr sz="1050" b="1">
                <a:solidFill>
                  <a:srgbClr val="0E9AA7"/>
                </a:solidFill>
              </a:rPr>
              <a:t>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F0C5E-F1E3-437D-8044-90C250C3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096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827"/>
                </a:solidFill>
              </a:defRPr>
            </a:pPr>
            <a:r>
              <a:rPr sz="2325" b="1">
                <a:solidFill>
                  <a:srgbClr val="101827"/>
                </a:solidFill>
              </a:rPr>
              <a:t>Bạn muốn quay lại vị trí nào trong vòng đời?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D6297-56D3-4FC6-A162-C0DBF7C8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DC413-6F8F-4015-B3AC-FC7F8CA1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98CDE-C291-408F-A189-916ABDB2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806" y="3423285"/>
            <a:ext cx="624078" cy="953"/>
          </a:xfrm>
          <a:prstGeom xmlns:a="http://schemas.openxmlformats.org/drawingml/2006/main" prst="line">
            <a:avLst/>
          </a:prstGeom>
          <a:ln xmlns:a="http://schemas.openxmlformats.org/drawingml/2006/main" w="22289">
            <a:solidFill>
              <a:srgbClr val="0E9AA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56C05-53B1-4050-AEE5-33377FC6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489" y="3423285"/>
            <a:ext cx="609219" cy="953"/>
          </a:xfrm>
          <a:prstGeom xmlns:a="http://schemas.openxmlformats.org/drawingml/2006/main" prst="line">
            <a:avLst/>
          </a:prstGeom>
          <a:ln xmlns:a="http://schemas.openxmlformats.org/drawingml/2006/main" w="22289">
            <a:solidFill>
              <a:srgbClr val="3341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58E42-1FEC-4AC8-BA19-ADF8B142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313" y="3423285"/>
            <a:ext cx="371475" cy="953"/>
          </a:xfrm>
          <a:prstGeom xmlns:a="http://schemas.openxmlformats.org/drawingml/2006/main" prst="line">
            <a:avLst/>
          </a:prstGeom>
          <a:ln xmlns:a="http://schemas.openxmlformats.org/drawingml/2006/main" w="22289">
            <a:solidFill>
              <a:srgbClr val="33415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32FAD-5BD5-4D8D-89D5-351A6D23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148" y="2717483"/>
            <a:ext cx="787527" cy="445770"/>
          </a:xfrm>
          <a:prstGeom xmlns:a="http://schemas.openxmlformats.org/drawingml/2006/main" prst="line">
            <a:avLst/>
          </a:prstGeom>
          <a:ln xmlns:a="http://schemas.openxmlformats.org/drawingml/2006/main" w="22289">
            <a:solidFill>
              <a:srgbClr val="6246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1406C-FC19-43BE-A30E-FA58430E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968" y="3720465"/>
            <a:ext cx="953" cy="549783"/>
          </a:xfrm>
          <a:prstGeom xmlns:a="http://schemas.openxmlformats.org/drawingml/2006/main" prst="line">
            <a:avLst/>
          </a:prstGeom>
          <a:ln xmlns:a="http://schemas.openxmlformats.org/drawingml/2006/main" w="22289">
            <a:solidFill>
              <a:srgbClr val="0E9AA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86DF2-337D-402F-8C66-718989BA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06" y="4567428"/>
            <a:ext cx="1352169" cy="953"/>
          </a:xfrm>
          <a:prstGeom xmlns:a="http://schemas.openxmlformats.org/drawingml/2006/main" prst="line">
            <a:avLst/>
          </a:prstGeom>
          <a:ln xmlns:a="http://schemas.openxmlformats.org/drawingml/2006/main" w="22289">
            <a:solidFill>
              <a:srgbClr val="D9770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F55D4-A08C-4871-B38C-FAE4D50A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0" y="3839337"/>
            <a:ext cx="953" cy="430911"/>
          </a:xfrm>
          <a:prstGeom xmlns:a="http://schemas.openxmlformats.org/drawingml/2006/main" prst="line">
            <a:avLst/>
          </a:prstGeom>
          <a:ln xmlns:a="http://schemas.openxmlformats.org/drawingml/2006/main" w="22289">
            <a:solidFill>
              <a:srgbClr val="D9770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BB145-A4C5-479E-9901-1B4B157A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343" y="1788795"/>
            <a:ext cx="953" cy="683514"/>
          </a:xfrm>
          <a:prstGeom xmlns:a="http://schemas.openxmlformats.org/drawingml/2006/main" prst="line">
            <a:avLst/>
          </a:prstGeom>
          <a:ln xmlns:a="http://schemas.openxmlformats.org/drawingml/2006/main" w="22289">
            <a:solidFill>
              <a:srgbClr val="6246B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306C5-BFF9-4942-A6E0-7D7701F9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036" y="1788795"/>
            <a:ext cx="7028307" cy="953"/>
          </a:xfrm>
          <a:prstGeom xmlns:a="http://schemas.openxmlformats.org/drawingml/2006/main" prst="line">
            <a:avLst/>
          </a:prstGeom>
          <a:ln xmlns:a="http://schemas.openxmlformats.org/drawingml/2006/main" w="22289">
            <a:solidFill>
              <a:srgbClr val="6246B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19F3D-203A-4F0C-BA0D-CF95467D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036" y="1788795"/>
            <a:ext cx="953" cy="1203579"/>
          </a:xfrm>
          <a:prstGeom xmlns:a="http://schemas.openxmlformats.org/drawingml/2006/main" prst="line">
            <a:avLst/>
          </a:prstGeom>
          <a:ln xmlns:a="http://schemas.openxmlformats.org/drawingml/2006/main" w="22289">
            <a:solidFill>
              <a:srgbClr val="6246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5A596-15B1-4A0C-A7D3-B2A75A75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92374"/>
            <a:ext cx="861822" cy="8618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1FF"/>
          </a:solidFill>
          <a:ln xmlns:a="http://schemas.openxmlformats.org/drawingml/2006/main" w="14859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92DEC-B948-4E30-8A0E-432D1801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138" y="3155823"/>
            <a:ext cx="653796" cy="4903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  <a:hlinkClick xmlns:r="http://schemas.openxmlformats.org/officeDocument/2006/relationships" r:id="Ra356101f41ae435e" action="ppaction://hlinksldjump"/>
              </a:rPr>
              <a:t>USER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  <a:hlinkClick xmlns:r="http://schemas.openxmlformats.org/officeDocument/2006/relationships" r:id="Rc94b122620514093" action="ppaction://hlinksldjump"/>
              </a:rPr>
              <a:t>/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5FB520-5BA0-4B9D-BD2D-D9A7E499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884" y="3007233"/>
            <a:ext cx="1411605" cy="832104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9AA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04273-6E23-4D7C-B52A-BE782DF9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184" y="3140583"/>
            <a:ext cx="118300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4841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  <a:hlinkClick xmlns:r="http://schemas.openxmlformats.org/officeDocument/2006/relationships" r:id="R9b11dfc9822c454f" action="ppaction://hlinksldjump"/>
              </a:rPr>
              <a:t>Harness builds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E57BEB-DD48-4498-AC78-5452F6C6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184" y="3502533"/>
            <a:ext cx="1183005" cy="222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631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instructions · tools ·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E6CCB-8272-4B78-AD8A-ED14E93B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708" y="3007233"/>
            <a:ext cx="1411605" cy="832104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246B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ADDC9-F7A1-4106-A486-8421C489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008" y="3140583"/>
            <a:ext cx="118300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720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  <a:hlinkClick xmlns:r="http://schemas.openxmlformats.org/officeDocument/2006/relationships" r:id="R321ba6a5d453499c" action="ppaction://hlinksldjump"/>
              </a:rPr>
              <a:t>Lần gọi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DF116-7B7C-4398-A669-67B00307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008" y="3502533"/>
            <a:ext cx="1183005" cy="222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502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phản hồi hoặc yêu cầu gọi tool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1995E-5688-4F69-98FE-D7DEC308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788" y="3126105"/>
            <a:ext cx="594360" cy="59436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13373">
            <a:solidFill>
              <a:srgbClr val="6246B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E4EDB6-1A82-451A-8488-88F274F1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083" y="3237548"/>
            <a:ext cx="445770" cy="3566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644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01827"/>
                </a:solidFill>
              </a:defRPr>
            </a:pPr>
            <a:r>
              <a:rPr sz="900" b="1">
                <a:solidFill>
                  <a:srgbClr val="101827"/>
                </a:solidFill>
                <a:hlinkClick xmlns:r="http://schemas.openxmlformats.org/officeDocument/2006/relationships" r:id="Rf026d13f4f45482a" action="ppaction://hlinksldjump"/>
              </a:rPr>
              <a:t>Cần gọi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01827"/>
                </a:solidFill>
              </a:defRPr>
            </a:pPr>
            <a:r>
              <a:rPr sz="900" b="1">
                <a:solidFill>
                  <a:srgbClr val="101827"/>
                </a:solidFill>
                <a:hlinkClick xmlns:r="http://schemas.openxmlformats.org/officeDocument/2006/relationships" r:id="R31069d22b20a45ed" action="ppaction://hlinksldjump"/>
              </a:rPr>
              <a:t>tool?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A0E34-3295-467A-A589-5DDC2402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27351"/>
            <a:ext cx="1634490" cy="832104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E9E4FA"/>
          </a:solidFill>
          <a:ln xmlns:a="http://schemas.openxmlformats.org/drawingml/2006/main" w="9525">
            <a:solidFill>
              <a:srgbClr val="A99BD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6C4F8-6608-41F0-BDB1-EED8F97E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0676"/>
            <a:ext cx="1634490" cy="832104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8F7AC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977E5B-BB85-4AE2-9D3D-84D2D209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94001"/>
            <a:ext cx="1634490" cy="832104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246B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A82C9E-E921-4A01-AEDA-3146A9DD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27351"/>
            <a:ext cx="140589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64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Final response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3A9F5-BF28-48F1-BD98-44C986D0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89301"/>
            <a:ext cx="1405890" cy="222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819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kết thúc user turn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8E45AE-FE96-416B-B52A-DF3F3064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315" y="4270248"/>
            <a:ext cx="1931670" cy="609219"/>
          </a:xfrm>
          <a:prstGeom xmlns:a="http://schemas.openxmlformats.org/drawingml/2006/main" prst="roundRect">
            <a:avLst>
              <a:gd name="adj" fmla="val 12508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19050">
            <a:solidFill>
              <a:srgbClr val="0E9AA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9A7CEF-6FA3-443F-A6EC-43DD955E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615" y="4403598"/>
            <a:ext cx="170307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37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  <a:hlinkClick xmlns:r="http://schemas.openxmlformats.org/officeDocument/2006/relationships" r:id="Rb25c766a4eaf406b" action="ppaction://hlinksldjump"/>
              </a:rPr>
              <a:t>Tool / Environment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12EA93-1C66-450B-B3C5-F9EE72EE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615" y="4688967"/>
            <a:ext cx="170307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380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file · code · API ·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A14C71-8E58-4338-B5EB-D59D579E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4403598"/>
            <a:ext cx="1842516" cy="609219"/>
          </a:xfrm>
          <a:prstGeom xmlns:a="http://schemas.openxmlformats.org/drawingml/2006/main" prst="roundRect">
            <a:avLst>
              <a:gd name="adj" fmla="val 12508"/>
            </a:avLst>
          </a:prstGeom>
          <a:solidFill xmlns:a="http://schemas.openxmlformats.org/drawingml/2006/main">
            <a:srgbClr val="E9E4FA"/>
          </a:solidFill>
          <a:ln xmlns:a="http://schemas.openxmlformats.org/drawingml/2006/main" w="9525">
            <a:solidFill>
              <a:srgbClr val="A99BD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FEAB48-BB05-4700-92DA-B2E45E12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665" y="4336923"/>
            <a:ext cx="1842516" cy="609219"/>
          </a:xfrm>
          <a:prstGeom xmlns:a="http://schemas.openxmlformats.org/drawingml/2006/main" prst="roundRect">
            <a:avLst>
              <a:gd name="adj" fmla="val 12508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8F7AC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C783EE-EC03-4CBA-9943-C02E8E94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4270248"/>
            <a:ext cx="1842516" cy="609219"/>
          </a:xfrm>
          <a:prstGeom xmlns:a="http://schemas.openxmlformats.org/drawingml/2006/main" prst="roundRect">
            <a:avLst>
              <a:gd name="adj" fmla="val 12508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B7D47E-FACC-4F1A-BA36-E4F27DE9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290" y="4403598"/>
            <a:ext cx="1613916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65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Append result vào context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ECF174-B2AD-479A-A80C-3724E3A1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290" y="4688967"/>
            <a:ext cx="1613916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380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giữ lại phần cần thiết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659BF8-9071-4E0B-B5EE-C4F2BD50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20" y="5072634"/>
            <a:ext cx="289750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5F7F8"/>
          </a:solidFill>
          <a:ln xmlns:a="http://schemas.openxmlformats.org/drawingml/2006/main" w="9525">
            <a:solidFill>
              <a:srgbClr val="B8E2E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77EF69-66B2-49F9-B9DD-D5E0077B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470" y="5091684"/>
            <a:ext cx="270700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0E9AA7"/>
                </a:solidFill>
              </a:defRPr>
            </a:pPr>
            <a:r>
              <a:rPr sz="900" b="1">
                <a:solidFill>
                  <a:srgbClr val="0E9AA7"/>
                </a:solidFill>
                <a:hlinkClick xmlns:r="http://schemas.openxmlformats.org/officeDocument/2006/relationships" r:id="Rd92ed1ff1e704dbe" action="ppaction://hlinksldjump"/>
              </a:rPr>
              <a:t>Vòng tool có thể lặp nhiều lần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AD9B53-C4A8-451F-ACC6-3C72A1E9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38800"/>
            <a:ext cx="3124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484EFE-595B-411B-B1DB-C4C95687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762625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  <a:hlinkClick xmlns:r="http://schemas.openxmlformats.org/officeDocument/2006/relationships" r:id="R53a2d69b80854a69"/>
              </a:rPr>
              <a:t>github.com/dungnm02/token-optimizer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A91B7D-5C68-4F7E-9E4F-D4365517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7620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246B5"/>
                </a:solidFill>
              </a:defRPr>
            </a:pPr>
            <a:r>
              <a:rPr sz="1350" b="1">
                <a:solidFill>
                  <a:srgbClr val="6246B5"/>
                </a:solidFill>
              </a:rPr>
              <a:t>Sáu vị trí trên sơ đồ dẫn tới sáu nhóm nguyên nhân và giải pháp.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AA8E93-5059-4631-81D6-ADDA7A08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201400" cy="95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8EEF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73556B-3F5A-4DBD-BE66-8E40D7FF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Q&amp;A · CHỌN ĐỂ QUAY LẠI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392FEF-68CE-4767-8214-9DAD84D6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663024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2026-08-18T18:29:41.4210000Z</dcterms:created>
  <dcterms:modified xsi:type="dcterms:W3CDTF">2026-08-18T18:29:41.4210000Z</dcterms:modified>
</coreProperties>
</file>